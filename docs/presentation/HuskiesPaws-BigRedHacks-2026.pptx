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Open on the title. Say: We are HuskiesPaws. Ordinary walks become a creature-collecting adventure. Team is Luis Mendez and Abdullah Rashid, BigRed Hacks 2026, Navigation track. The product is the phone app you can hold. Invite them to watch the loop, not a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Do not invent numbers. Typical maps optimize for arrival. People miss buildings, plaques, and corners they walk past every day. Walking is healthy and social; the missing piece is a reason to notice the route. That is the gap we designed for on campus.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loop is Explore, Walk, Discover, Collect. Pip scouts with Wikipedia and OpenStreetMap. Fern starts the walk. Moss tells the story from those facts. Capture and eggs reward the walk. Squad names are starters; your own pets can take those roles. Keep it visual — then go to the live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visible. Hand the phone over if they want it. Demo Walk ON — say that walks are simulated at the table. Sequence: Squad, Pip, Explore. Pick the postcard. Start walk. Watch the blooming trail. Capture. If Grok or voice is slow, keep going — on-device speech and drawn art still work. Hide the Expo tools button. Do not claim a live server unless /api/health is actually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Phone talks to our Node API. Secrets never ship in the app. Wikipedia and OSM ground the adventure. Speech and Imagine are optional — we demo with fallbacks if keys or the server are down. Shared core keeps pets, ranks, and walks consistent. Photon is the iMessage track. Built in Cursor. Do not say we are live on Render unless health checks green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Three things they just saw: navigation is exploration plus progression; walking is the currency for pets and captures; the squad can live in iMessage. Mention ISS only if you want a sparkle — it is implemented in shared logic with live orbital data, not a fake stat. Be honest about Grok keys, deploy, and background GPS. Sample pets on the map are labeled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Close on campus exploration and enjoyable walking — not inflated impact stats. Next is planned: background tracking, accessibility, a deploy that stays awake, richer social play. Line: Everyday walks. Extraordinary company. Hand them the phone. Stop talking so they can ask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1E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40080"/>
          </a:xfrm>
          <a:prstGeom prst="rect">
            <a:avLst/>
          </a:prstGeom>
          <a:noFill/>
          <a:ln/>
        </p:spPr>
        <p:txBody>
          <a:bodyPr wrap="square" rtlCol="0"/>
          <a:lstStyle>
            <a:lvl1pPr algn="l" indent="0" marL="0">
              <a:buNone/>
              <a:defRPr lang="en-US" sz="3600" b="1" dirty="0">
                <a:solidFill>
                  <a:srgbClr val="0B1F3A"/>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3" name="Text 0"/>
          <p:cNvSpPr/>
          <p:nvPr/>
        </p:nvSpPr>
        <p:spPr>
          <a:xfrm>
            <a:off x="502920" y="6510528"/>
            <a:ext cx="7315200" cy="219456"/>
          </a:xfrm>
          <a:prstGeom prst="rect">
            <a:avLst/>
          </a:prstGeom>
          <a:noFill/>
          <a:ln/>
        </p:spPr>
        <p:txBody>
          <a:bodyPr wrap="square" lIns="0" tIns="0" rIns="0" bIns="0" rtlCol="0" anchor="ctr"/>
          <a:lstStyle/>
          <a:p>
            <a:pPr indent="0" marL="0">
              <a:buNone/>
            </a:pPr>
            <a:r>
              <a:rPr lang="en-US" sz="1100" dirty="0">
                <a:solidFill>
                  <a:srgbClr val="4A6358"/>
                </a:solidFill>
                <a:latin typeface="Calibri" pitchFamily="34" charset="0"/>
                <a:ea typeface="Calibri" pitchFamily="34" charset="-122"/>
                <a:cs typeface="Calibri" pitchFamily="34" charset="-120"/>
              </a:rPr>
              <a:t>HuskiesPaws  ·  BigRed//Hacks 2026</a:t>
            </a:r>
            <a:endParaRPr lang="en-US" sz="11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509760" y="-1280160"/>
            <a:ext cx="4023360" cy="4023360"/>
          </a:xfrm>
          <a:prstGeom prst="ellipse">
            <a:avLst/>
          </a:prstGeom>
          <a:solidFill>
            <a:srgbClr val="123252"/>
          </a:solidFill>
          <a:ln/>
        </p:spPr>
      </p:sp>
      <p:sp>
        <p:nvSpPr>
          <p:cNvPr id="3" name="Shape 1"/>
          <p:cNvSpPr/>
          <p:nvPr/>
        </p:nvSpPr>
        <p:spPr>
          <a:xfrm>
            <a:off x="-1097280" y="4754880"/>
            <a:ext cx="3291840" cy="3291840"/>
          </a:xfrm>
          <a:prstGeom prst="ellipse">
            <a:avLst/>
          </a:prstGeom>
          <a:solidFill>
            <a:srgbClr val="123252"/>
          </a:solidFill>
          <a:ln/>
        </p:spPr>
      </p:sp>
      <p:pic>
        <p:nvPicPr>
          <p:cNvPr id="4" name="Image 0" descr="G:\broswer download\big-red-hacks2026\mobile\assets\icon.png">    </p:cNvPr>
          <p:cNvPicPr>
            <a:picLocks noChangeAspect="1"/>
          </p:cNvPicPr>
          <p:nvPr/>
        </p:nvPicPr>
        <p:blipFill>
          <a:blip r:embed="rId1"/>
          <a:stretch>
            <a:fillRect/>
          </a:stretch>
        </p:blipFill>
        <p:spPr>
          <a:xfrm>
            <a:off x="640080" y="1417320"/>
            <a:ext cx="1234440" cy="1234440"/>
          </a:xfrm>
          <a:prstGeom prst="rect">
            <a:avLst/>
          </a:prstGeom>
        </p:spPr>
      </p:pic>
      <p:sp>
        <p:nvSpPr>
          <p:cNvPr id="5" name="Text 2"/>
          <p:cNvSpPr txBox="1"/>
          <p:nvPr/>
        </p:nvSpPr>
        <p:spPr>
          <a:xfrm>
            <a:off x="2011680" y="1417320"/>
            <a:ext cx="9144000" cy="7772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HuskiesPaws</a:t>
            </a:r>
            <a:endParaRPr lang="en-US" sz="4800" dirty="0"/>
          </a:p>
        </p:txBody>
      </p:sp>
      <p:sp>
        <p:nvSpPr>
          <p:cNvPr id="6" name="Text 3"/>
          <p:cNvSpPr txBox="1"/>
          <p:nvPr/>
        </p:nvSpPr>
        <p:spPr>
          <a:xfrm>
            <a:off x="2011680" y="2240280"/>
            <a:ext cx="9326880" cy="640080"/>
          </a:xfrm>
          <a:prstGeom prst="rect">
            <a:avLst/>
          </a:prstGeom>
          <a:noFill/>
          <a:ln/>
        </p:spPr>
        <p:txBody>
          <a:bodyPr wrap="square" lIns="0" tIns="0" rIns="0" bIns="0" rtlCol="0" anchor="ctr"/>
          <a:lstStyle/>
          <a:p>
            <a:pPr indent="0" marL="0">
              <a:buNone/>
            </a:pPr>
            <a:r>
              <a:rPr lang="en-US" sz="2400" i="1" dirty="0">
                <a:solidFill>
                  <a:srgbClr val="6EC6FF"/>
                </a:solidFill>
                <a:latin typeface="Calibri" pitchFamily="34" charset="0"/>
                <a:ea typeface="Calibri" pitchFamily="34" charset="-122"/>
                <a:cs typeface="Calibri" pitchFamily="34" charset="-120"/>
              </a:rPr>
              <a:t>Turn everyday walks into a creature-collecting adventure.</a:t>
            </a:r>
            <a:endParaRPr lang="en-US" sz="2400" dirty="0"/>
          </a:p>
        </p:txBody>
      </p:sp>
      <p:sp>
        <p:nvSpPr>
          <p:cNvPr id="7" name="Text 4"/>
          <p:cNvSpPr txBox="1"/>
          <p:nvPr/>
        </p:nvSpPr>
        <p:spPr>
          <a:xfrm>
            <a:off x="640080" y="3977640"/>
            <a:ext cx="7315200" cy="365760"/>
          </a:xfrm>
          <a:prstGeom prst="rect">
            <a:avLst/>
          </a:prstGeom>
          <a:noFill/>
          <a:ln/>
        </p:spPr>
        <p:txBody>
          <a:bodyPr wrap="square" lIns="0" tIns="0" rIns="0" bIns="0" rtlCol="0" anchor="ctr"/>
          <a:lstStyle/>
          <a:p>
            <a:pPr indent="0" marL="0">
              <a:buNone/>
            </a:pPr>
            <a:r>
              <a:rPr lang="en-US" sz="1800" dirty="0">
                <a:solidFill>
                  <a:srgbClr val="E8A317"/>
                </a:solidFill>
                <a:latin typeface="Calibri" pitchFamily="34" charset="0"/>
                <a:ea typeface="Calibri" pitchFamily="34" charset="-122"/>
                <a:cs typeface="Calibri" pitchFamily="34" charset="-120"/>
              </a:rPr>
              <a:t>BigRed//Hacks 2026  ·  Theme: Navigation</a:t>
            </a:r>
            <a:endParaRPr lang="en-US" sz="1800" dirty="0"/>
          </a:p>
        </p:txBody>
      </p:sp>
      <p:sp>
        <p:nvSpPr>
          <p:cNvPr id="8" name="Text 5"/>
          <p:cNvSpPr txBox="1"/>
          <p:nvPr/>
        </p:nvSpPr>
        <p:spPr>
          <a:xfrm>
            <a:off x="640080" y="4434840"/>
            <a:ext cx="7315200" cy="36576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Luis Mendez  ·  Abdullah Rashid</a:t>
            </a:r>
            <a:endParaRPr lang="en-US" sz="2000" dirty="0"/>
          </a:p>
        </p:txBody>
      </p:sp>
      <p:sp>
        <p:nvSpPr>
          <p:cNvPr id="9" name="Text 6"/>
          <p:cNvSpPr txBox="1"/>
          <p:nvPr/>
        </p:nvSpPr>
        <p:spPr>
          <a:xfrm>
            <a:off x="640080" y="5989320"/>
            <a:ext cx="9144000" cy="320040"/>
          </a:xfrm>
          <a:prstGeom prst="rect">
            <a:avLst/>
          </a:prstGeom>
          <a:noFill/>
          <a:ln/>
        </p:spPr>
        <p:txBody>
          <a:bodyPr wrap="square" lIns="0" tIns="0" rIns="0" bIns="0" rtlCol="0" anchor="ctr"/>
          <a:lstStyle/>
          <a:p>
            <a:pPr indent="0" marL="0">
              <a:buNone/>
            </a:pPr>
            <a:r>
              <a:rPr lang="en-US" sz="1400" dirty="0">
                <a:solidFill>
                  <a:srgbClr val="9BB0C4"/>
                </a:solidFill>
                <a:latin typeface="Calibri" pitchFamily="34" charset="0"/>
                <a:ea typeface="Calibri" pitchFamily="34" charset="-122"/>
                <a:cs typeface="Calibri" pitchFamily="34" charset="-120"/>
              </a:rPr>
              <a:t>Phone app  ·  Expo Go demo  ·  Built with Cursor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ph idx="100" type="title" hasCustomPrompt="1"/>
          </p:nvPr>
        </p:nvSpPr>
        <p:spPr>
          <a:xfrm>
            <a:off x="502920" y="292608"/>
            <a:ext cx="11155680" cy="640080"/>
          </a:xfrm>
          <a:prstGeom prst="rect">
            <a:avLst/>
          </a:prstGeom>
          <a:noFill/>
          <a:ln/>
        </p:spPr>
        <p:txBody>
          <a:bodyPr wrap="square" lIns="0" tIns="0" rIns="0" bIns="0" rtlCol="0" anchor="ctr"/>
          <a:lstStyle/>
          <a:p>
            <a:pPr algn="l" indent="0" marL="0">
              <a:buNone/>
            </a:pPr>
            <a:r>
              <a:rPr lang="en-US" sz="3600" b="1" dirty="0">
                <a:solidFill>
                  <a:srgbClr val="0B1F3A"/>
                </a:solidFill>
                <a:latin typeface="Calibri" pitchFamily="34" charset="0"/>
                <a:ea typeface="Calibri" pitchFamily="34" charset="-122"/>
                <a:cs typeface="Calibri" pitchFamily="34" charset="-120"/>
              </a:rPr>
              <a:t>People walk past the interesting places</a:t>
            </a:r>
            <a:endParaRPr lang="en-US" sz="3600" dirty="0"/>
          </a:p>
        </p:txBody>
      </p:sp>
      <p:sp>
        <p:nvSpPr>
          <p:cNvPr id="3" name="Shape 1"/>
          <p:cNvSpPr/>
          <p:nvPr/>
        </p:nvSpPr>
        <p:spPr>
          <a:xfrm>
            <a:off x="502920" y="1143000"/>
            <a:ext cx="5486400" cy="4892040"/>
          </a:xfrm>
          <a:prstGeom prst="roundRect">
            <a:avLst>
              <a:gd name="adj" fmla="val 2617"/>
            </a:avLst>
          </a:prstGeom>
          <a:solidFill>
            <a:srgbClr val="FFFFFF"/>
          </a:solidFill>
          <a:ln/>
          <a:effectLst>
            <a:outerShdw sx="100000" sy="100000" kx="0" ky="0" algn="bl" rotWithShape="0" blurRad="127000" dist="38100" dir="5400000">
              <a:srgbClr val="0B1F3A">
                <a:alpha val="8000"/>
              </a:srgbClr>
            </a:outerShdw>
          </a:effectLst>
        </p:spPr>
      </p:sp>
      <p:sp>
        <p:nvSpPr>
          <p:cNvPr id="4" name="Text 2"/>
          <p:cNvSpPr txBox="1"/>
          <p:nvPr/>
        </p:nvSpPr>
        <p:spPr>
          <a:xfrm>
            <a:off x="777240" y="1371600"/>
            <a:ext cx="4937760" cy="36576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Typical navigation</a:t>
            </a:r>
            <a:endParaRPr lang="en-US" sz="2000" dirty="0"/>
          </a:p>
        </p:txBody>
      </p:sp>
      <p:sp>
        <p:nvSpPr>
          <p:cNvPr id="5" name="Text 3"/>
          <p:cNvSpPr txBox="1"/>
          <p:nvPr/>
        </p:nvSpPr>
        <p:spPr>
          <a:xfrm>
            <a:off x="777240" y="1920240"/>
            <a:ext cx="4937760" cy="1645920"/>
          </a:xfrm>
          <a:prstGeom prst="rect">
            <a:avLst/>
          </a:prstGeom>
          <a:noFill/>
          <a:ln/>
        </p:spPr>
        <p:txBody>
          <a:bodyPr wrap="square" lIns="0" tIns="0" rIns="0" bIns="0" rtlCol="0" anchor="t"/>
          <a:lstStyle/>
          <a:p>
            <a:pPr indent="0" marL="0">
              <a:buNone/>
            </a:pPr>
            <a:r>
              <a:rPr lang="en-US" sz="2000" dirty="0">
                <a:solidFill>
                  <a:srgbClr val="4A6358"/>
                </a:solidFill>
                <a:latin typeface="Calibri" pitchFamily="34" charset="0"/>
                <a:ea typeface="Calibri" pitchFamily="34" charset="-122"/>
                <a:cs typeface="Calibri" pitchFamily="34" charset="-120"/>
              </a:rPr>
              <a:t>Get there fast.</a:t>
            </a:r>
            <a:endParaRPr lang="en-US" sz="2000" dirty="0"/>
          </a:p>
          <a:p>
            <a:pPr indent="0" marL="0">
              <a:buNone/>
            </a:pPr>
            <a:r>
              <a:rPr lang="en-US" sz="2000" dirty="0">
                <a:solidFill>
                  <a:srgbClr val="4A6358"/>
                </a:solidFill>
                <a:latin typeface="Calibri" pitchFamily="34" charset="0"/>
                <a:ea typeface="Calibri" pitchFamily="34" charset="-122"/>
                <a:cs typeface="Calibri" pitchFamily="34" charset="-120"/>
              </a:rPr>
              <a:t>Stay on the shortest path.</a:t>
            </a:r>
            <a:endParaRPr lang="en-US" sz="2000" dirty="0"/>
          </a:p>
          <a:p>
            <a:pPr indent="0" marL="0">
              <a:buNone/>
            </a:pPr>
            <a:r>
              <a:rPr lang="en-US" sz="2000" dirty="0">
                <a:solidFill>
                  <a:srgbClr val="4A6358"/>
                </a:solidFill>
                <a:latin typeface="Calibri" pitchFamily="34" charset="0"/>
                <a:ea typeface="Calibri" pitchFamily="34" charset="-122"/>
                <a:cs typeface="Calibri" pitchFamily="34" charset="-120"/>
              </a:rPr>
              <a:t>Put the phone away at the door.</a:t>
            </a:r>
            <a:endParaRPr lang="en-US" sz="2000" dirty="0"/>
          </a:p>
        </p:txBody>
      </p:sp>
      <p:sp>
        <p:nvSpPr>
          <p:cNvPr id="6" name="Text 4"/>
          <p:cNvSpPr txBox="1"/>
          <p:nvPr/>
        </p:nvSpPr>
        <p:spPr>
          <a:xfrm>
            <a:off x="777240" y="3931920"/>
            <a:ext cx="4937760" cy="1463040"/>
          </a:xfrm>
          <a:prstGeom prst="rect">
            <a:avLst/>
          </a:prstGeom>
          <a:noFill/>
          <a:ln/>
        </p:spPr>
        <p:txBody>
          <a:bodyPr wrap="square" lIns="0" tIns="0" rIns="0" bIns="0" rtlCol="0" anchor="ctr"/>
          <a:lstStyle/>
          <a:p>
            <a:pPr indent="0" marL="0">
              <a:buNone/>
            </a:pPr>
            <a:r>
              <a:rPr lang="en-US" sz="1800" i="1" dirty="0">
                <a:solidFill>
                  <a:srgbClr val="FF7A59"/>
                </a:solidFill>
                <a:latin typeface="Calibri" pitchFamily="34" charset="0"/>
                <a:ea typeface="Calibri" pitchFamily="34" charset="-122"/>
                <a:cs typeface="Calibri" pitchFamily="34" charset="-120"/>
              </a:rPr>
              <a:t>Little reason to look around on the way.</a:t>
            </a:r>
            <a:endParaRPr lang="en-US" sz="1800" dirty="0"/>
          </a:p>
        </p:txBody>
      </p:sp>
      <p:sp>
        <p:nvSpPr>
          <p:cNvPr id="7" name="Shape 5"/>
          <p:cNvSpPr/>
          <p:nvPr/>
        </p:nvSpPr>
        <p:spPr>
          <a:xfrm>
            <a:off x="6263640" y="1143000"/>
            <a:ext cx="5440680" cy="4892040"/>
          </a:xfrm>
          <a:prstGeom prst="roundRect">
            <a:avLst>
              <a:gd name="adj" fmla="val 2617"/>
            </a:avLst>
          </a:prstGeom>
          <a:solidFill>
            <a:srgbClr val="E7F3E4"/>
          </a:solidFill>
          <a:ln/>
          <a:effectLst>
            <a:outerShdw sx="100000" sy="100000" kx="0" ky="0" algn="bl" rotWithShape="0" blurRad="127000" dist="38100" dir="5400000">
              <a:srgbClr val="0B1F3A">
                <a:alpha val="8000"/>
              </a:srgbClr>
            </a:outerShdw>
          </a:effectLst>
        </p:spPr>
      </p:sp>
      <p:sp>
        <p:nvSpPr>
          <p:cNvPr id="8" name="Text 6"/>
          <p:cNvSpPr txBox="1"/>
          <p:nvPr/>
        </p:nvSpPr>
        <p:spPr>
          <a:xfrm>
            <a:off x="6537960" y="1371600"/>
            <a:ext cx="4937760" cy="365760"/>
          </a:xfrm>
          <a:prstGeom prst="rect">
            <a:avLst/>
          </a:prstGeom>
          <a:noFill/>
          <a:ln/>
        </p:spPr>
        <p:txBody>
          <a:bodyPr wrap="square" lIns="0" tIns="0" rIns="0" bIns="0" rtlCol="0" anchor="ctr"/>
          <a:lstStyle/>
          <a:p>
            <a:pPr indent="0" marL="0">
              <a:buNone/>
            </a:pPr>
            <a:r>
              <a:rPr lang="en-US" sz="2000" b="1" dirty="0">
                <a:solidFill>
                  <a:srgbClr val="1F6B45"/>
                </a:solidFill>
                <a:latin typeface="Calibri" pitchFamily="34" charset="0"/>
                <a:ea typeface="Calibri" pitchFamily="34" charset="-122"/>
                <a:cs typeface="Calibri" pitchFamily="34" charset="-120"/>
              </a:rPr>
              <a:t>What walking could be</a:t>
            </a:r>
            <a:endParaRPr lang="en-US" sz="2000" dirty="0"/>
          </a:p>
        </p:txBody>
      </p:sp>
      <p:sp>
        <p:nvSpPr>
          <p:cNvPr id="9" name="Text 7"/>
          <p:cNvSpPr txBox="1"/>
          <p:nvPr/>
        </p:nvSpPr>
        <p:spPr>
          <a:xfrm>
            <a:off x="6537960" y="1920240"/>
            <a:ext cx="4892040" cy="3474720"/>
          </a:xfrm>
          <a:prstGeom prst="rect">
            <a:avLst/>
          </a:prstGeom>
          <a:noFill/>
          <a:ln/>
        </p:spPr>
        <p:txBody>
          <a:bodyPr wrap="square" lIns="0" tIns="0" rIns="0" bIns="0" rtlCol="0" anchor="t"/>
          <a:lstStyle/>
          <a:p>
            <a:pPr indent="0" marL="0">
              <a:buNone/>
            </a:pPr>
            <a:r>
              <a:rPr lang="en-US" sz="2000" dirty="0">
                <a:solidFill>
                  <a:srgbClr val="163528"/>
                </a:solidFill>
                <a:latin typeface="Calibri" pitchFamily="34" charset="0"/>
                <a:ea typeface="Calibri" pitchFamily="34" charset="-122"/>
                <a:cs typeface="Calibri" pitchFamily="34" charset="-120"/>
              </a:rPr>
              <a:t>Campus and neighborhoods are full of named places with real stories.</a:t>
            </a:r>
            <a:endParaRPr lang="en-US" sz="2000" dirty="0"/>
          </a:p>
          <a:p>
            <a:pPr indent="0" marL="0">
              <a:buNone/>
            </a:pPr>
            <a:endParaRPr lang="en-US" sz="2000" dirty="0"/>
          </a:p>
          <a:p>
            <a:pPr indent="0" marL="0">
              <a:buNone/>
            </a:pPr>
            <a:r>
              <a:rPr lang="en-US" sz="2000" dirty="0">
                <a:solidFill>
                  <a:srgbClr val="163528"/>
                </a:solidFill>
                <a:latin typeface="Calibri" pitchFamily="34" charset="0"/>
                <a:ea typeface="Calibri" pitchFamily="34" charset="-122"/>
                <a:cs typeface="Calibri" pitchFamily="34" charset="-120"/>
              </a:rPr>
              <a:t>Walking is already happening. Discovery and progress are not.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ph idx="100" type="title" hasCustomPrompt="1"/>
          </p:nvPr>
        </p:nvSpPr>
        <p:spPr>
          <a:xfrm>
            <a:off x="502920" y="292608"/>
            <a:ext cx="11155680" cy="640080"/>
          </a:xfrm>
          <a:prstGeom prst="rect">
            <a:avLst/>
          </a:prstGeom>
          <a:noFill/>
          <a:ln/>
        </p:spPr>
        <p:txBody>
          <a:bodyPr wrap="square" lIns="0" tIns="0" rIns="0" bIns="0" rtlCol="0" anchor="ctr"/>
          <a:lstStyle/>
          <a:p>
            <a:pPr algn="l" indent="0" marL="0">
              <a:buNone/>
            </a:pPr>
            <a:r>
              <a:rPr lang="en-US" sz="3600" b="1" dirty="0">
                <a:solidFill>
                  <a:srgbClr val="0B1F3A"/>
                </a:solidFill>
                <a:latin typeface="Calibri" pitchFamily="34" charset="0"/>
                <a:ea typeface="Calibri" pitchFamily="34" charset="-122"/>
                <a:cs typeface="Calibri" pitchFamily="34" charset="-120"/>
              </a:rPr>
              <a:t>Explore  →  Walk  →  Discover  →  Collect</a:t>
            </a:r>
            <a:endParaRPr lang="en-US" sz="3600" dirty="0"/>
          </a:p>
        </p:txBody>
      </p:sp>
      <p:sp>
        <p:nvSpPr>
          <p:cNvPr id="3" name="Shape 1"/>
          <p:cNvSpPr/>
          <p:nvPr/>
        </p:nvSpPr>
        <p:spPr>
          <a:xfrm>
            <a:off x="502920" y="1097280"/>
            <a:ext cx="2743200" cy="2606040"/>
          </a:xfrm>
          <a:prstGeom prst="roundRect">
            <a:avLst>
              <a:gd name="adj" fmla="val 4912"/>
            </a:avLst>
          </a:prstGeom>
          <a:solidFill>
            <a:srgbClr val="FFFFFF"/>
          </a:solidFill>
          <a:ln/>
          <a:effectLst>
            <a:outerShdw sx="100000" sy="100000" kx="0" ky="0" algn="bl" rotWithShape="0" blurRad="127000" dist="38100" dir="5400000">
              <a:srgbClr val="0B1F3A">
                <a:alpha val="8000"/>
              </a:srgbClr>
            </a:outerShdw>
          </a:effectLst>
        </p:spPr>
      </p:sp>
      <p:sp>
        <p:nvSpPr>
          <p:cNvPr id="4" name="Shape 2"/>
          <p:cNvSpPr/>
          <p:nvPr/>
        </p:nvSpPr>
        <p:spPr>
          <a:xfrm>
            <a:off x="1508760" y="1280160"/>
            <a:ext cx="640080" cy="640080"/>
          </a:xfrm>
          <a:prstGeom prst="ellipse">
            <a:avLst/>
          </a:prstGeom>
          <a:solidFill>
            <a:srgbClr val="2E9D4F"/>
          </a:solidFill>
          <a:ln/>
        </p:spPr>
      </p:sp>
      <p:sp>
        <p:nvSpPr>
          <p:cNvPr id="5" name="Text 3"/>
          <p:cNvSpPr txBox="1"/>
          <p:nvPr/>
        </p:nvSpPr>
        <p:spPr>
          <a:xfrm>
            <a:off x="1508760" y="1353312"/>
            <a:ext cx="64008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640080" y="2011680"/>
            <a:ext cx="2468880" cy="365760"/>
          </a:xfrm>
          <a:prstGeom prst="rect">
            <a:avLst/>
          </a:prstGeom>
          <a:noFill/>
          <a:ln/>
        </p:spPr>
        <p:txBody>
          <a:bodyPr wrap="square" lIns="0" tIns="0" rIns="0" bIns="0" rtlCol="0" anchor="ctr"/>
          <a:lstStyle/>
          <a:p>
            <a:pPr algn="ctr" indent="0" marL="0">
              <a:buNone/>
            </a:pPr>
            <a:r>
              <a:rPr lang="en-US" sz="2000" b="1" dirty="0">
                <a:solidFill>
                  <a:srgbClr val="0B1F3A"/>
                </a:solidFill>
                <a:latin typeface="Calibri" pitchFamily="34" charset="0"/>
                <a:ea typeface="Calibri" pitchFamily="34" charset="-122"/>
                <a:cs typeface="Calibri" pitchFamily="34" charset="-120"/>
              </a:rPr>
              <a:t>Explore</a:t>
            </a:r>
            <a:endParaRPr lang="en-US" sz="2000" dirty="0"/>
          </a:p>
        </p:txBody>
      </p:sp>
      <p:sp>
        <p:nvSpPr>
          <p:cNvPr id="7" name="Text 5"/>
          <p:cNvSpPr txBox="1"/>
          <p:nvPr/>
        </p:nvSpPr>
        <p:spPr>
          <a:xfrm>
            <a:off x="667512" y="2423160"/>
            <a:ext cx="2414016" cy="1097280"/>
          </a:xfrm>
          <a:prstGeom prst="rect">
            <a:avLst/>
          </a:prstGeom>
          <a:noFill/>
          <a:ln/>
        </p:spPr>
        <p:txBody>
          <a:bodyPr wrap="square" lIns="0" tIns="0" rIns="0" bIns="0" rtlCol="0" anchor="ctr"/>
          <a:lstStyle/>
          <a:p>
            <a:pPr algn="ctr" indent="0" marL="0">
              <a:buNone/>
            </a:pPr>
            <a:r>
              <a:rPr lang="en-US" sz="1400" dirty="0">
                <a:solidFill>
                  <a:srgbClr val="4A6358"/>
                </a:solidFill>
                <a:latin typeface="Calibri" pitchFamily="34" charset="0"/>
                <a:ea typeface="Calibri" pitchFamily="34" charset="-122"/>
                <a:cs typeface="Calibri" pitchFamily="34" charset="-120"/>
              </a:rPr>
              <a:t>Pip scouts nearby places from Wikipedia and OpenStreetMap.</a:t>
            </a:r>
            <a:endParaRPr lang="en-US" sz="1400" dirty="0"/>
          </a:p>
        </p:txBody>
      </p:sp>
      <p:sp>
        <p:nvSpPr>
          <p:cNvPr id="8" name="Shape 6"/>
          <p:cNvSpPr/>
          <p:nvPr/>
        </p:nvSpPr>
        <p:spPr>
          <a:xfrm>
            <a:off x="3429000" y="1097280"/>
            <a:ext cx="2743200" cy="2606040"/>
          </a:xfrm>
          <a:prstGeom prst="roundRect">
            <a:avLst>
              <a:gd name="adj" fmla="val 4912"/>
            </a:avLst>
          </a:prstGeom>
          <a:solidFill>
            <a:srgbClr val="FFFFFF"/>
          </a:solidFill>
          <a:ln/>
          <a:effectLst>
            <a:outerShdw sx="100000" sy="100000" kx="0" ky="0" algn="bl" rotWithShape="0" blurRad="127000" dist="38100" dir="5400000">
              <a:srgbClr val="0B1F3A">
                <a:alpha val="8000"/>
              </a:srgbClr>
            </a:outerShdw>
          </a:effectLst>
        </p:spPr>
      </p:sp>
      <p:sp>
        <p:nvSpPr>
          <p:cNvPr id="9" name="Shape 7"/>
          <p:cNvSpPr/>
          <p:nvPr/>
        </p:nvSpPr>
        <p:spPr>
          <a:xfrm>
            <a:off x="4434840" y="1280160"/>
            <a:ext cx="640080" cy="640080"/>
          </a:xfrm>
          <a:prstGeom prst="ellipse">
            <a:avLst/>
          </a:prstGeom>
          <a:solidFill>
            <a:srgbClr val="2E9D4F"/>
          </a:solidFill>
          <a:ln/>
        </p:spPr>
      </p:sp>
      <p:sp>
        <p:nvSpPr>
          <p:cNvPr id="10" name="Text 8"/>
          <p:cNvSpPr txBox="1"/>
          <p:nvPr/>
        </p:nvSpPr>
        <p:spPr>
          <a:xfrm>
            <a:off x="4434840" y="1353312"/>
            <a:ext cx="64008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9"/>
          <p:cNvSpPr txBox="1"/>
          <p:nvPr/>
        </p:nvSpPr>
        <p:spPr>
          <a:xfrm>
            <a:off x="3566160" y="2011680"/>
            <a:ext cx="2468880" cy="365760"/>
          </a:xfrm>
          <a:prstGeom prst="rect">
            <a:avLst/>
          </a:prstGeom>
          <a:noFill/>
          <a:ln/>
        </p:spPr>
        <p:txBody>
          <a:bodyPr wrap="square" lIns="0" tIns="0" rIns="0" bIns="0" rtlCol="0" anchor="ctr"/>
          <a:lstStyle/>
          <a:p>
            <a:pPr algn="ctr" indent="0" marL="0">
              <a:buNone/>
            </a:pPr>
            <a:r>
              <a:rPr lang="en-US" sz="2000" b="1" dirty="0">
                <a:solidFill>
                  <a:srgbClr val="0B1F3A"/>
                </a:solidFill>
                <a:latin typeface="Calibri" pitchFamily="34" charset="0"/>
                <a:ea typeface="Calibri" pitchFamily="34" charset="-122"/>
                <a:cs typeface="Calibri" pitchFamily="34" charset="-120"/>
              </a:rPr>
              <a:t>Walk</a:t>
            </a:r>
            <a:endParaRPr lang="en-US" sz="2000" dirty="0"/>
          </a:p>
        </p:txBody>
      </p:sp>
      <p:sp>
        <p:nvSpPr>
          <p:cNvPr id="12" name="Text 10"/>
          <p:cNvSpPr txBox="1"/>
          <p:nvPr/>
        </p:nvSpPr>
        <p:spPr>
          <a:xfrm>
            <a:off x="3593592" y="2423160"/>
            <a:ext cx="2414016" cy="1097280"/>
          </a:xfrm>
          <a:prstGeom prst="rect">
            <a:avLst/>
          </a:prstGeom>
          <a:noFill/>
          <a:ln/>
        </p:spPr>
        <p:txBody>
          <a:bodyPr wrap="square" lIns="0" tIns="0" rIns="0" bIns="0" rtlCol="0" anchor="ctr"/>
          <a:lstStyle/>
          <a:p>
            <a:pPr algn="ctr" indent="0" marL="0">
              <a:buNone/>
            </a:pPr>
            <a:r>
              <a:rPr lang="en-US" sz="1400" dirty="0">
                <a:solidFill>
                  <a:srgbClr val="4A6358"/>
                </a:solidFill>
                <a:latin typeface="Calibri" pitchFamily="34" charset="0"/>
                <a:ea typeface="Calibri" pitchFamily="34" charset="-122"/>
                <a:cs typeface="Calibri" pitchFamily="34" charset="-120"/>
              </a:rPr>
              <a:t>Fern guides the route. The trail blooms as you move — or in labeled demo walk.</a:t>
            </a:r>
            <a:endParaRPr lang="en-US" sz="1400" dirty="0"/>
          </a:p>
        </p:txBody>
      </p:sp>
      <p:sp>
        <p:nvSpPr>
          <p:cNvPr id="13" name="Shape 11"/>
          <p:cNvSpPr/>
          <p:nvPr/>
        </p:nvSpPr>
        <p:spPr>
          <a:xfrm>
            <a:off x="6355080" y="1097280"/>
            <a:ext cx="2743200" cy="2606040"/>
          </a:xfrm>
          <a:prstGeom prst="roundRect">
            <a:avLst>
              <a:gd name="adj" fmla="val 4912"/>
            </a:avLst>
          </a:prstGeom>
          <a:solidFill>
            <a:srgbClr val="FFFFFF"/>
          </a:solidFill>
          <a:ln/>
          <a:effectLst>
            <a:outerShdw sx="100000" sy="100000" kx="0" ky="0" algn="bl" rotWithShape="0" blurRad="127000" dist="38100" dir="5400000">
              <a:srgbClr val="0B1F3A">
                <a:alpha val="8000"/>
              </a:srgbClr>
            </a:outerShdw>
          </a:effectLst>
        </p:spPr>
      </p:sp>
      <p:sp>
        <p:nvSpPr>
          <p:cNvPr id="14" name="Shape 12"/>
          <p:cNvSpPr/>
          <p:nvPr/>
        </p:nvSpPr>
        <p:spPr>
          <a:xfrm>
            <a:off x="7360920" y="1280160"/>
            <a:ext cx="640080" cy="640080"/>
          </a:xfrm>
          <a:prstGeom prst="ellipse">
            <a:avLst/>
          </a:prstGeom>
          <a:solidFill>
            <a:srgbClr val="2E9D4F"/>
          </a:solidFill>
          <a:ln/>
        </p:spPr>
      </p:sp>
      <p:sp>
        <p:nvSpPr>
          <p:cNvPr id="15" name="Text 13"/>
          <p:cNvSpPr txBox="1"/>
          <p:nvPr/>
        </p:nvSpPr>
        <p:spPr>
          <a:xfrm>
            <a:off x="7360920" y="1353312"/>
            <a:ext cx="64008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6" name="Text 14"/>
          <p:cNvSpPr txBox="1"/>
          <p:nvPr/>
        </p:nvSpPr>
        <p:spPr>
          <a:xfrm>
            <a:off x="6492240" y="2011680"/>
            <a:ext cx="2468880" cy="365760"/>
          </a:xfrm>
          <a:prstGeom prst="rect">
            <a:avLst/>
          </a:prstGeom>
          <a:noFill/>
          <a:ln/>
        </p:spPr>
        <p:txBody>
          <a:bodyPr wrap="square" lIns="0" tIns="0" rIns="0" bIns="0" rtlCol="0" anchor="ctr"/>
          <a:lstStyle/>
          <a:p>
            <a:pPr algn="ctr" indent="0" marL="0">
              <a:buNone/>
            </a:pPr>
            <a:r>
              <a:rPr lang="en-US" sz="2000" b="1" dirty="0">
                <a:solidFill>
                  <a:srgbClr val="0B1F3A"/>
                </a:solidFill>
                <a:latin typeface="Calibri" pitchFamily="34" charset="0"/>
                <a:ea typeface="Calibri" pitchFamily="34" charset="-122"/>
                <a:cs typeface="Calibri" pitchFamily="34" charset="-120"/>
              </a:rPr>
              <a:t>Discover</a:t>
            </a:r>
            <a:endParaRPr lang="en-US" sz="2000" dirty="0"/>
          </a:p>
        </p:txBody>
      </p:sp>
      <p:sp>
        <p:nvSpPr>
          <p:cNvPr id="17" name="Text 15"/>
          <p:cNvSpPr txBox="1"/>
          <p:nvPr/>
        </p:nvSpPr>
        <p:spPr>
          <a:xfrm>
            <a:off x="6519672" y="2423160"/>
            <a:ext cx="2414016" cy="1097280"/>
          </a:xfrm>
          <a:prstGeom prst="rect">
            <a:avLst/>
          </a:prstGeom>
          <a:noFill/>
          <a:ln/>
        </p:spPr>
        <p:txBody>
          <a:bodyPr wrap="square" lIns="0" tIns="0" rIns="0" bIns="0" rtlCol="0" anchor="ctr"/>
          <a:lstStyle/>
          <a:p>
            <a:pPr algn="ctr" indent="0" marL="0">
              <a:buNone/>
            </a:pPr>
            <a:r>
              <a:rPr lang="en-US" sz="1400" dirty="0">
                <a:solidFill>
                  <a:srgbClr val="4A6358"/>
                </a:solidFill>
                <a:latin typeface="Calibri" pitchFamily="34" charset="0"/>
                <a:ea typeface="Calibri" pitchFamily="34" charset="-122"/>
                <a:cs typeface="Calibri" pitchFamily="34" charset="-120"/>
              </a:rPr>
              <a:t>Moss tells the grounded story. You arrive at a real landmark.</a:t>
            </a:r>
            <a:endParaRPr lang="en-US" sz="1400" dirty="0"/>
          </a:p>
        </p:txBody>
      </p:sp>
      <p:sp>
        <p:nvSpPr>
          <p:cNvPr id="18" name="Shape 16"/>
          <p:cNvSpPr/>
          <p:nvPr/>
        </p:nvSpPr>
        <p:spPr>
          <a:xfrm>
            <a:off x="9281160" y="1097280"/>
            <a:ext cx="2743200" cy="2606040"/>
          </a:xfrm>
          <a:prstGeom prst="roundRect">
            <a:avLst>
              <a:gd name="adj" fmla="val 4912"/>
            </a:avLst>
          </a:prstGeom>
          <a:solidFill>
            <a:srgbClr val="FFFFFF"/>
          </a:solidFill>
          <a:ln/>
          <a:effectLst>
            <a:outerShdw sx="100000" sy="100000" kx="0" ky="0" algn="bl" rotWithShape="0" blurRad="127000" dist="38100" dir="5400000">
              <a:srgbClr val="0B1F3A">
                <a:alpha val="8000"/>
              </a:srgbClr>
            </a:outerShdw>
          </a:effectLst>
        </p:spPr>
      </p:sp>
      <p:sp>
        <p:nvSpPr>
          <p:cNvPr id="19" name="Shape 17"/>
          <p:cNvSpPr/>
          <p:nvPr/>
        </p:nvSpPr>
        <p:spPr>
          <a:xfrm>
            <a:off x="10287000" y="1280160"/>
            <a:ext cx="640080" cy="640080"/>
          </a:xfrm>
          <a:prstGeom prst="ellipse">
            <a:avLst/>
          </a:prstGeom>
          <a:solidFill>
            <a:srgbClr val="2E9D4F"/>
          </a:solidFill>
          <a:ln/>
        </p:spPr>
      </p:sp>
      <p:sp>
        <p:nvSpPr>
          <p:cNvPr id="20" name="Text 18"/>
          <p:cNvSpPr txBox="1"/>
          <p:nvPr/>
        </p:nvSpPr>
        <p:spPr>
          <a:xfrm>
            <a:off x="10287000" y="1353312"/>
            <a:ext cx="64008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1" name="Text 19"/>
          <p:cNvSpPr txBox="1"/>
          <p:nvPr/>
        </p:nvSpPr>
        <p:spPr>
          <a:xfrm>
            <a:off x="9418320" y="2011680"/>
            <a:ext cx="2468880" cy="365760"/>
          </a:xfrm>
          <a:prstGeom prst="rect">
            <a:avLst/>
          </a:prstGeom>
          <a:noFill/>
          <a:ln/>
        </p:spPr>
        <p:txBody>
          <a:bodyPr wrap="square" lIns="0" tIns="0" rIns="0" bIns="0" rtlCol="0" anchor="ctr"/>
          <a:lstStyle/>
          <a:p>
            <a:pPr algn="ctr" indent="0" marL="0">
              <a:buNone/>
            </a:pPr>
            <a:r>
              <a:rPr lang="en-US" sz="2000" b="1" dirty="0">
                <a:solidFill>
                  <a:srgbClr val="0B1F3A"/>
                </a:solidFill>
                <a:latin typeface="Calibri" pitchFamily="34" charset="0"/>
                <a:ea typeface="Calibri" pitchFamily="34" charset="-122"/>
                <a:cs typeface="Calibri" pitchFamily="34" charset="-120"/>
              </a:rPr>
              <a:t>Collect</a:t>
            </a:r>
            <a:endParaRPr lang="en-US" sz="2000" dirty="0"/>
          </a:p>
        </p:txBody>
      </p:sp>
      <p:sp>
        <p:nvSpPr>
          <p:cNvPr id="22" name="Text 20"/>
          <p:cNvSpPr txBox="1"/>
          <p:nvPr/>
        </p:nvSpPr>
        <p:spPr>
          <a:xfrm>
            <a:off x="9445752" y="2423160"/>
            <a:ext cx="2414016" cy="1097280"/>
          </a:xfrm>
          <a:prstGeom prst="rect">
            <a:avLst/>
          </a:prstGeom>
          <a:noFill/>
          <a:ln/>
        </p:spPr>
        <p:txBody>
          <a:bodyPr wrap="square" lIns="0" tIns="0" rIns="0" bIns="0" rtlCol="0" anchor="ctr"/>
          <a:lstStyle/>
          <a:p>
            <a:pPr algn="ctr" indent="0" marL="0">
              <a:buNone/>
            </a:pPr>
            <a:r>
              <a:rPr lang="en-US" sz="1400" dirty="0">
                <a:solidFill>
                  <a:srgbClr val="4A6358"/>
                </a:solidFill>
                <a:latin typeface="Calibri" pitchFamily="34" charset="0"/>
                <a:ea typeface="Calibri" pitchFamily="34" charset="-122"/>
                <a:cs typeface="Calibri" pitchFamily="34" charset="-120"/>
              </a:rPr>
              <a:t>Capture the place. Walking fills eggs and grows your squad.</a:t>
            </a:r>
            <a:endParaRPr lang="en-US" sz="1400" dirty="0"/>
          </a:p>
        </p:txBody>
      </p:sp>
      <p:sp>
        <p:nvSpPr>
          <p:cNvPr id="23" name="Shape 21"/>
          <p:cNvSpPr/>
          <p:nvPr/>
        </p:nvSpPr>
        <p:spPr>
          <a:xfrm>
            <a:off x="502920" y="3886200"/>
            <a:ext cx="11201400" cy="2286000"/>
          </a:xfrm>
          <a:prstGeom prst="roundRect">
            <a:avLst>
              <a:gd name="adj" fmla="val 5600"/>
            </a:avLst>
          </a:prstGeom>
          <a:solidFill>
            <a:srgbClr val="0B1F3A"/>
          </a:solidFill>
          <a:ln/>
          <a:effectLst>
            <a:outerShdw sx="100000" sy="100000" kx="0" ky="0" algn="bl" rotWithShape="0" blurRad="127000" dist="38100" dir="5400000">
              <a:srgbClr val="0B1F3A">
                <a:alpha val="8000"/>
              </a:srgbClr>
            </a:outerShdw>
          </a:effectLst>
        </p:spPr>
      </p:sp>
      <p:sp>
        <p:nvSpPr>
          <p:cNvPr id="24" name="Text 22"/>
          <p:cNvSpPr txBox="1"/>
          <p:nvPr/>
        </p:nvSpPr>
        <p:spPr>
          <a:xfrm>
            <a:off x="731520" y="4069080"/>
            <a:ext cx="3383280" cy="365760"/>
          </a:xfrm>
          <a:prstGeom prst="rect">
            <a:avLst/>
          </a:prstGeom>
          <a:noFill/>
          <a:ln/>
        </p:spPr>
        <p:txBody>
          <a:bodyPr wrap="square" lIns="0" tIns="0" rIns="0" bIns="0" rtlCol="0" anchor="ctr"/>
          <a:lstStyle/>
          <a:p>
            <a:pPr indent="0" marL="0">
              <a:buNone/>
            </a:pPr>
            <a:r>
              <a:rPr lang="en-US" sz="2200" b="1" dirty="0">
                <a:solidFill>
                  <a:srgbClr val="E8A317"/>
                </a:solidFill>
                <a:latin typeface="Calibri" pitchFamily="34" charset="0"/>
                <a:ea typeface="Calibri" pitchFamily="34" charset="-122"/>
                <a:cs typeface="Calibri" pitchFamily="34" charset="-120"/>
              </a:rPr>
              <a:t>Pip</a:t>
            </a:r>
            <a:endParaRPr lang="en-US" sz="2200" dirty="0"/>
          </a:p>
        </p:txBody>
      </p:sp>
      <p:sp>
        <p:nvSpPr>
          <p:cNvPr id="25" name="Text 23"/>
          <p:cNvSpPr txBox="1"/>
          <p:nvPr/>
        </p:nvSpPr>
        <p:spPr>
          <a:xfrm>
            <a:off x="731520" y="4434840"/>
            <a:ext cx="3383280" cy="274320"/>
          </a:xfrm>
          <a:prstGeom prst="rect">
            <a:avLst/>
          </a:prstGeom>
          <a:noFill/>
          <a:ln/>
        </p:spPr>
        <p:txBody>
          <a:bodyPr wrap="square" lIns="0" tIns="0" rIns="0" bIns="0" rtlCol="0" anchor="ctr"/>
          <a:lstStyle/>
          <a:p>
            <a:pPr indent="0" marL="0">
              <a:buNone/>
            </a:pPr>
            <a:r>
              <a:rPr lang="en-US" sz="1400" dirty="0">
                <a:solidFill>
                  <a:srgbClr val="6EC6FF"/>
                </a:solidFill>
                <a:latin typeface="Calibri" pitchFamily="34" charset="0"/>
                <a:ea typeface="Calibri" pitchFamily="34" charset="-122"/>
                <a:cs typeface="Calibri" pitchFamily="34" charset="-120"/>
              </a:rPr>
              <a:t>Scout</a:t>
            </a:r>
            <a:endParaRPr lang="en-US" sz="1400" dirty="0"/>
          </a:p>
        </p:txBody>
      </p:sp>
      <p:sp>
        <p:nvSpPr>
          <p:cNvPr id="26" name="Text 24"/>
          <p:cNvSpPr txBox="1"/>
          <p:nvPr/>
        </p:nvSpPr>
        <p:spPr>
          <a:xfrm>
            <a:off x="731520" y="4800600"/>
            <a:ext cx="3383280" cy="10515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Finds a nearby place and a fact from tools, not guesswork.</a:t>
            </a:r>
            <a:endParaRPr lang="en-US" sz="1600" dirty="0"/>
          </a:p>
        </p:txBody>
      </p:sp>
      <p:sp>
        <p:nvSpPr>
          <p:cNvPr id="27" name="Text 25"/>
          <p:cNvSpPr txBox="1"/>
          <p:nvPr/>
        </p:nvSpPr>
        <p:spPr>
          <a:xfrm>
            <a:off x="4389120" y="4069080"/>
            <a:ext cx="3383280" cy="365760"/>
          </a:xfrm>
          <a:prstGeom prst="rect">
            <a:avLst/>
          </a:prstGeom>
          <a:noFill/>
          <a:ln/>
        </p:spPr>
        <p:txBody>
          <a:bodyPr wrap="square" lIns="0" tIns="0" rIns="0" bIns="0" rtlCol="0" anchor="ctr"/>
          <a:lstStyle/>
          <a:p>
            <a:pPr indent="0" marL="0">
              <a:buNone/>
            </a:pPr>
            <a:r>
              <a:rPr lang="en-US" sz="2200" b="1" dirty="0">
                <a:solidFill>
                  <a:srgbClr val="E8A317"/>
                </a:solidFill>
                <a:latin typeface="Calibri" pitchFamily="34" charset="0"/>
                <a:ea typeface="Calibri" pitchFamily="34" charset="-122"/>
                <a:cs typeface="Calibri" pitchFamily="34" charset="-120"/>
              </a:rPr>
              <a:t>Moss</a:t>
            </a:r>
            <a:endParaRPr lang="en-US" sz="2200" dirty="0"/>
          </a:p>
        </p:txBody>
      </p:sp>
      <p:sp>
        <p:nvSpPr>
          <p:cNvPr id="28" name="Text 26"/>
          <p:cNvSpPr txBox="1"/>
          <p:nvPr/>
        </p:nvSpPr>
        <p:spPr>
          <a:xfrm>
            <a:off x="4389120" y="4434840"/>
            <a:ext cx="3383280" cy="274320"/>
          </a:xfrm>
          <a:prstGeom prst="rect">
            <a:avLst/>
          </a:prstGeom>
          <a:noFill/>
          <a:ln/>
        </p:spPr>
        <p:txBody>
          <a:bodyPr wrap="square" lIns="0" tIns="0" rIns="0" bIns="0" rtlCol="0" anchor="ctr"/>
          <a:lstStyle/>
          <a:p>
            <a:pPr indent="0" marL="0">
              <a:buNone/>
            </a:pPr>
            <a:r>
              <a:rPr lang="en-US" sz="1400" dirty="0">
                <a:solidFill>
                  <a:srgbClr val="6EC6FF"/>
                </a:solidFill>
                <a:latin typeface="Calibri" pitchFamily="34" charset="0"/>
                <a:ea typeface="Calibri" pitchFamily="34" charset="-122"/>
                <a:cs typeface="Calibri" pitchFamily="34" charset="-120"/>
              </a:rPr>
              <a:t>Storyteller</a:t>
            </a:r>
            <a:endParaRPr lang="en-US" sz="1400" dirty="0"/>
          </a:p>
        </p:txBody>
      </p:sp>
      <p:sp>
        <p:nvSpPr>
          <p:cNvPr id="29" name="Text 27"/>
          <p:cNvSpPr txBox="1"/>
          <p:nvPr/>
        </p:nvSpPr>
        <p:spPr>
          <a:xfrm>
            <a:off x="4389120" y="4800600"/>
            <a:ext cx="3383280" cy="10515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Reads the landmark’s history in a short voice memo.</a:t>
            </a:r>
            <a:endParaRPr lang="en-US" sz="1600" dirty="0"/>
          </a:p>
        </p:txBody>
      </p:sp>
      <p:sp>
        <p:nvSpPr>
          <p:cNvPr id="30" name="Text 28"/>
          <p:cNvSpPr txBox="1"/>
          <p:nvPr/>
        </p:nvSpPr>
        <p:spPr>
          <a:xfrm>
            <a:off x="8046720" y="4069080"/>
            <a:ext cx="3383280" cy="365760"/>
          </a:xfrm>
          <a:prstGeom prst="rect">
            <a:avLst/>
          </a:prstGeom>
          <a:noFill/>
          <a:ln/>
        </p:spPr>
        <p:txBody>
          <a:bodyPr wrap="square" lIns="0" tIns="0" rIns="0" bIns="0" rtlCol="0" anchor="ctr"/>
          <a:lstStyle/>
          <a:p>
            <a:pPr indent="0" marL="0">
              <a:buNone/>
            </a:pPr>
            <a:r>
              <a:rPr lang="en-US" sz="2200" b="1" dirty="0">
                <a:solidFill>
                  <a:srgbClr val="E8A317"/>
                </a:solidFill>
                <a:latin typeface="Calibri" pitchFamily="34" charset="0"/>
                <a:ea typeface="Calibri" pitchFamily="34" charset="-122"/>
                <a:cs typeface="Calibri" pitchFamily="34" charset="-120"/>
              </a:rPr>
              <a:t>Fern</a:t>
            </a:r>
            <a:endParaRPr lang="en-US" sz="2200" dirty="0"/>
          </a:p>
        </p:txBody>
      </p:sp>
      <p:sp>
        <p:nvSpPr>
          <p:cNvPr id="31" name="Text 29"/>
          <p:cNvSpPr txBox="1"/>
          <p:nvPr/>
        </p:nvSpPr>
        <p:spPr>
          <a:xfrm>
            <a:off x="8046720" y="4434840"/>
            <a:ext cx="3383280" cy="274320"/>
          </a:xfrm>
          <a:prstGeom prst="rect">
            <a:avLst/>
          </a:prstGeom>
          <a:noFill/>
          <a:ln/>
        </p:spPr>
        <p:txBody>
          <a:bodyPr wrap="square" lIns="0" tIns="0" rIns="0" bIns="0" rtlCol="0" anchor="ctr"/>
          <a:lstStyle/>
          <a:p>
            <a:pPr indent="0" marL="0">
              <a:buNone/>
            </a:pPr>
            <a:r>
              <a:rPr lang="en-US" sz="1400" dirty="0">
                <a:solidFill>
                  <a:srgbClr val="6EC6FF"/>
                </a:solidFill>
                <a:latin typeface="Calibri" pitchFamily="34" charset="0"/>
                <a:ea typeface="Calibri" pitchFamily="34" charset="-122"/>
                <a:cs typeface="Calibri" pitchFamily="34" charset="-120"/>
              </a:rPr>
              <a:t>Pathfinder</a:t>
            </a:r>
            <a:endParaRPr lang="en-US" sz="1400" dirty="0"/>
          </a:p>
        </p:txBody>
      </p:sp>
      <p:sp>
        <p:nvSpPr>
          <p:cNvPr id="32" name="Text 30"/>
          <p:cNvSpPr txBox="1"/>
          <p:nvPr/>
        </p:nvSpPr>
        <p:spPr>
          <a:xfrm>
            <a:off x="8046720" y="4800600"/>
            <a:ext cx="3383280" cy="10515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Turns that place into a walk you can follow.</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ph idx="100" type="title" hasCustomPrompt="1"/>
          </p:nvPr>
        </p:nvSpPr>
        <p:spPr>
          <a:xfrm>
            <a:off x="502920" y="292608"/>
            <a:ext cx="11155680" cy="640080"/>
          </a:xfrm>
          <a:prstGeom prst="rect">
            <a:avLst/>
          </a:prstGeom>
          <a:noFill/>
          <a:ln/>
        </p:spPr>
        <p:txBody>
          <a:bodyPr wrap="square" lIns="0" tIns="0" rIns="0" bIns="0" rtlCol="0" anchor="ctr"/>
          <a:lstStyle/>
          <a:p>
            <a:pPr algn="l" indent="0" marL="0">
              <a:buNone/>
            </a:pPr>
            <a:r>
              <a:rPr lang="en-US" sz="3600" b="1" dirty="0">
                <a:solidFill>
                  <a:srgbClr val="0B1F3A"/>
                </a:solidFill>
                <a:latin typeface="Calibri" pitchFamily="34" charset="0"/>
                <a:ea typeface="Calibri" pitchFamily="34" charset="-122"/>
                <a:cs typeface="Calibri" pitchFamily="34" charset="-120"/>
              </a:rPr>
              <a:t>Live demo  ·  leave this slide up</a:t>
            </a:r>
            <a:endParaRPr lang="en-US" sz="3600" dirty="0"/>
          </a:p>
        </p:txBody>
      </p:sp>
      <p:pic>
        <p:nvPicPr>
          <p:cNvPr id="3" name="Image 0" descr="G:\broswer download\big-red-hacks2026\docs\presentation\assets\placeholder-map.png">    </p:cNvPr>
          <p:cNvPicPr>
            <a:picLocks noChangeAspect="1"/>
          </p:cNvPicPr>
          <p:nvPr/>
        </p:nvPicPr>
        <p:blipFill>
          <a:blip r:embed="rId1"/>
          <a:stretch>
            <a:fillRect/>
          </a:stretch>
        </p:blipFill>
        <p:spPr>
          <a:xfrm>
            <a:off x="1005840" y="1051560"/>
            <a:ext cx="2331720" cy="4142232"/>
          </a:xfrm>
          <a:prstGeom prst="ellipse">
            <a:avLst/>
          </a:prstGeom>
        </p:spPr>
      </p:pic>
      <p:sp>
        <p:nvSpPr>
          <p:cNvPr id="4" name="Text 1"/>
          <p:cNvSpPr txBox="1"/>
          <p:nvPr/>
        </p:nvSpPr>
        <p:spPr>
          <a:xfrm>
            <a:off x="502920" y="5257800"/>
            <a:ext cx="3383280" cy="32004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Nearby landmark</a:t>
            </a:r>
            <a:endParaRPr lang="en-US" sz="1400" dirty="0"/>
          </a:p>
        </p:txBody>
      </p:sp>
      <p:pic>
        <p:nvPicPr>
          <p:cNvPr id="5" name="Image 1" descr="G:\broswer download\big-red-hacks2026\docs\presentation\assets\placeholder-walk.png">    </p:cNvPr>
          <p:cNvPicPr>
            <a:picLocks noChangeAspect="1"/>
          </p:cNvPicPr>
          <p:nvPr/>
        </p:nvPicPr>
        <p:blipFill>
          <a:blip r:embed="rId2"/>
          <a:stretch>
            <a:fillRect/>
          </a:stretch>
        </p:blipFill>
        <p:spPr>
          <a:xfrm>
            <a:off x="4846320" y="1051560"/>
            <a:ext cx="2331720" cy="4142232"/>
          </a:xfrm>
          <a:prstGeom prst="ellipse">
            <a:avLst/>
          </a:prstGeom>
        </p:spPr>
      </p:pic>
      <p:sp>
        <p:nvSpPr>
          <p:cNvPr id="6" name="Text 2"/>
          <p:cNvSpPr txBox="1"/>
          <p:nvPr/>
        </p:nvSpPr>
        <p:spPr>
          <a:xfrm>
            <a:off x="4343400" y="5257800"/>
            <a:ext cx="3383280" cy="32004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Walk / trail  ·  Demo Walk</a:t>
            </a:r>
            <a:endParaRPr lang="en-US" sz="1400" dirty="0"/>
          </a:p>
        </p:txBody>
      </p:sp>
      <p:pic>
        <p:nvPicPr>
          <p:cNvPr id="7" name="Image 2" descr="G:\broswer download\big-red-hacks2026\docs\presentation\assets\placeholder-capture.png">    </p:cNvPr>
          <p:cNvPicPr>
            <a:picLocks noChangeAspect="1"/>
          </p:cNvPicPr>
          <p:nvPr/>
        </p:nvPicPr>
        <p:blipFill>
          <a:blip r:embed="rId3"/>
          <a:stretch>
            <a:fillRect/>
          </a:stretch>
        </p:blipFill>
        <p:spPr>
          <a:xfrm>
            <a:off x="8686800" y="1051560"/>
            <a:ext cx="2331720" cy="4142232"/>
          </a:xfrm>
          <a:prstGeom prst="ellipse">
            <a:avLst/>
          </a:prstGeom>
        </p:spPr>
      </p:pic>
      <p:sp>
        <p:nvSpPr>
          <p:cNvPr id="8" name="Text 3"/>
          <p:cNvSpPr txBox="1"/>
          <p:nvPr/>
        </p:nvSpPr>
        <p:spPr>
          <a:xfrm>
            <a:off x="8183880" y="5257800"/>
            <a:ext cx="3383280" cy="32004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Capture / pet reward</a:t>
            </a:r>
            <a:endParaRPr lang="en-US" sz="1400" dirty="0"/>
          </a:p>
        </p:txBody>
      </p:sp>
      <p:sp>
        <p:nvSpPr>
          <p:cNvPr id="9" name="Text 4"/>
          <p:cNvSpPr txBox="1"/>
          <p:nvPr/>
        </p:nvSpPr>
        <p:spPr>
          <a:xfrm>
            <a:off x="502920" y="5623560"/>
            <a:ext cx="11155680" cy="640080"/>
          </a:xfrm>
          <a:prstGeom prst="rect">
            <a:avLst/>
          </a:prstGeom>
          <a:noFill/>
          <a:ln/>
        </p:spPr>
        <p:txBody>
          <a:bodyPr wrap="square" lIns="0" tIns="0" rIns="0" bIns="0" rtlCol="0" anchor="ctr"/>
          <a:lstStyle/>
          <a:p>
            <a:pPr indent="0" marL="0">
              <a:buNone/>
            </a:pPr>
            <a:r>
              <a:rPr lang="en-US" sz="1600" dirty="0">
                <a:solidFill>
                  <a:srgbClr val="163528"/>
                </a:solidFill>
                <a:latin typeface="Calibri" pitchFamily="34" charset="0"/>
                <a:ea typeface="Calibri" pitchFamily="34" charset="-122"/>
                <a:cs typeface="Calibri" pitchFamily="34" charset="-120"/>
              </a:rPr>
              <a:t>Sequence: Send Pip exploring  →  choose a place  →  start a walk  →  capture the landmark.  Demo Walk simulates steps at the judging table.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ph idx="100" type="title" hasCustomPrompt="1"/>
          </p:nvPr>
        </p:nvSpPr>
        <p:spPr>
          <a:xfrm>
            <a:off x="502920" y="292608"/>
            <a:ext cx="11155680" cy="640080"/>
          </a:xfrm>
          <a:prstGeom prst="rect">
            <a:avLst/>
          </a:prstGeom>
          <a:noFill/>
          <a:ln/>
        </p:spPr>
        <p:txBody>
          <a:bodyPr wrap="square" lIns="0" tIns="0" rIns="0" bIns="0" rtlCol="0" anchor="ctr"/>
          <a:lstStyle/>
          <a:p>
            <a:pPr algn="l" indent="0" marL="0">
              <a:buNone/>
            </a:pPr>
            <a:r>
              <a:rPr lang="en-US" sz="3600" b="1" dirty="0">
                <a:solidFill>
                  <a:srgbClr val="0B1F3A"/>
                </a:solidFill>
                <a:latin typeface="Calibri" pitchFamily="34" charset="0"/>
                <a:ea typeface="Calibri" pitchFamily="34" charset="-122"/>
                <a:cs typeface="Calibri" pitchFamily="34" charset="-120"/>
              </a:rPr>
              <a:t>How we built it</a:t>
            </a:r>
            <a:endParaRPr lang="en-US" sz="3600" dirty="0"/>
          </a:p>
        </p:txBody>
      </p:sp>
      <p:sp>
        <p:nvSpPr>
          <p:cNvPr id="3" name="Shape 1"/>
          <p:cNvSpPr/>
          <p:nvPr/>
        </p:nvSpPr>
        <p:spPr>
          <a:xfrm>
            <a:off x="502920" y="1097280"/>
            <a:ext cx="3337560" cy="1965960"/>
          </a:xfrm>
          <a:prstGeom prst="roundRect">
            <a:avLst>
              <a:gd name="adj" fmla="val 6512"/>
            </a:avLst>
          </a:prstGeom>
          <a:solidFill>
            <a:srgbClr val="FFFFFF"/>
          </a:solidFill>
          <a:ln/>
          <a:effectLst>
            <a:outerShdw sx="100000" sy="100000" kx="0" ky="0" algn="bl" rotWithShape="0" blurRad="127000" dist="38100" dir="5400000">
              <a:srgbClr val="0B1F3A">
                <a:alpha val="8000"/>
              </a:srgbClr>
            </a:outerShdw>
          </a:effectLst>
        </p:spPr>
      </p:sp>
      <p:sp>
        <p:nvSpPr>
          <p:cNvPr id="4" name="Text 2"/>
          <p:cNvSpPr txBox="1"/>
          <p:nvPr/>
        </p:nvSpPr>
        <p:spPr>
          <a:xfrm>
            <a:off x="685800" y="1234440"/>
            <a:ext cx="2971800" cy="36576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Phone</a:t>
            </a:r>
            <a:endParaRPr lang="en-US" sz="2200" dirty="0"/>
          </a:p>
        </p:txBody>
      </p:sp>
      <p:sp>
        <p:nvSpPr>
          <p:cNvPr id="5" name="Text 3"/>
          <p:cNvSpPr txBox="1"/>
          <p:nvPr/>
        </p:nvSpPr>
        <p:spPr>
          <a:xfrm>
            <a:off x="685800" y="1645920"/>
            <a:ext cx="2971800" cy="1234440"/>
          </a:xfrm>
          <a:prstGeom prst="rect">
            <a:avLst/>
          </a:prstGeom>
          <a:noFill/>
          <a:ln/>
        </p:spPr>
        <p:txBody>
          <a:bodyPr wrap="square" lIns="0" tIns="0" rIns="0" bIns="0" rtlCol="0" anchor="ctr"/>
          <a:lstStyle/>
          <a:p>
            <a:pPr indent="0" marL="0">
              <a:buNone/>
            </a:pPr>
            <a:r>
              <a:rPr lang="en-US" sz="1600" dirty="0">
                <a:solidFill>
                  <a:srgbClr val="4A6358"/>
                </a:solidFill>
                <a:latin typeface="Calibri" pitchFamily="34" charset="0"/>
                <a:ea typeface="Calibri" pitchFamily="34" charset="-122"/>
                <a:cs typeface="Calibri" pitchFamily="34" charset="-120"/>
              </a:rPr>
              <a:t>Expo SDK 57</a:t>
            </a:r>
            <a:endParaRPr lang="en-US" sz="1600" dirty="0"/>
          </a:p>
          <a:p>
            <a:pPr indent="0" marL="0">
              <a:buNone/>
            </a:pPr>
            <a:r>
              <a:rPr lang="en-US" sz="1600" dirty="0">
                <a:solidFill>
                  <a:srgbClr val="4A6358"/>
                </a:solidFill>
                <a:latin typeface="Calibri" pitchFamily="34" charset="0"/>
                <a:ea typeface="Calibri" pitchFamily="34" charset="-122"/>
                <a:cs typeface="Calibri" pitchFamily="34" charset="-120"/>
              </a:rPr>
              <a:t>React Native</a:t>
            </a:r>
            <a:endParaRPr lang="en-US" sz="1600" dirty="0"/>
          </a:p>
          <a:p>
            <a:pPr indent="0" marL="0">
              <a:buNone/>
            </a:pPr>
            <a:r>
              <a:rPr lang="en-US" sz="1600" dirty="0">
                <a:solidFill>
                  <a:srgbClr val="4A6358"/>
                </a:solidFill>
                <a:latin typeface="Calibri" pitchFamily="34" charset="0"/>
                <a:ea typeface="Calibri" pitchFamily="34" charset="-122"/>
                <a:cs typeface="Calibri" pitchFamily="34" charset="-120"/>
              </a:rPr>
              <a:t>Expo Router</a:t>
            </a:r>
            <a:endParaRPr lang="en-US" sz="1600" dirty="0"/>
          </a:p>
        </p:txBody>
      </p:sp>
      <p:sp>
        <p:nvSpPr>
          <p:cNvPr id="6" name="Text 4"/>
          <p:cNvSpPr txBox="1"/>
          <p:nvPr/>
        </p:nvSpPr>
        <p:spPr>
          <a:xfrm>
            <a:off x="3703320" y="1737360"/>
            <a:ext cx="457200" cy="457200"/>
          </a:xfrm>
          <a:prstGeom prst="rect">
            <a:avLst/>
          </a:prstGeom>
          <a:noFill/>
          <a:ln/>
        </p:spPr>
        <p:txBody>
          <a:bodyPr wrap="square" lIns="0" tIns="0" rIns="0" bIns="0" rtlCol="0" anchor="ctr"/>
          <a:lstStyle/>
          <a:p>
            <a:pPr indent="0" marL="0">
              <a:buNone/>
            </a:pPr>
            <a:r>
              <a:rPr lang="en-US" sz="2800" b="1" dirty="0">
                <a:solidFill>
                  <a:srgbClr val="2E9D4F"/>
                </a:solidFill>
                <a:latin typeface="Calibri" pitchFamily="34" charset="0"/>
                <a:ea typeface="Calibri" pitchFamily="34" charset="-122"/>
                <a:cs typeface="Calibri" pitchFamily="34" charset="-120"/>
              </a:rPr>
              <a:t>→</a:t>
            </a:r>
            <a:endParaRPr lang="en-US" sz="2800" dirty="0"/>
          </a:p>
        </p:txBody>
      </p:sp>
      <p:sp>
        <p:nvSpPr>
          <p:cNvPr id="7" name="Shape 5"/>
          <p:cNvSpPr/>
          <p:nvPr/>
        </p:nvSpPr>
        <p:spPr>
          <a:xfrm>
            <a:off x="4434840" y="1097280"/>
            <a:ext cx="3337560" cy="1965960"/>
          </a:xfrm>
          <a:prstGeom prst="roundRect">
            <a:avLst>
              <a:gd name="adj" fmla="val 6512"/>
            </a:avLst>
          </a:prstGeom>
          <a:solidFill>
            <a:srgbClr val="0B1F3A"/>
          </a:solidFill>
          <a:ln/>
          <a:effectLst>
            <a:outerShdw sx="100000" sy="100000" kx="0" ky="0" algn="bl" rotWithShape="0" blurRad="127000" dist="38100" dir="5400000">
              <a:srgbClr val="0B1F3A">
                <a:alpha val="8000"/>
              </a:srgbClr>
            </a:outerShdw>
          </a:effectLst>
        </p:spPr>
      </p:sp>
      <p:sp>
        <p:nvSpPr>
          <p:cNvPr id="8" name="Text 6"/>
          <p:cNvSpPr txBox="1"/>
          <p:nvPr/>
        </p:nvSpPr>
        <p:spPr>
          <a:xfrm>
            <a:off x="4617720" y="1234440"/>
            <a:ext cx="2971800" cy="365760"/>
          </a:xfrm>
          <a:prstGeom prst="rect">
            <a:avLst/>
          </a:prstGeom>
          <a:noFill/>
          <a:ln/>
        </p:spPr>
        <p:txBody>
          <a:bodyPr wrap="square" lIns="0" tIns="0" rIns="0" bIns="0" rtlCol="0" anchor="ctr"/>
          <a:lstStyle/>
          <a:p>
            <a:pPr indent="0" marL="0">
              <a:buNone/>
            </a:pPr>
            <a:r>
              <a:rPr lang="en-US" sz="2200" b="1" dirty="0">
                <a:solidFill>
                  <a:srgbClr val="E8A317"/>
                </a:solidFill>
                <a:latin typeface="Calibri" pitchFamily="34" charset="0"/>
                <a:ea typeface="Calibri" pitchFamily="34" charset="-122"/>
                <a:cs typeface="Calibri" pitchFamily="34" charset="-120"/>
              </a:rPr>
              <a:t>API</a:t>
            </a:r>
            <a:endParaRPr lang="en-US" sz="2200" dirty="0"/>
          </a:p>
        </p:txBody>
      </p:sp>
      <p:sp>
        <p:nvSpPr>
          <p:cNvPr id="9" name="Text 7"/>
          <p:cNvSpPr txBox="1"/>
          <p:nvPr/>
        </p:nvSpPr>
        <p:spPr>
          <a:xfrm>
            <a:off x="4617720" y="1645920"/>
            <a:ext cx="2971800" cy="12344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Node.js /api</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Secrets stay here</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Turf + voice + art</a:t>
            </a:r>
            <a:endParaRPr lang="en-US" sz="1600" dirty="0"/>
          </a:p>
        </p:txBody>
      </p:sp>
      <p:sp>
        <p:nvSpPr>
          <p:cNvPr id="10" name="Text 8"/>
          <p:cNvSpPr txBox="1"/>
          <p:nvPr/>
        </p:nvSpPr>
        <p:spPr>
          <a:xfrm>
            <a:off x="7635240" y="1737360"/>
            <a:ext cx="457200" cy="457200"/>
          </a:xfrm>
          <a:prstGeom prst="rect">
            <a:avLst/>
          </a:prstGeom>
          <a:noFill/>
          <a:ln/>
        </p:spPr>
        <p:txBody>
          <a:bodyPr wrap="square" lIns="0" tIns="0" rIns="0" bIns="0" rtlCol="0" anchor="ctr"/>
          <a:lstStyle/>
          <a:p>
            <a:pPr indent="0" marL="0">
              <a:buNone/>
            </a:pPr>
            <a:r>
              <a:rPr lang="en-US" sz="2800" b="1" dirty="0">
                <a:solidFill>
                  <a:srgbClr val="2E9D4F"/>
                </a:solidFill>
                <a:latin typeface="Calibri" pitchFamily="34" charset="0"/>
                <a:ea typeface="Calibri" pitchFamily="34" charset="-122"/>
                <a:cs typeface="Calibri" pitchFamily="34" charset="-120"/>
              </a:rPr>
              <a:t>→</a:t>
            </a:r>
            <a:endParaRPr lang="en-US" sz="2800" dirty="0"/>
          </a:p>
        </p:txBody>
      </p:sp>
      <p:sp>
        <p:nvSpPr>
          <p:cNvPr id="11" name="Shape 9"/>
          <p:cNvSpPr/>
          <p:nvPr/>
        </p:nvSpPr>
        <p:spPr>
          <a:xfrm>
            <a:off x="8366760" y="1097280"/>
            <a:ext cx="3337560" cy="1965960"/>
          </a:xfrm>
          <a:prstGeom prst="roundRect">
            <a:avLst>
              <a:gd name="adj" fmla="val 6512"/>
            </a:avLst>
          </a:prstGeom>
          <a:solidFill>
            <a:srgbClr val="FFFFFF"/>
          </a:solidFill>
          <a:ln/>
          <a:effectLst>
            <a:outerShdw sx="100000" sy="100000" kx="0" ky="0" algn="bl" rotWithShape="0" blurRad="127000" dist="38100" dir="5400000">
              <a:srgbClr val="0B1F3A">
                <a:alpha val="8000"/>
              </a:srgbClr>
            </a:outerShdw>
          </a:effectLst>
        </p:spPr>
      </p:sp>
      <p:sp>
        <p:nvSpPr>
          <p:cNvPr id="12" name="Text 10"/>
          <p:cNvSpPr txBox="1"/>
          <p:nvPr/>
        </p:nvSpPr>
        <p:spPr>
          <a:xfrm>
            <a:off x="8549640" y="1234440"/>
            <a:ext cx="2971800" cy="36576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World</a:t>
            </a:r>
            <a:endParaRPr lang="en-US" sz="2200" dirty="0"/>
          </a:p>
        </p:txBody>
      </p:sp>
      <p:sp>
        <p:nvSpPr>
          <p:cNvPr id="13" name="Text 11"/>
          <p:cNvSpPr txBox="1"/>
          <p:nvPr/>
        </p:nvSpPr>
        <p:spPr>
          <a:xfrm>
            <a:off x="8549640" y="1645920"/>
            <a:ext cx="2971800" cy="1234440"/>
          </a:xfrm>
          <a:prstGeom prst="rect">
            <a:avLst/>
          </a:prstGeom>
          <a:noFill/>
          <a:ln/>
        </p:spPr>
        <p:txBody>
          <a:bodyPr wrap="square" lIns="0" tIns="0" rIns="0" bIns="0" rtlCol="0" anchor="ctr"/>
          <a:lstStyle/>
          <a:p>
            <a:pPr indent="0" marL="0">
              <a:buNone/>
            </a:pPr>
            <a:r>
              <a:rPr lang="en-US" sz="1600" dirty="0">
                <a:solidFill>
                  <a:srgbClr val="4A6358"/>
                </a:solidFill>
                <a:latin typeface="Calibri" pitchFamily="34" charset="0"/>
                <a:ea typeface="Calibri" pitchFamily="34" charset="-122"/>
                <a:cs typeface="Calibri" pitchFamily="34" charset="-120"/>
              </a:rPr>
              <a:t>Wikipedia · OSM</a:t>
            </a:r>
            <a:endParaRPr lang="en-US" sz="1600" dirty="0"/>
          </a:p>
          <a:p>
            <a:pPr indent="0" marL="0">
              <a:buNone/>
            </a:pPr>
            <a:r>
              <a:rPr lang="en-US" sz="1600" dirty="0">
                <a:solidFill>
                  <a:srgbClr val="4A6358"/>
                </a:solidFill>
                <a:latin typeface="Calibri" pitchFamily="34" charset="0"/>
                <a:ea typeface="Calibri" pitchFamily="34" charset="-122"/>
                <a:cs typeface="Calibri" pitchFamily="34" charset="-120"/>
              </a:rPr>
              <a:t>Grok / ElevenLabs</a:t>
            </a:r>
            <a:endParaRPr lang="en-US" sz="1600" dirty="0"/>
          </a:p>
          <a:p>
            <a:pPr indent="0" marL="0">
              <a:buNone/>
            </a:pPr>
            <a:r>
              <a:rPr lang="en-US" sz="1600" dirty="0">
                <a:solidFill>
                  <a:srgbClr val="4A6358"/>
                </a:solidFill>
                <a:latin typeface="Calibri" pitchFamily="34" charset="0"/>
                <a:ea typeface="Calibri" pitchFamily="34" charset="-122"/>
                <a:cs typeface="Calibri" pitchFamily="34" charset="-120"/>
              </a:rPr>
              <a:t>Photon iMessage</a:t>
            </a:r>
            <a:endParaRPr lang="en-US" sz="1600" dirty="0"/>
          </a:p>
        </p:txBody>
      </p:sp>
      <p:sp>
        <p:nvSpPr>
          <p:cNvPr id="14" name="Shape 12"/>
          <p:cNvSpPr/>
          <p:nvPr/>
        </p:nvSpPr>
        <p:spPr>
          <a:xfrm>
            <a:off x="502920" y="3246120"/>
            <a:ext cx="5623560" cy="1280160"/>
          </a:xfrm>
          <a:prstGeom prst="roundRect">
            <a:avLst>
              <a:gd name="adj" fmla="val 10000"/>
            </a:avLst>
          </a:prstGeom>
          <a:solidFill>
            <a:srgbClr val="FFFFFF"/>
          </a:solidFill>
          <a:ln/>
          <a:effectLst>
            <a:outerShdw sx="100000" sy="100000" kx="0" ky="0" algn="bl" rotWithShape="0" blurRad="127000" dist="38100" dir="5400000">
              <a:srgbClr val="0B1F3A">
                <a:alpha val="8000"/>
              </a:srgbClr>
            </a:outerShdw>
          </a:effectLst>
        </p:spPr>
      </p:sp>
      <p:sp>
        <p:nvSpPr>
          <p:cNvPr id="15" name="Text 13"/>
          <p:cNvSpPr txBox="1"/>
          <p:nvPr/>
        </p:nvSpPr>
        <p:spPr>
          <a:xfrm>
            <a:off x="685800" y="3355848"/>
            <a:ext cx="5257800" cy="320040"/>
          </a:xfrm>
          <a:prstGeom prst="rect">
            <a:avLst/>
          </a:prstGeom>
          <a:noFill/>
          <a:ln/>
        </p:spPr>
        <p:txBody>
          <a:bodyPr wrap="square" lIns="0" tIns="0" rIns="0" bIns="0" rtlCol="0" anchor="ctr"/>
          <a:lstStyle/>
          <a:p>
            <a:pPr indent="0" marL="0">
              <a:buNone/>
            </a:pPr>
            <a:r>
              <a:rPr lang="en-US" sz="1600" b="1" dirty="0">
                <a:solidFill>
                  <a:srgbClr val="2E9D4F"/>
                </a:solidFill>
                <a:latin typeface="Calibri" pitchFamily="34" charset="0"/>
                <a:ea typeface="Calibri" pitchFamily="34" charset="-122"/>
                <a:cs typeface="Calibri" pitchFamily="34" charset="-120"/>
              </a:rPr>
              <a:t>Shared JavaScript game logic</a:t>
            </a:r>
            <a:endParaRPr lang="en-US" sz="1600" dirty="0"/>
          </a:p>
        </p:txBody>
      </p:sp>
      <p:sp>
        <p:nvSpPr>
          <p:cNvPr id="16" name="Text 14"/>
          <p:cNvSpPr txBox="1"/>
          <p:nvPr/>
        </p:nvSpPr>
        <p:spPr>
          <a:xfrm>
            <a:off x="685800" y="3703320"/>
            <a:ext cx="5257800" cy="685800"/>
          </a:xfrm>
          <a:prstGeom prst="rect">
            <a:avLst/>
          </a:prstGeom>
          <a:noFill/>
          <a:ln/>
        </p:spPr>
        <p:txBody>
          <a:bodyPr wrap="square" lIns="0" tIns="0" rIns="0" bIns="0" rtlCol="0" anchor="ctr"/>
          <a:lstStyle/>
          <a:p>
            <a:pPr indent="0" marL="0">
              <a:buNone/>
            </a:pPr>
            <a:r>
              <a:rPr lang="en-US" sz="1400" dirty="0">
                <a:solidFill>
                  <a:srgbClr val="163528"/>
                </a:solidFill>
                <a:latin typeface="Calibri" pitchFamily="34" charset="0"/>
                <a:ea typeface="Calibri" pitchFamily="34" charset="-122"/>
                <a:cs typeface="Calibri" pitchFamily="34" charset="-120"/>
              </a:rPr>
              <a:t>core/ is the source of truth. Phone, server, and iMessage import the same rules.</a:t>
            </a:r>
            <a:endParaRPr lang="en-US" sz="1400" dirty="0"/>
          </a:p>
        </p:txBody>
      </p:sp>
      <p:sp>
        <p:nvSpPr>
          <p:cNvPr id="17" name="Shape 15"/>
          <p:cNvSpPr/>
          <p:nvPr/>
        </p:nvSpPr>
        <p:spPr>
          <a:xfrm>
            <a:off x="6355080" y="3246120"/>
            <a:ext cx="5623560" cy="1280160"/>
          </a:xfrm>
          <a:prstGeom prst="roundRect">
            <a:avLst>
              <a:gd name="adj" fmla="val 10000"/>
            </a:avLst>
          </a:prstGeom>
          <a:solidFill>
            <a:srgbClr val="FFFFFF"/>
          </a:solidFill>
          <a:ln/>
          <a:effectLst>
            <a:outerShdw sx="100000" sy="100000" kx="0" ky="0" algn="bl" rotWithShape="0" blurRad="127000" dist="38100" dir="5400000">
              <a:srgbClr val="0B1F3A">
                <a:alpha val="8000"/>
              </a:srgbClr>
            </a:outerShdw>
          </a:effectLst>
        </p:spPr>
      </p:sp>
      <p:sp>
        <p:nvSpPr>
          <p:cNvPr id="18" name="Text 16"/>
          <p:cNvSpPr txBox="1"/>
          <p:nvPr/>
        </p:nvSpPr>
        <p:spPr>
          <a:xfrm>
            <a:off x="6537960" y="3355848"/>
            <a:ext cx="5257800" cy="320040"/>
          </a:xfrm>
          <a:prstGeom prst="rect">
            <a:avLst/>
          </a:prstGeom>
          <a:noFill/>
          <a:ln/>
        </p:spPr>
        <p:txBody>
          <a:bodyPr wrap="square" lIns="0" tIns="0" rIns="0" bIns="0" rtlCol="0" anchor="ctr"/>
          <a:lstStyle/>
          <a:p>
            <a:pPr indent="0" marL="0">
              <a:buNone/>
            </a:pPr>
            <a:r>
              <a:rPr lang="en-US" sz="1600" b="1" dirty="0">
                <a:solidFill>
                  <a:srgbClr val="2E9D4F"/>
                </a:solidFill>
                <a:latin typeface="Calibri" pitchFamily="34" charset="0"/>
                <a:ea typeface="Calibri" pitchFamily="34" charset="-122"/>
                <a:cs typeface="Calibri" pitchFamily="34" charset="-120"/>
              </a:rPr>
              <a:t>Grounded facts and routes</a:t>
            </a:r>
            <a:endParaRPr lang="en-US" sz="1600" dirty="0"/>
          </a:p>
        </p:txBody>
      </p:sp>
      <p:sp>
        <p:nvSpPr>
          <p:cNvPr id="19" name="Text 17"/>
          <p:cNvSpPr txBox="1"/>
          <p:nvPr/>
        </p:nvSpPr>
        <p:spPr>
          <a:xfrm>
            <a:off x="6537960" y="3703320"/>
            <a:ext cx="5257800" cy="685800"/>
          </a:xfrm>
          <a:prstGeom prst="rect">
            <a:avLst/>
          </a:prstGeom>
          <a:noFill/>
          <a:ln/>
        </p:spPr>
        <p:txBody>
          <a:bodyPr wrap="square" lIns="0" tIns="0" rIns="0" bIns="0" rtlCol="0" anchor="ctr"/>
          <a:lstStyle/>
          <a:p>
            <a:pPr indent="0" marL="0">
              <a:buNone/>
            </a:pPr>
            <a:r>
              <a:rPr lang="en-US" sz="1400" dirty="0">
                <a:solidFill>
                  <a:srgbClr val="163528"/>
                </a:solidFill>
                <a:latin typeface="Calibri" pitchFamily="34" charset="0"/>
                <a:ea typeface="Calibri" pitchFamily="34" charset="-122"/>
                <a:cs typeface="Calibri" pitchFamily="34" charset="-120"/>
              </a:rPr>
              <a:t>Place facts come from Wikipedia. Walking routes come from OpenStreetMap. Agents do not invent landmarks.</a:t>
            </a:r>
            <a:endParaRPr lang="en-US" sz="1400" dirty="0"/>
          </a:p>
        </p:txBody>
      </p:sp>
      <p:sp>
        <p:nvSpPr>
          <p:cNvPr id="20" name="Shape 18"/>
          <p:cNvSpPr/>
          <p:nvPr/>
        </p:nvSpPr>
        <p:spPr>
          <a:xfrm>
            <a:off x="502920" y="4663440"/>
            <a:ext cx="5623560" cy="1280160"/>
          </a:xfrm>
          <a:prstGeom prst="roundRect">
            <a:avLst>
              <a:gd name="adj" fmla="val 10000"/>
            </a:avLst>
          </a:prstGeom>
          <a:solidFill>
            <a:srgbClr val="FFFFFF"/>
          </a:solidFill>
          <a:ln/>
          <a:effectLst>
            <a:outerShdw sx="100000" sy="100000" kx="0" ky="0" algn="bl" rotWithShape="0" blurRad="127000" dist="38100" dir="5400000">
              <a:srgbClr val="0B1F3A">
                <a:alpha val="8000"/>
              </a:srgbClr>
            </a:outerShdw>
          </a:effectLst>
        </p:spPr>
      </p:sp>
      <p:sp>
        <p:nvSpPr>
          <p:cNvPr id="21" name="Text 19"/>
          <p:cNvSpPr txBox="1"/>
          <p:nvPr/>
        </p:nvSpPr>
        <p:spPr>
          <a:xfrm>
            <a:off x="685800" y="4773168"/>
            <a:ext cx="5257800" cy="320040"/>
          </a:xfrm>
          <a:prstGeom prst="rect">
            <a:avLst/>
          </a:prstGeom>
          <a:noFill/>
          <a:ln/>
        </p:spPr>
        <p:txBody>
          <a:bodyPr wrap="square" lIns="0" tIns="0" rIns="0" bIns="0" rtlCol="0" anchor="ctr"/>
          <a:lstStyle/>
          <a:p>
            <a:pPr indent="0" marL="0">
              <a:buNone/>
            </a:pPr>
            <a:r>
              <a:rPr lang="en-US" sz="1600" b="1" dirty="0">
                <a:solidFill>
                  <a:srgbClr val="2E9D4F"/>
                </a:solidFill>
                <a:latin typeface="Calibri" pitchFamily="34" charset="0"/>
                <a:ea typeface="Calibri" pitchFamily="34" charset="-122"/>
                <a:cs typeface="Calibri" pitchFamily="34" charset="-120"/>
              </a:rPr>
              <a:t>Voice and art, with fallbacks</a:t>
            </a:r>
            <a:endParaRPr lang="en-US" sz="1600" dirty="0"/>
          </a:p>
        </p:txBody>
      </p:sp>
      <p:sp>
        <p:nvSpPr>
          <p:cNvPr id="22" name="Text 20"/>
          <p:cNvSpPr txBox="1"/>
          <p:nvPr/>
        </p:nvSpPr>
        <p:spPr>
          <a:xfrm>
            <a:off x="685800" y="5120640"/>
            <a:ext cx="5257800" cy="685800"/>
          </a:xfrm>
          <a:prstGeom prst="rect">
            <a:avLst/>
          </a:prstGeom>
          <a:noFill/>
          <a:ln/>
        </p:spPr>
        <p:txBody>
          <a:bodyPr wrap="square" lIns="0" tIns="0" rIns="0" bIns="0" rtlCol="0" anchor="ctr"/>
          <a:lstStyle/>
          <a:p>
            <a:pPr indent="0" marL="0">
              <a:buNone/>
            </a:pPr>
            <a:r>
              <a:rPr lang="en-US" sz="1400" dirty="0">
                <a:solidFill>
                  <a:srgbClr val="163528"/>
                </a:solidFill>
                <a:latin typeface="Calibri" pitchFamily="34" charset="0"/>
                <a:ea typeface="Calibri" pitchFamily="34" charset="-122"/>
                <a:cs typeface="Calibri" pitchFamily="34" charset="-120"/>
              </a:rPr>
              <a:t>Moss can use ElevenLabs. Pip and Fern can use Grok Voice and Imagine when keys are set. Otherwise on-device speech and original SVG art.</a:t>
            </a:r>
            <a:endParaRPr lang="en-US" sz="1400" dirty="0"/>
          </a:p>
        </p:txBody>
      </p:sp>
      <p:sp>
        <p:nvSpPr>
          <p:cNvPr id="23" name="Shape 21"/>
          <p:cNvSpPr/>
          <p:nvPr/>
        </p:nvSpPr>
        <p:spPr>
          <a:xfrm>
            <a:off x="6355080" y="4663440"/>
            <a:ext cx="5623560" cy="1280160"/>
          </a:xfrm>
          <a:prstGeom prst="roundRect">
            <a:avLst>
              <a:gd name="adj" fmla="val 10000"/>
            </a:avLst>
          </a:prstGeom>
          <a:solidFill>
            <a:srgbClr val="FFFFFF"/>
          </a:solidFill>
          <a:ln/>
          <a:effectLst>
            <a:outerShdw sx="100000" sy="100000" kx="0" ky="0" algn="bl" rotWithShape="0" blurRad="127000" dist="38100" dir="5400000">
              <a:srgbClr val="0B1F3A">
                <a:alpha val="8000"/>
              </a:srgbClr>
            </a:outerShdw>
          </a:effectLst>
        </p:spPr>
      </p:sp>
      <p:sp>
        <p:nvSpPr>
          <p:cNvPr id="24" name="Text 22"/>
          <p:cNvSpPr txBox="1"/>
          <p:nvPr/>
        </p:nvSpPr>
        <p:spPr>
          <a:xfrm>
            <a:off x="6537960" y="4773168"/>
            <a:ext cx="5257800" cy="320040"/>
          </a:xfrm>
          <a:prstGeom prst="rect">
            <a:avLst/>
          </a:prstGeom>
          <a:noFill/>
          <a:ln/>
        </p:spPr>
        <p:txBody>
          <a:bodyPr wrap="square" lIns="0" tIns="0" rIns="0" bIns="0" rtlCol="0" anchor="ctr"/>
          <a:lstStyle/>
          <a:p>
            <a:pPr indent="0" marL="0">
              <a:buNone/>
            </a:pPr>
            <a:r>
              <a:rPr lang="en-US" sz="1600" b="1" dirty="0">
                <a:solidFill>
                  <a:srgbClr val="2E9D4F"/>
                </a:solidFill>
                <a:latin typeface="Calibri" pitchFamily="34" charset="0"/>
                <a:ea typeface="Calibri" pitchFamily="34" charset="-122"/>
                <a:cs typeface="Calibri" pitchFamily="34" charset="-120"/>
              </a:rPr>
              <a:t>Cursor-assisted build</a:t>
            </a:r>
            <a:endParaRPr lang="en-US" sz="1600" dirty="0"/>
          </a:p>
        </p:txBody>
      </p:sp>
      <p:sp>
        <p:nvSpPr>
          <p:cNvPr id="25" name="Text 23"/>
          <p:cNvSpPr txBox="1"/>
          <p:nvPr/>
        </p:nvSpPr>
        <p:spPr>
          <a:xfrm>
            <a:off x="6537960" y="5120640"/>
            <a:ext cx="5257800" cy="685800"/>
          </a:xfrm>
          <a:prstGeom prst="rect">
            <a:avLst/>
          </a:prstGeom>
          <a:noFill/>
          <a:ln/>
        </p:spPr>
        <p:txBody>
          <a:bodyPr wrap="square" lIns="0" tIns="0" rIns="0" bIns="0" rtlCol="0" anchor="ctr"/>
          <a:lstStyle/>
          <a:p>
            <a:pPr indent="0" marL="0">
              <a:buNone/>
            </a:pPr>
            <a:r>
              <a:rPr lang="en-US" sz="1400" dirty="0">
                <a:solidFill>
                  <a:srgbClr val="163528"/>
                </a:solidFill>
                <a:latin typeface="Calibri" pitchFamily="34" charset="0"/>
                <a:ea typeface="Calibri" pitchFamily="34" charset="-122"/>
                <a:cs typeface="Calibri" pitchFamily="34" charset="-120"/>
              </a:rPr>
              <a:t>SpaceX track: designed and iterated in Cursor. iMessage agent uses Photon Spectrum.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ph idx="100" type="title" hasCustomPrompt="1"/>
          </p:nvPr>
        </p:nvSpPr>
        <p:spPr>
          <a:xfrm>
            <a:off x="502920" y="292608"/>
            <a:ext cx="11155680" cy="640080"/>
          </a:xfrm>
          <a:prstGeom prst="rect">
            <a:avLst/>
          </a:prstGeom>
          <a:noFill/>
          <a:ln/>
        </p:spPr>
        <p:txBody>
          <a:bodyPr wrap="square" lIns="0" tIns="0" rIns="0" bIns="0" rtlCol="0" anchor="ctr"/>
          <a:lstStyle/>
          <a:p>
            <a:pPr algn="l" indent="0" marL="0">
              <a:buNone/>
            </a:pPr>
            <a:r>
              <a:rPr lang="en-US" sz="3600" b="1" dirty="0">
                <a:solidFill>
                  <a:srgbClr val="0B1F3A"/>
                </a:solidFill>
                <a:latin typeface="Calibri" pitchFamily="34" charset="0"/>
                <a:ea typeface="Calibri" pitchFamily="34" charset="-122"/>
                <a:cs typeface="Calibri" pitchFamily="34" charset="-120"/>
              </a:rPr>
              <a:t>What makes it special</a:t>
            </a:r>
            <a:endParaRPr lang="en-US" sz="3600" dirty="0"/>
          </a:p>
        </p:txBody>
      </p:sp>
      <p:sp>
        <p:nvSpPr>
          <p:cNvPr id="3" name="Shape 1"/>
          <p:cNvSpPr/>
          <p:nvPr/>
        </p:nvSpPr>
        <p:spPr>
          <a:xfrm>
            <a:off x="502920" y="1097280"/>
            <a:ext cx="3611880" cy="3977640"/>
          </a:xfrm>
          <a:prstGeom prst="roundRect">
            <a:avLst>
              <a:gd name="adj" fmla="val 3544"/>
            </a:avLst>
          </a:prstGeom>
          <a:solidFill>
            <a:srgbClr val="FFFFFF"/>
          </a:solidFill>
          <a:ln/>
          <a:effectLst>
            <a:outerShdw sx="100000" sy="100000" kx="0" ky="0" algn="bl" rotWithShape="0" blurRad="127000" dist="38100" dir="5400000">
              <a:srgbClr val="0B1F3A">
                <a:alpha val="8000"/>
              </a:srgbClr>
            </a:outerShdw>
          </a:effectLst>
        </p:spPr>
      </p:sp>
      <p:pic>
        <p:nvPicPr>
          <p:cNvPr id="4" name="Image 0" descr="G:\broswer download\big-red-hacks2026\mobile\assets\splash-icon.png">    </p:cNvPr>
          <p:cNvPicPr>
            <a:picLocks noChangeAspect="1"/>
          </p:cNvPicPr>
          <p:nvPr/>
        </p:nvPicPr>
        <p:blipFill>
          <a:blip r:embed="rId1"/>
          <a:stretch>
            <a:fillRect/>
          </a:stretch>
        </p:blipFill>
        <p:spPr>
          <a:xfrm>
            <a:off x="1554480" y="1280160"/>
            <a:ext cx="1508760" cy="1508760"/>
          </a:xfrm>
          <a:prstGeom prst="rect">
            <a:avLst/>
          </a:prstGeom>
        </p:spPr>
      </p:pic>
      <p:sp>
        <p:nvSpPr>
          <p:cNvPr id="5" name="Text 2"/>
          <p:cNvSpPr txBox="1"/>
          <p:nvPr/>
        </p:nvSpPr>
        <p:spPr>
          <a:xfrm>
            <a:off x="685800" y="2926080"/>
            <a:ext cx="3246120" cy="77724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Navigation becomes play</a:t>
            </a:r>
            <a:endParaRPr lang="en-US" sz="2000" dirty="0"/>
          </a:p>
        </p:txBody>
      </p:sp>
      <p:sp>
        <p:nvSpPr>
          <p:cNvPr id="6" name="Text 3"/>
          <p:cNvSpPr txBox="1"/>
          <p:nvPr/>
        </p:nvSpPr>
        <p:spPr>
          <a:xfrm>
            <a:off x="685800" y="3749040"/>
            <a:ext cx="3246120" cy="1097280"/>
          </a:xfrm>
          <a:prstGeom prst="rect">
            <a:avLst/>
          </a:prstGeom>
          <a:noFill/>
          <a:ln/>
        </p:spPr>
        <p:txBody>
          <a:bodyPr wrap="square" lIns="0" tIns="0" rIns="0" bIns="0" rtlCol="0" anchor="ctr"/>
          <a:lstStyle/>
          <a:p>
            <a:pPr indent="0" marL="0">
              <a:buNone/>
            </a:pPr>
            <a:r>
              <a:rPr lang="en-US" sz="1500" dirty="0">
                <a:solidFill>
                  <a:srgbClr val="4A6358"/>
                </a:solidFill>
                <a:latin typeface="Calibri" pitchFamily="34" charset="0"/>
                <a:ea typeface="Calibri" pitchFamily="34" charset="-122"/>
                <a:cs typeface="Calibri" pitchFamily="34" charset="-120"/>
              </a:rPr>
              <a:t>The map is a blooming trail and a squad, not only a blue line to a pin.</a:t>
            </a:r>
            <a:endParaRPr lang="en-US" sz="1500" dirty="0"/>
          </a:p>
        </p:txBody>
      </p:sp>
      <p:sp>
        <p:nvSpPr>
          <p:cNvPr id="7" name="Shape 4"/>
          <p:cNvSpPr/>
          <p:nvPr/>
        </p:nvSpPr>
        <p:spPr>
          <a:xfrm>
            <a:off x="4343400" y="1097280"/>
            <a:ext cx="3611880" cy="3977640"/>
          </a:xfrm>
          <a:prstGeom prst="roundRect">
            <a:avLst>
              <a:gd name="adj" fmla="val 3544"/>
            </a:avLst>
          </a:prstGeom>
          <a:solidFill>
            <a:srgbClr val="FFFFFF"/>
          </a:solidFill>
          <a:ln/>
          <a:effectLst>
            <a:outerShdw sx="100000" sy="100000" kx="0" ky="0" algn="bl" rotWithShape="0" blurRad="127000" dist="38100" dir="5400000">
              <a:srgbClr val="0B1F3A">
                <a:alpha val="8000"/>
              </a:srgbClr>
            </a:outerShdw>
          </a:effectLst>
        </p:spPr>
      </p:sp>
      <p:pic>
        <p:nvPicPr>
          <p:cNvPr id="8" name="Image 1" descr="G:\broswer download\big-red-hacks2026\mobile\assets\badges\gold.png">    </p:cNvPr>
          <p:cNvPicPr>
            <a:picLocks noChangeAspect="1"/>
          </p:cNvPicPr>
          <p:nvPr/>
        </p:nvPicPr>
        <p:blipFill>
          <a:blip r:embed="rId2"/>
          <a:stretch>
            <a:fillRect/>
          </a:stretch>
        </p:blipFill>
        <p:spPr>
          <a:xfrm>
            <a:off x="5394960" y="1280160"/>
            <a:ext cx="1508760" cy="1508760"/>
          </a:xfrm>
          <a:prstGeom prst="rect">
            <a:avLst/>
          </a:prstGeom>
        </p:spPr>
      </p:pic>
      <p:sp>
        <p:nvSpPr>
          <p:cNvPr id="9" name="Text 5"/>
          <p:cNvSpPr txBox="1"/>
          <p:nvPr/>
        </p:nvSpPr>
        <p:spPr>
          <a:xfrm>
            <a:off x="4526280" y="2926080"/>
            <a:ext cx="3246120" cy="77724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Walking earns creatures</a:t>
            </a:r>
            <a:endParaRPr lang="en-US" sz="2000" dirty="0"/>
          </a:p>
        </p:txBody>
      </p:sp>
      <p:sp>
        <p:nvSpPr>
          <p:cNvPr id="10" name="Text 6"/>
          <p:cNvSpPr txBox="1"/>
          <p:nvPr/>
        </p:nvSpPr>
        <p:spPr>
          <a:xfrm>
            <a:off x="4526280" y="3749040"/>
            <a:ext cx="3246120" cy="1097280"/>
          </a:xfrm>
          <a:prstGeom prst="rect">
            <a:avLst/>
          </a:prstGeom>
          <a:noFill/>
          <a:ln/>
        </p:spPr>
        <p:txBody>
          <a:bodyPr wrap="square" lIns="0" tIns="0" rIns="0" bIns="0" rtlCol="0" anchor="ctr"/>
          <a:lstStyle/>
          <a:p>
            <a:pPr indent="0" marL="0">
              <a:buNone/>
            </a:pPr>
            <a:r>
              <a:rPr lang="en-US" sz="1500" dirty="0">
                <a:solidFill>
                  <a:srgbClr val="4A6358"/>
                </a:solidFill>
                <a:latin typeface="Calibri" pitchFamily="34" charset="0"/>
                <a:ea typeface="Calibri" pitchFamily="34" charset="-122"/>
                <a:cs typeface="Calibri" pitchFamily="34" charset="-120"/>
              </a:rPr>
              <a:t>Distance fills eggs, ranks, and landmark captures you can actually complete at the table in Demo Walk.</a:t>
            </a:r>
            <a:endParaRPr lang="en-US" sz="1500" dirty="0"/>
          </a:p>
        </p:txBody>
      </p:sp>
      <p:sp>
        <p:nvSpPr>
          <p:cNvPr id="11" name="Shape 7"/>
          <p:cNvSpPr/>
          <p:nvPr/>
        </p:nvSpPr>
        <p:spPr>
          <a:xfrm>
            <a:off x="8183880" y="1097280"/>
            <a:ext cx="3611880" cy="3977640"/>
          </a:xfrm>
          <a:prstGeom prst="roundRect">
            <a:avLst>
              <a:gd name="adj" fmla="val 3544"/>
            </a:avLst>
          </a:prstGeom>
          <a:solidFill>
            <a:srgbClr val="FFFFFF"/>
          </a:solidFill>
          <a:ln/>
          <a:effectLst>
            <a:outerShdw sx="100000" sy="100000" kx="0" ky="0" algn="bl" rotWithShape="0" blurRad="127000" dist="38100" dir="5400000">
              <a:srgbClr val="0B1F3A">
                <a:alpha val="8000"/>
              </a:srgbClr>
            </a:outerShdw>
          </a:effectLst>
        </p:spPr>
      </p:sp>
      <p:pic>
        <p:nvPicPr>
          <p:cNvPr id="12" name="Image 2" descr="G:\broswer download\big-red-hacks2026\mobile\assets\icon.png">    </p:cNvPr>
          <p:cNvPicPr>
            <a:picLocks noChangeAspect="1"/>
          </p:cNvPicPr>
          <p:nvPr/>
        </p:nvPicPr>
        <p:blipFill>
          <a:blip r:embed="rId3"/>
          <a:stretch>
            <a:fillRect/>
          </a:stretch>
        </p:blipFill>
        <p:spPr>
          <a:xfrm>
            <a:off x="9235440" y="1280160"/>
            <a:ext cx="1508760" cy="1508760"/>
          </a:xfrm>
          <a:prstGeom prst="rect">
            <a:avLst/>
          </a:prstGeom>
        </p:spPr>
      </p:pic>
      <p:sp>
        <p:nvSpPr>
          <p:cNvPr id="13" name="Text 8"/>
          <p:cNvSpPr txBox="1"/>
          <p:nvPr/>
        </p:nvSpPr>
        <p:spPr>
          <a:xfrm>
            <a:off x="8366760" y="2926080"/>
            <a:ext cx="3246120" cy="77724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The walk continues in iMessage</a:t>
            </a:r>
            <a:endParaRPr lang="en-US" sz="2000" dirty="0"/>
          </a:p>
        </p:txBody>
      </p:sp>
      <p:sp>
        <p:nvSpPr>
          <p:cNvPr id="14" name="Text 9"/>
          <p:cNvSpPr txBox="1"/>
          <p:nvPr/>
        </p:nvSpPr>
        <p:spPr>
          <a:xfrm>
            <a:off x="8366760" y="3749040"/>
            <a:ext cx="3246120" cy="1097280"/>
          </a:xfrm>
          <a:prstGeom prst="rect">
            <a:avLst/>
          </a:prstGeom>
          <a:noFill/>
          <a:ln/>
        </p:spPr>
        <p:txBody>
          <a:bodyPr wrap="square" lIns="0" tIns="0" rIns="0" bIns="0" rtlCol="0" anchor="ctr"/>
          <a:lstStyle/>
          <a:p>
            <a:pPr indent="0" marL="0">
              <a:buNone/>
            </a:pPr>
            <a:r>
              <a:rPr lang="en-US" sz="1500" dirty="0">
                <a:solidFill>
                  <a:srgbClr val="4A6358"/>
                </a:solidFill>
                <a:latin typeface="Calibri" pitchFamily="34" charset="0"/>
                <a:ea typeface="Calibri" pitchFamily="34" charset="-122"/>
                <a:cs typeface="Calibri" pitchFamily="34" charset="-120"/>
              </a:rPr>
              <a:t>The same squad can explore, story, and route over Photon Spectrum — terminal today, iMessage with keys.</a:t>
            </a:r>
            <a:endParaRPr lang="en-US" sz="1500" dirty="0"/>
          </a:p>
        </p:txBody>
      </p:sp>
      <p:sp>
        <p:nvSpPr>
          <p:cNvPr id="15" name="Text 10"/>
          <p:cNvSpPr txBox="1"/>
          <p:nvPr/>
        </p:nvSpPr>
        <p:spPr>
          <a:xfrm>
            <a:off x="502920" y="5212080"/>
            <a:ext cx="11155680" cy="1005840"/>
          </a:xfrm>
          <a:prstGeom prst="rect">
            <a:avLst/>
          </a:prstGeom>
          <a:noFill/>
          <a:ln/>
        </p:spPr>
        <p:txBody>
          <a:bodyPr wrap="square" lIns="0" tIns="0" rIns="0" bIns="0" rtlCol="0" anchor="ctr"/>
          <a:lstStyle/>
          <a:p>
            <a:pPr indent="0" marL="0">
              <a:buNone/>
            </a:pPr>
            <a:r>
              <a:rPr lang="en-US" sz="1500" dirty="0">
                <a:solidFill>
                  <a:srgbClr val="163528"/>
                </a:solidFill>
                <a:latin typeface="Calibri" pitchFamily="34" charset="0"/>
                <a:ea typeface="Calibri" pitchFamily="34" charset="-122"/>
                <a:cs typeface="Calibri" pitchFamily="34" charset="-120"/>
              </a:rPr>
              <a:t>Also in the app: ISS overhead can boost rare hatches.  Experiments, not claims: live Grok without a key, cloud deploy, background tracking.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Walk more of the world you already live in</a:t>
            </a:r>
            <a:endParaRPr lang="en-US" sz="3200" dirty="0"/>
          </a:p>
        </p:txBody>
      </p:sp>
      <p:sp>
        <p:nvSpPr>
          <p:cNvPr id="3" name="Text 1"/>
          <p:cNvSpPr txBox="1"/>
          <p:nvPr/>
        </p:nvSpPr>
        <p:spPr>
          <a:xfrm>
            <a:off x="640080" y="1051560"/>
            <a:ext cx="10972800" cy="365760"/>
          </a:xfrm>
          <a:prstGeom prst="rect">
            <a:avLst/>
          </a:prstGeom>
          <a:noFill/>
          <a:ln/>
        </p:spPr>
        <p:txBody>
          <a:bodyPr wrap="square" lIns="0" tIns="0" rIns="0" bIns="0" rtlCol="0" anchor="ctr"/>
          <a:lstStyle/>
          <a:p>
            <a:pPr indent="0" marL="0">
              <a:buNone/>
            </a:pPr>
            <a:r>
              <a:rPr lang="en-US" sz="1800" dirty="0">
                <a:solidFill>
                  <a:srgbClr val="6EC6FF"/>
                </a:solidFill>
                <a:latin typeface="Calibri" pitchFamily="34" charset="0"/>
                <a:ea typeface="Calibri" pitchFamily="34" charset="-122"/>
                <a:cs typeface="Calibri" pitchFamily="34" charset="-120"/>
              </a:rPr>
              <a:t>Campus, hometown blocks, and the path between classes — same loop.</a:t>
            </a:r>
            <a:endParaRPr lang="en-US" sz="1800" dirty="0"/>
          </a:p>
        </p:txBody>
      </p:sp>
      <p:sp>
        <p:nvSpPr>
          <p:cNvPr id="4" name="Shape 2"/>
          <p:cNvSpPr/>
          <p:nvPr/>
        </p:nvSpPr>
        <p:spPr>
          <a:xfrm>
            <a:off x="640080" y="1645920"/>
            <a:ext cx="5349240" cy="1280160"/>
          </a:xfrm>
          <a:prstGeom prst="roundRect">
            <a:avLst>
              <a:gd name="adj" fmla="val 8571"/>
            </a:avLst>
          </a:prstGeom>
          <a:solidFill>
            <a:srgbClr val="123252"/>
          </a:solidFill>
          <a:ln/>
        </p:spPr>
      </p:sp>
      <p:sp>
        <p:nvSpPr>
          <p:cNvPr id="5" name="Text 3"/>
          <p:cNvSpPr txBox="1"/>
          <p:nvPr/>
        </p:nvSpPr>
        <p:spPr>
          <a:xfrm>
            <a:off x="868680" y="1810512"/>
            <a:ext cx="4892040" cy="365760"/>
          </a:xfrm>
          <a:prstGeom prst="rect">
            <a:avLst/>
          </a:prstGeom>
          <a:noFill/>
          <a:ln/>
        </p:spPr>
        <p:txBody>
          <a:bodyPr wrap="square" lIns="0" tIns="0" rIns="0" bIns="0" rtlCol="0" anchor="ctr"/>
          <a:lstStyle/>
          <a:p>
            <a:pPr indent="0" marL="0">
              <a:buNone/>
            </a:pPr>
            <a:r>
              <a:rPr lang="en-US" sz="1800" b="1" dirty="0">
                <a:solidFill>
                  <a:srgbClr val="E8A317"/>
                </a:solidFill>
                <a:latin typeface="Calibri" pitchFamily="34" charset="0"/>
                <a:ea typeface="Calibri" pitchFamily="34" charset="-122"/>
                <a:cs typeface="Calibri" pitchFamily="34" charset="-120"/>
              </a:rPr>
              <a:t>Background tracking</a:t>
            </a:r>
            <a:endParaRPr lang="en-US" sz="1800" dirty="0"/>
          </a:p>
        </p:txBody>
      </p:sp>
      <p:sp>
        <p:nvSpPr>
          <p:cNvPr id="6" name="Text 4"/>
          <p:cNvSpPr txBox="1"/>
          <p:nvPr/>
        </p:nvSpPr>
        <p:spPr>
          <a:xfrm>
            <a:off x="868680" y="2212848"/>
            <a:ext cx="4892040" cy="5029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Keep the walk honest when the phone is in a pocket.</a:t>
            </a:r>
            <a:endParaRPr lang="en-US" sz="1600" dirty="0"/>
          </a:p>
        </p:txBody>
      </p:sp>
      <p:sp>
        <p:nvSpPr>
          <p:cNvPr id="7" name="Shape 5"/>
          <p:cNvSpPr/>
          <p:nvPr/>
        </p:nvSpPr>
        <p:spPr>
          <a:xfrm>
            <a:off x="6309360" y="1645920"/>
            <a:ext cx="5349240" cy="1280160"/>
          </a:xfrm>
          <a:prstGeom prst="roundRect">
            <a:avLst>
              <a:gd name="adj" fmla="val 8571"/>
            </a:avLst>
          </a:prstGeom>
          <a:solidFill>
            <a:srgbClr val="123252"/>
          </a:solidFill>
          <a:ln/>
        </p:spPr>
      </p:sp>
      <p:sp>
        <p:nvSpPr>
          <p:cNvPr id="8" name="Text 6"/>
          <p:cNvSpPr txBox="1"/>
          <p:nvPr/>
        </p:nvSpPr>
        <p:spPr>
          <a:xfrm>
            <a:off x="6537960" y="1810512"/>
            <a:ext cx="4892040" cy="365760"/>
          </a:xfrm>
          <a:prstGeom prst="rect">
            <a:avLst/>
          </a:prstGeom>
          <a:noFill/>
          <a:ln/>
        </p:spPr>
        <p:txBody>
          <a:bodyPr wrap="square" lIns="0" tIns="0" rIns="0" bIns="0" rtlCol="0" anchor="ctr"/>
          <a:lstStyle/>
          <a:p>
            <a:pPr indent="0" marL="0">
              <a:buNone/>
            </a:pPr>
            <a:r>
              <a:rPr lang="en-US" sz="1800" b="1" dirty="0">
                <a:solidFill>
                  <a:srgbClr val="E8A317"/>
                </a:solidFill>
                <a:latin typeface="Calibri" pitchFamily="34" charset="0"/>
                <a:ea typeface="Calibri" pitchFamily="34" charset="-122"/>
                <a:cs typeface="Calibri" pitchFamily="34" charset="-120"/>
              </a:rPr>
              <a:t>Accessibility</a:t>
            </a:r>
            <a:endParaRPr lang="en-US" sz="1800" dirty="0"/>
          </a:p>
        </p:txBody>
      </p:sp>
      <p:sp>
        <p:nvSpPr>
          <p:cNvPr id="9" name="Text 7"/>
          <p:cNvSpPr txBox="1"/>
          <p:nvPr/>
        </p:nvSpPr>
        <p:spPr>
          <a:xfrm>
            <a:off x="6537960" y="2212848"/>
            <a:ext cx="4892040" cy="5029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Clearer motion, voice, and contrast for more walkers.</a:t>
            </a:r>
            <a:endParaRPr lang="en-US" sz="1600" dirty="0"/>
          </a:p>
        </p:txBody>
      </p:sp>
      <p:sp>
        <p:nvSpPr>
          <p:cNvPr id="10" name="Shape 8"/>
          <p:cNvSpPr/>
          <p:nvPr/>
        </p:nvSpPr>
        <p:spPr>
          <a:xfrm>
            <a:off x="640080" y="3063240"/>
            <a:ext cx="5349240" cy="1280160"/>
          </a:xfrm>
          <a:prstGeom prst="roundRect">
            <a:avLst>
              <a:gd name="adj" fmla="val 8571"/>
            </a:avLst>
          </a:prstGeom>
          <a:solidFill>
            <a:srgbClr val="123252"/>
          </a:solidFill>
          <a:ln/>
        </p:spPr>
      </p:sp>
      <p:sp>
        <p:nvSpPr>
          <p:cNvPr id="11" name="Text 9"/>
          <p:cNvSpPr txBox="1"/>
          <p:nvPr/>
        </p:nvSpPr>
        <p:spPr>
          <a:xfrm>
            <a:off x="868680" y="3227832"/>
            <a:ext cx="4892040" cy="365760"/>
          </a:xfrm>
          <a:prstGeom prst="rect">
            <a:avLst/>
          </a:prstGeom>
          <a:noFill/>
          <a:ln/>
        </p:spPr>
        <p:txBody>
          <a:bodyPr wrap="square" lIns="0" tIns="0" rIns="0" bIns="0" rtlCol="0" anchor="ctr"/>
          <a:lstStyle/>
          <a:p>
            <a:pPr indent="0" marL="0">
              <a:buNone/>
            </a:pPr>
            <a:r>
              <a:rPr lang="en-US" sz="1800" b="1" dirty="0">
                <a:solidFill>
                  <a:srgbClr val="E8A317"/>
                </a:solidFill>
                <a:latin typeface="Calibri" pitchFamily="34" charset="0"/>
                <a:ea typeface="Calibri" pitchFamily="34" charset="-122"/>
                <a:cs typeface="Calibri" pitchFamily="34" charset="-120"/>
              </a:rPr>
              <a:t>Reliable deploy</a:t>
            </a:r>
            <a:endParaRPr lang="en-US" sz="1800" dirty="0"/>
          </a:p>
        </p:txBody>
      </p:sp>
      <p:sp>
        <p:nvSpPr>
          <p:cNvPr id="12" name="Text 10"/>
          <p:cNvSpPr txBox="1"/>
          <p:nvPr/>
        </p:nvSpPr>
        <p:spPr>
          <a:xfrm>
            <a:off x="868680" y="3630168"/>
            <a:ext cx="4892040" cy="5029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Wake the API so Grok and turf stay up for a whole event.</a:t>
            </a:r>
            <a:endParaRPr lang="en-US" sz="1600" dirty="0"/>
          </a:p>
        </p:txBody>
      </p:sp>
      <p:sp>
        <p:nvSpPr>
          <p:cNvPr id="13" name="Shape 11"/>
          <p:cNvSpPr/>
          <p:nvPr/>
        </p:nvSpPr>
        <p:spPr>
          <a:xfrm>
            <a:off x="6309360" y="3063240"/>
            <a:ext cx="5349240" cy="1280160"/>
          </a:xfrm>
          <a:prstGeom prst="roundRect">
            <a:avLst>
              <a:gd name="adj" fmla="val 8571"/>
            </a:avLst>
          </a:prstGeom>
          <a:solidFill>
            <a:srgbClr val="123252"/>
          </a:solidFill>
          <a:ln/>
        </p:spPr>
      </p:sp>
      <p:sp>
        <p:nvSpPr>
          <p:cNvPr id="14" name="Text 12"/>
          <p:cNvSpPr txBox="1"/>
          <p:nvPr/>
        </p:nvSpPr>
        <p:spPr>
          <a:xfrm>
            <a:off x="6537960" y="3227832"/>
            <a:ext cx="4892040" cy="365760"/>
          </a:xfrm>
          <a:prstGeom prst="rect">
            <a:avLst/>
          </a:prstGeom>
          <a:noFill/>
          <a:ln/>
        </p:spPr>
        <p:txBody>
          <a:bodyPr wrap="square" lIns="0" tIns="0" rIns="0" bIns="0" rtlCol="0" anchor="ctr"/>
          <a:lstStyle/>
          <a:p>
            <a:pPr indent="0" marL="0">
              <a:buNone/>
            </a:pPr>
            <a:r>
              <a:rPr lang="en-US" sz="1800" b="1" dirty="0">
                <a:solidFill>
                  <a:srgbClr val="E8A317"/>
                </a:solidFill>
                <a:latin typeface="Calibri" pitchFamily="34" charset="0"/>
                <a:ea typeface="Calibri" pitchFamily="34" charset="-122"/>
                <a:cs typeface="Calibri" pitchFamily="34" charset="-120"/>
              </a:rPr>
              <a:t>Social exploration</a:t>
            </a:r>
            <a:endParaRPr lang="en-US" sz="1800" dirty="0"/>
          </a:p>
        </p:txBody>
      </p:sp>
      <p:sp>
        <p:nvSpPr>
          <p:cNvPr id="15" name="Text 13"/>
          <p:cNvSpPr txBox="1"/>
          <p:nvPr/>
        </p:nvSpPr>
        <p:spPr>
          <a:xfrm>
            <a:off x="6537960" y="3630168"/>
            <a:ext cx="4892040" cy="5029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Richer shared landmarks without turning it into a grind.</a:t>
            </a:r>
            <a:endParaRPr lang="en-US" sz="1600" dirty="0"/>
          </a:p>
        </p:txBody>
      </p:sp>
      <p:sp>
        <p:nvSpPr>
          <p:cNvPr id="16" name="Text 14"/>
          <p:cNvSpPr txBox="1"/>
          <p:nvPr/>
        </p:nvSpPr>
        <p:spPr>
          <a:xfrm>
            <a:off x="640080" y="4709160"/>
            <a:ext cx="10972800" cy="457200"/>
          </a:xfrm>
          <a:prstGeom prst="rect">
            <a:avLst/>
          </a:prstGeom>
          <a:noFill/>
          <a:ln/>
        </p:spPr>
        <p:txBody>
          <a:bodyPr wrap="square" lIns="0" tIns="0" rIns="0" bIns="0" rtlCol="0" anchor="ctr"/>
          <a:lstStyle/>
          <a:p>
            <a:pPr indent="0" marL="0">
              <a:buNone/>
            </a:pPr>
            <a:r>
              <a:rPr lang="en-US" sz="2400" i="1" dirty="0">
                <a:solidFill>
                  <a:srgbClr val="6EC6FF"/>
                </a:solidFill>
                <a:latin typeface="Calibri" pitchFamily="34" charset="0"/>
                <a:ea typeface="Calibri" pitchFamily="34" charset="-122"/>
                <a:cs typeface="Calibri" pitchFamily="34" charset="-120"/>
              </a:rPr>
              <a:t>Everyday walks. Extraordinary company.</a:t>
            </a:r>
            <a:endParaRPr lang="en-US" sz="2400" dirty="0"/>
          </a:p>
        </p:txBody>
      </p:sp>
      <p:sp>
        <p:nvSpPr>
          <p:cNvPr id="17" name="Text 15"/>
          <p:cNvSpPr txBox="1"/>
          <p:nvPr/>
        </p:nvSpPr>
        <p:spPr>
          <a:xfrm>
            <a:off x="640080" y="5257800"/>
            <a:ext cx="10972800" cy="4114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Try it on the phone. Ask us anything.</a:t>
            </a:r>
            <a:endParaRPr lang="en-US" sz="2000" dirty="0"/>
          </a:p>
        </p:txBody>
      </p:sp>
      <p:sp>
        <p:nvSpPr>
          <p:cNvPr id="18" name="Text 16"/>
          <p:cNvSpPr txBox="1"/>
          <p:nvPr/>
        </p:nvSpPr>
        <p:spPr>
          <a:xfrm>
            <a:off x="640080" y="6126480"/>
            <a:ext cx="10972800" cy="274320"/>
          </a:xfrm>
          <a:prstGeom prst="rect">
            <a:avLst/>
          </a:prstGeom>
          <a:noFill/>
          <a:ln/>
        </p:spPr>
        <p:txBody>
          <a:bodyPr wrap="square" lIns="0" tIns="0" rIns="0" bIns="0" rtlCol="0" anchor="ctr"/>
          <a:lstStyle/>
          <a:p>
            <a:pPr indent="0" marL="0">
              <a:buNone/>
            </a:pPr>
            <a:r>
              <a:rPr lang="en-US" sz="1400" dirty="0">
                <a:solidFill>
                  <a:srgbClr val="9BB0C4"/>
                </a:solidFill>
                <a:latin typeface="Calibri" pitchFamily="34" charset="0"/>
                <a:ea typeface="Calibri" pitchFamily="34" charset="-122"/>
                <a:cs typeface="Calibri" pitchFamily="34" charset="-120"/>
              </a:rPr>
              <a:t>Luis Mendez  ·  Abdullah Rashid  ·  HuskiesPaws</a:t>
            </a:r>
            <a:endParaRPr lang="en-US" sz="1400" dirty="0"/>
          </a:p>
        </p:txBody>
      </p:sp>
    </p:spTree>
  </p:cSld>
  <p:clrMapOvr>
    <a:masterClrMapping/>
  </p:clrMapOvr>
</p:sld>
</file>

<file path=ppt/theme/theme1.xml><?xml version="1.0" encoding="utf-8"?>
<a:theme xmlns:a="http://schemas.openxmlformats.org/drawingml/2006/main" name="HuskiesPaws">
  <a:themeElements>
    <a:clrScheme name="HuskiesPaws">
      <a:dk1>
        <a:srgbClr val="0B1F3A"/>
      </a:dk1>
      <a:lt1>
        <a:srgbClr val="F6F1E4"/>
      </a:lt1>
      <a:dk2>
        <a:srgbClr val="163528"/>
      </a:dk2>
      <a:lt2>
        <a:srgbClr val="E7F3E4"/>
      </a:lt2>
      <a:accent1>
        <a:srgbClr val="2E9D4F"/>
      </a:accent1>
      <a:accent2>
        <a:srgbClr val="6EC6FF"/>
      </a:accent2>
      <a:accent3>
        <a:srgbClr val="E8A317"/>
      </a:accent3>
      <a:accent4>
        <a:srgbClr val="FF7A59"/>
      </a:accent4>
      <a:accent5>
        <a:srgbClr val="1F6B45"/>
      </a:accent5>
      <a:accent6>
        <a:srgbClr val="7D8CA3"/>
      </a:accent6>
      <a:hlink>
        <a:srgbClr val="6EC6FF"/>
      </a:hlink>
      <a:folHlink>
        <a:srgbClr val="2E9D4F"/>
      </a:folHlink>
    </a:clrScheme>
    <a:fontScheme name="HuskiesPaw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HuskiesPaws — BigRed//Hacks 2026</dc:title>
  <dc:subject>Navigation-themed demo deck</dc:subject>
  <dc:creator>Luis Mendez, Abdullah Rashid</dc:creator>
  <cp:lastModifiedBy>Luis Mendez, Abdullah Rashid</cp:lastModifiedBy>
  <cp:revision>1</cp:revision>
  <dcterms:created xsi:type="dcterms:W3CDTF">2026-10-04T03:24:47Z</dcterms:created>
  <dcterms:modified xsi:type="dcterms:W3CDTF">2026-10-04T03:24:47Z</dcterms:modified>
</cp:coreProperties>
</file>