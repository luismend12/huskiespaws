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90a19555-80b2-8a80-d8b2-ec307d1d6db0}">
          <p14:sldIdLst>
            <p14:sldId id="256"/>
            <p14:sldId id="257"/>
            <p14:sldId id="258"/>
          </p14:sldIdLst>
        </p14:section>
        <p14:section name="Demo" id="{ca88bde7-691e-7ec5-bce8-05ee2ad6c12a}">
          <p14:sldIdLst>
            <p14:sldId id="259"/>
          </p14:sldIdLst>
        </p14:section>
        <p14:section name="Build" id="{ccca3474-e5e5-b56f-91fa-36c25b8a35f8}">
          <p14:sldIdLst>
            <p14:sldId id="260"/>
            <p14:sldId id="261"/>
          </p14:sldIdLst>
        </p14:section>
        <p14:section name="Close" id="{42d45996-dd05-7059-408c-92bcd9a0dc71}">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We are HuskiesPaws. Ordinary walks become a creature-collecting adventure. Team is Luis Mendez and Abdullah Rashid, BigRed Hacks 2026, Navigation. The product is the phone app. Invite them to watch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Do not invent numbers. Typical maps optimize for arrival. People miss buildings and corners they walk past every day. Walking already happens; discovery and progress do not. That is the gap on campus.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Loop: Explore, Walk, Discover, Collect. Pip scouts with Wikipedia and OpenStreetMap. Fern starts the walk. Moss tells the story from those facts. Capture and eggs reward the walk. Then go to the live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visible. Hand the phone over if they want it. Demo Walk ON — say walks are simulated. Sequence: Squad, Pip, Explore. Pick the postcard. Start walk. Watch the blooming trail. Capture. If Grok is slow, keep going. Hide the Expo tools button. Do not claim a live server unless /api/health is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Phone talks to our Node API. Secrets never ship in the app. Wikipedia and OSM ground the adventure. Speech and Imagine are optional. Shared core keeps pets, ranks, and walks consistent. Photon is iMessage. Built in Cursor. Do not say Render is live unless health is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Three things they saw: navigation is play; walking earns creatures; the squad can live in iMessage. ISS rare-hatch boost is in shared logic. Be honest about Grok keys, deploy, and background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Close on campus exploration — not inflated stats. Next is planned: background tracking, a deploy that stays awake, richer social play. Line: Everyday walks. Extraordinary company. Hand them the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64240" cy="658368"/>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547104"/>
            <a:ext cx="11064240" cy="182880"/>
          </a:xfrm>
          <a:prstGeom prst="rect">
            <a:avLst/>
          </a:prstGeom>
          <a:noFill/>
          <a:ln/>
        </p:spPr>
        <p:txBody>
          <a:bodyPr wrap="square" lIns="0" tIns="0" rIns="0" bIns="0" rtlCol="0" anchor="ctr"/>
          <a:lstStyle/>
          <a:p>
            <a:pPr indent="0" marL="0">
              <a:buNone/>
            </a:pPr>
            <a:r>
              <a:rPr lang="en-US" sz="1100" dirty="0">
                <a:solidFill>
                  <a:schemeClr val="accent6"/>
                </a:solidFill>
              </a:rPr>
              <a:t>HuskiesPaws  ·  BigRed//Hacks 2026</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ph idx="100" type="title" hasCustomPrompt="1"/>
          </p:nvPr>
        </p:nvSpPr>
        <p:spPr>
          <a:xfrm>
            <a:off x="548640" y="256032"/>
            <a:ext cx="11064240" cy="658368"/>
          </a:xfrm>
          <a:prstGeom prst="rect">
            <a:avLst/>
          </a:prstGeom>
          <a:noFill/>
          <a:ln/>
        </p:spPr>
        <p:txBody>
          <a:bodyPr wrap="square" lIns="0" tIns="0" rIns="0" bIns="0" rtlCol="0" anchor="ctr"/>
          <a:lstStyle/>
          <a:p>
            <a:pPr algn="l" indent="0" marL="0">
              <a:buNone/>
            </a:pPr>
            <a:r>
              <a:rPr lang="en-US" sz="3600" b="1" dirty="0">
                <a:solidFill>
                  <a:schemeClr val="tx1"/>
                </a:solidFill>
              </a:rPr>
              <a:t>HuskiesPaws</a:t>
            </a:r>
            <a:endParaRPr lang="en-US" sz="3600" dirty="0"/>
          </a:p>
        </p:txBody>
      </p:sp>
      <p:pic>
        <p:nvPicPr>
          <p:cNvPr id="3" name="mascot" descr="G:\broswer download\big-red-hacks2026\mobile\assets\splash-icon.png">    </p:cNvPr>
          <p:cNvPicPr>
            <a:picLocks noChangeAspect="1"/>
          </p:cNvPicPr>
          <p:nvPr/>
        </p:nvPicPr>
        <p:blipFill>
          <a:blip r:embed="rId1"/>
          <a:stretch>
            <a:fillRect/>
          </a:stretch>
        </p:blipFill>
        <p:spPr>
          <a:xfrm>
            <a:off x="640080" y="1097280"/>
            <a:ext cx="2011680" cy="2011680"/>
          </a:xfrm>
          <a:prstGeom prst="rect">
            <a:avLst/>
          </a:prstGeom>
        </p:spPr>
      </p:pic>
      <p:sp>
        <p:nvSpPr>
          <p:cNvPr id="4" name="tagline"/>
          <p:cNvSpPr txBox="1"/>
          <p:nvPr/>
        </p:nvSpPr>
        <p:spPr>
          <a:xfrm>
            <a:off x="2880360" y="1143000"/>
            <a:ext cx="8595360" cy="777240"/>
          </a:xfrm>
          <a:prstGeom prst="rect">
            <a:avLst/>
          </a:prstGeom>
          <a:noFill/>
          <a:ln/>
        </p:spPr>
        <p:txBody>
          <a:bodyPr wrap="square" lIns="0" tIns="0" rIns="0" bIns="0" rtlCol="0" anchor="ctr"/>
          <a:lstStyle/>
          <a:p>
            <a:pPr indent="0" marL="0">
              <a:buNone/>
            </a:pPr>
            <a:r>
              <a:rPr lang="en-US" sz="2400" i="1" dirty="0">
                <a:solidFill>
                  <a:schemeClr val="accent5"/>
                </a:solidFill>
              </a:rPr>
              <a:t>Turn everyday walks into a creature-collecting adventure.</a:t>
            </a:r>
            <a:endParaRPr lang="en-US" sz="2400" dirty="0"/>
          </a:p>
        </p:txBody>
      </p:sp>
      <p:sp>
        <p:nvSpPr>
          <p:cNvPr id="5" name="event"/>
          <p:cNvSpPr txBox="1"/>
          <p:nvPr/>
        </p:nvSpPr>
        <p:spPr>
          <a:xfrm>
            <a:off x="2880360" y="1965960"/>
            <a:ext cx="8595360" cy="365760"/>
          </a:xfrm>
          <a:prstGeom prst="rect">
            <a:avLst/>
          </a:prstGeom>
          <a:noFill/>
          <a:ln/>
        </p:spPr>
        <p:txBody>
          <a:bodyPr wrap="square" lIns="0" tIns="0" rIns="0" bIns="0" rtlCol="0" anchor="ctr"/>
          <a:lstStyle/>
          <a:p>
            <a:pPr indent="0" marL="0">
              <a:buNone/>
            </a:pPr>
            <a:r>
              <a:rPr lang="en-US" sz="1800" dirty="0">
                <a:solidFill>
                  <a:schemeClr val="accent6"/>
                </a:solidFill>
              </a:rPr>
              <a:t>BigRed//Hacks 2026  ·  Navigation  ·  the phone app</a:t>
            </a:r>
            <a:endParaRPr lang="en-US" sz="1800" dirty="0"/>
          </a:p>
        </p:txBody>
      </p:sp>
      <p:sp>
        <p:nvSpPr>
          <p:cNvPr id="6" name="chip-Luis Mendez"/>
          <p:cNvSpPr/>
          <p:nvPr/>
        </p:nvSpPr>
        <p:spPr>
          <a:xfrm>
            <a:off x="640080" y="3246120"/>
            <a:ext cx="3611880" cy="1097280"/>
          </a:xfrm>
          <a:prstGeom prst="roundRect">
            <a:avLst>
              <a:gd name="adj" fmla="val 13333"/>
            </a:avLst>
          </a:prstGeom>
          <a:solidFill>
            <a:schemeClr val="bg2"/>
          </a:solidFill>
          <a:ln/>
          <a:effectLst>
            <a:outerShdw sx="100000" sy="100000" kx="0" ky="0" algn="bl" rotWithShape="0" blurRad="101600" dist="25400" dir="5400000">
              <a:srgbClr val="0B1F3A">
                <a:alpha val="8000"/>
              </a:srgbClr>
            </a:outerShdw>
          </a:effectLst>
        </p:spPr>
      </p:sp>
      <p:sp>
        <p:nvSpPr>
          <p:cNvPr id="7" name="Text 4"/>
          <p:cNvSpPr txBox="1"/>
          <p:nvPr/>
        </p:nvSpPr>
        <p:spPr>
          <a:xfrm>
            <a:off x="822960" y="3429000"/>
            <a:ext cx="3246120" cy="731520"/>
          </a:xfrm>
          <a:prstGeom prst="rect">
            <a:avLst/>
          </a:prstGeom>
          <a:noFill/>
          <a:ln/>
        </p:spPr>
        <p:txBody>
          <a:bodyPr wrap="square" lIns="0" tIns="0" rIns="0" bIns="0" rtlCol="0" anchor="ctr"/>
          <a:lstStyle/>
          <a:p>
            <a:pPr algn="ctr" indent="0" marL="0">
              <a:buNone/>
            </a:pPr>
            <a:r>
              <a:rPr lang="en-US" sz="2000" b="1" dirty="0">
                <a:solidFill>
                  <a:schemeClr val="tx1"/>
                </a:solidFill>
              </a:rPr>
              <a:t>Luis Mendez</a:t>
            </a:r>
            <a:endParaRPr lang="en-US" sz="2000" dirty="0"/>
          </a:p>
        </p:txBody>
      </p:sp>
      <p:sp>
        <p:nvSpPr>
          <p:cNvPr id="8" name="chip-Abdullah Rashid"/>
          <p:cNvSpPr/>
          <p:nvPr/>
        </p:nvSpPr>
        <p:spPr>
          <a:xfrm>
            <a:off x="4480560" y="3246120"/>
            <a:ext cx="3611880" cy="1097280"/>
          </a:xfrm>
          <a:prstGeom prst="roundRect">
            <a:avLst>
              <a:gd name="adj" fmla="val 13333"/>
            </a:avLst>
          </a:prstGeom>
          <a:solidFill>
            <a:schemeClr val="bg2"/>
          </a:solidFill>
          <a:ln/>
          <a:effectLst>
            <a:outerShdw sx="100000" sy="100000" kx="0" ky="0" algn="bl" rotWithShape="0" blurRad="101600" dist="25400" dir="5400000">
              <a:srgbClr val="0B1F3A">
                <a:alpha val="8000"/>
              </a:srgbClr>
            </a:outerShdw>
          </a:effectLst>
        </p:spPr>
      </p:sp>
      <p:sp>
        <p:nvSpPr>
          <p:cNvPr id="9" name="Text 6"/>
          <p:cNvSpPr txBox="1"/>
          <p:nvPr/>
        </p:nvSpPr>
        <p:spPr>
          <a:xfrm>
            <a:off x="4663440" y="3429000"/>
            <a:ext cx="3246120" cy="731520"/>
          </a:xfrm>
          <a:prstGeom prst="rect">
            <a:avLst/>
          </a:prstGeom>
          <a:noFill/>
          <a:ln/>
        </p:spPr>
        <p:txBody>
          <a:bodyPr wrap="square" lIns="0" tIns="0" rIns="0" bIns="0" rtlCol="0" anchor="ctr"/>
          <a:lstStyle/>
          <a:p>
            <a:pPr algn="ctr" indent="0" marL="0">
              <a:buNone/>
            </a:pPr>
            <a:r>
              <a:rPr lang="en-US" sz="2000" b="1" dirty="0">
                <a:solidFill>
                  <a:schemeClr val="tx1"/>
                </a:solidFill>
              </a:rPr>
              <a:t>Abdullah Rashid</a:t>
            </a:r>
            <a:endParaRPr lang="en-US" sz="2000" dirty="0"/>
          </a:p>
        </p:txBody>
      </p:sp>
      <p:sp>
        <p:nvSpPr>
          <p:cNvPr id="10" name="chip-Built with Cursor"/>
          <p:cNvSpPr/>
          <p:nvPr/>
        </p:nvSpPr>
        <p:spPr>
          <a:xfrm>
            <a:off x="8321040" y="3246120"/>
            <a:ext cx="3611880" cy="1097280"/>
          </a:xfrm>
          <a:prstGeom prst="roundRect">
            <a:avLst>
              <a:gd name="adj" fmla="val 13333"/>
            </a:avLst>
          </a:prstGeom>
          <a:solidFill>
            <a:schemeClr val="bg2"/>
          </a:solidFill>
          <a:ln/>
          <a:effectLst>
            <a:outerShdw sx="100000" sy="100000" kx="0" ky="0" algn="bl" rotWithShape="0" blurRad="101600" dist="25400" dir="5400000">
              <a:srgbClr val="0B1F3A">
                <a:alpha val="8000"/>
              </a:srgbClr>
            </a:outerShdw>
          </a:effectLst>
        </p:spPr>
      </p:sp>
      <p:sp>
        <p:nvSpPr>
          <p:cNvPr id="11" name="Text 8"/>
          <p:cNvSpPr txBox="1"/>
          <p:nvPr/>
        </p:nvSpPr>
        <p:spPr>
          <a:xfrm>
            <a:off x="8503920" y="3429000"/>
            <a:ext cx="3246120" cy="731520"/>
          </a:xfrm>
          <a:prstGeom prst="rect">
            <a:avLst/>
          </a:prstGeom>
          <a:noFill/>
          <a:ln/>
        </p:spPr>
        <p:txBody>
          <a:bodyPr wrap="square" lIns="0" tIns="0" rIns="0" bIns="0" rtlCol="0" anchor="ctr"/>
          <a:lstStyle/>
          <a:p>
            <a:pPr algn="ctr" indent="0" marL="0">
              <a:buNone/>
            </a:pPr>
            <a:r>
              <a:rPr lang="en-US" sz="2000" b="1" dirty="0">
                <a:solidFill>
                  <a:schemeClr val="tx1"/>
                </a:solidFill>
              </a:rPr>
              <a:t>Built with Cursor</a:t>
            </a:r>
            <a:endParaRPr lang="en-US" sz="2000" dirty="0"/>
          </a:p>
        </p:txBody>
      </p:sp>
      <p:pic>
        <p:nvPicPr>
          <p:cNvPr id="12" name="pip" descr="G:\broswer download\big-red-hacks2026\docs\presentation\assets\scout.png">    </p:cNvPr>
          <p:cNvPicPr>
            <a:picLocks noChangeAspect="1"/>
          </p:cNvPicPr>
          <p:nvPr/>
        </p:nvPicPr>
        <p:blipFill>
          <a:blip r:embed="rId2"/>
          <a:stretch>
            <a:fillRect/>
          </a:stretch>
        </p:blipFill>
        <p:spPr>
          <a:xfrm>
            <a:off x="3794760" y="4617720"/>
            <a:ext cx="1325880" cy="1325880"/>
          </a:xfrm>
          <a:prstGeom prst="rect">
            <a:avLst/>
          </a:prstGeom>
        </p:spPr>
      </p:pic>
      <p:pic>
        <p:nvPicPr>
          <p:cNvPr id="13" name="fern" descr="G:\broswer download\big-red-hacks2026\docs\presentation\assets\pathfinder.png">    </p:cNvPr>
          <p:cNvPicPr>
            <a:picLocks noChangeAspect="1"/>
          </p:cNvPicPr>
          <p:nvPr/>
        </p:nvPicPr>
        <p:blipFill>
          <a:blip r:embed="rId3"/>
          <a:stretch>
            <a:fillRect/>
          </a:stretch>
        </p:blipFill>
        <p:spPr>
          <a:xfrm>
            <a:off x="5440680" y="4617720"/>
            <a:ext cx="1325880" cy="1325880"/>
          </a:xfrm>
          <a:prstGeom prst="rect">
            <a:avLst/>
          </a:prstGeom>
        </p:spPr>
      </p:pic>
      <p:pic>
        <p:nvPicPr>
          <p:cNvPr id="14" name="moss" descr="G:\broswer download\big-red-hacks2026\docs\presentation\assets\storyteller.png">    </p:cNvPr>
          <p:cNvPicPr>
            <a:picLocks noChangeAspect="1"/>
          </p:cNvPicPr>
          <p:nvPr/>
        </p:nvPicPr>
        <p:blipFill>
          <a:blip r:embed="rId4"/>
          <a:stretch>
            <a:fillRect/>
          </a:stretch>
        </p:blipFill>
        <p:spPr>
          <a:xfrm>
            <a:off x="7086600" y="4617720"/>
            <a:ext cx="1325880" cy="1325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ph idx="100" type="title" hasCustomPrompt="1"/>
          </p:nvPr>
        </p:nvSpPr>
        <p:spPr>
          <a:xfrm>
            <a:off x="548640" y="256032"/>
            <a:ext cx="11064240" cy="658368"/>
          </a:xfrm>
          <a:prstGeom prst="rect">
            <a:avLst/>
          </a:prstGeom>
          <a:noFill/>
          <a:ln/>
        </p:spPr>
        <p:txBody>
          <a:bodyPr wrap="square" lIns="0" tIns="0" rIns="0" bIns="0" rtlCol="0" anchor="ctr"/>
          <a:lstStyle/>
          <a:p>
            <a:pPr algn="l" indent="0" marL="0">
              <a:buNone/>
            </a:pPr>
            <a:r>
              <a:rPr lang="en-US" sz="3600" b="1" dirty="0">
                <a:solidFill>
                  <a:schemeClr val="tx1"/>
                </a:solidFill>
              </a:rPr>
              <a:t>Maps get you there. They do not make you look.</a:t>
            </a:r>
            <a:endParaRPr lang="en-US" sz="3600" dirty="0"/>
          </a:p>
        </p:txBody>
      </p:sp>
      <p:sp>
        <p:nvSpPr>
          <p:cNvPr id="3" name="problem-0"/>
          <p:cNvSpPr/>
          <p:nvPr/>
        </p:nvSpPr>
        <p:spPr>
          <a:xfrm>
            <a:off x="548640" y="1143000"/>
            <a:ext cx="3611880" cy="3246120"/>
          </a:xfrm>
          <a:prstGeom prst="roundRect">
            <a:avLst>
              <a:gd name="adj" fmla="val 4507"/>
            </a:avLst>
          </a:prstGeom>
          <a:solidFill>
            <a:srgbClr val="FFFFFF"/>
          </a:solidFill>
          <a:ln/>
          <a:effectLst>
            <a:outerShdw sx="100000" sy="100000" kx="0" ky="0" algn="bl" rotWithShape="0" blurRad="101600" dist="25400" dir="5400000">
              <a:srgbClr val="0B1F3A">
                <a:alpha val="8000"/>
              </a:srgbClr>
            </a:outerShdw>
          </a:effectLst>
        </p:spPr>
      </p:sp>
      <p:sp>
        <p:nvSpPr>
          <p:cNvPr id="4" name="dot-0"/>
          <p:cNvSpPr/>
          <p:nvPr/>
        </p:nvSpPr>
        <p:spPr>
          <a:xfrm>
            <a:off x="1920240" y="1371600"/>
            <a:ext cx="822960" cy="822960"/>
          </a:xfrm>
          <a:prstGeom prst="ellipse">
            <a:avLst/>
          </a:prstGeom>
          <a:solidFill>
            <a:schemeClr val="accent2"/>
          </a:solidFill>
          <a:ln/>
        </p:spPr>
      </p:sp>
      <p:sp>
        <p:nvSpPr>
          <p:cNvPr id="5" name="Text 3"/>
          <p:cNvSpPr txBox="1"/>
          <p:nvPr/>
        </p:nvSpPr>
        <p:spPr>
          <a:xfrm>
            <a:off x="1920240" y="1481328"/>
            <a:ext cx="822960" cy="59436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6" name="Text 4"/>
          <p:cNvSpPr txBox="1"/>
          <p:nvPr/>
        </p:nvSpPr>
        <p:spPr>
          <a:xfrm>
            <a:off x="777240" y="2377440"/>
            <a:ext cx="3154680" cy="640080"/>
          </a:xfrm>
          <a:prstGeom prst="rect">
            <a:avLst/>
          </a:prstGeom>
          <a:noFill/>
          <a:ln/>
        </p:spPr>
        <p:txBody>
          <a:bodyPr wrap="square" lIns="0" tIns="0" rIns="0" bIns="0" rtlCol="0" anchor="ctr"/>
          <a:lstStyle/>
          <a:p>
            <a:pPr algn="ctr" indent="0" marL="0">
              <a:buNone/>
            </a:pPr>
            <a:r>
              <a:rPr lang="en-US" sz="2200" b="1" dirty="0">
                <a:solidFill>
                  <a:schemeClr val="tx1"/>
                </a:solidFill>
              </a:rPr>
              <a:t>Shortest path</a:t>
            </a:r>
            <a:endParaRPr lang="en-US" sz="2200" dirty="0"/>
          </a:p>
        </p:txBody>
      </p:sp>
      <p:sp>
        <p:nvSpPr>
          <p:cNvPr id="7" name="Text 5"/>
          <p:cNvSpPr txBox="1"/>
          <p:nvPr/>
        </p:nvSpPr>
        <p:spPr>
          <a:xfrm>
            <a:off x="822960" y="3063240"/>
            <a:ext cx="3063240" cy="1005840"/>
          </a:xfrm>
          <a:prstGeom prst="rect">
            <a:avLst/>
          </a:prstGeom>
          <a:noFill/>
          <a:ln/>
        </p:spPr>
        <p:txBody>
          <a:bodyPr wrap="square" lIns="0" tIns="0" rIns="0" bIns="0" rtlCol="0" anchor="ctr"/>
          <a:lstStyle/>
          <a:p>
            <a:pPr algn="ctr" indent="0" marL="0">
              <a:buNone/>
            </a:pPr>
            <a:r>
              <a:rPr lang="en-US" sz="1600" dirty="0">
                <a:solidFill>
                  <a:schemeClr val="accent6"/>
                </a:solidFill>
              </a:rPr>
              <a:t>Navigation ends at the pin.</a:t>
            </a:r>
            <a:endParaRPr lang="en-US" sz="1600" dirty="0"/>
          </a:p>
        </p:txBody>
      </p:sp>
      <p:sp>
        <p:nvSpPr>
          <p:cNvPr id="8" name="problem-1"/>
          <p:cNvSpPr/>
          <p:nvPr/>
        </p:nvSpPr>
        <p:spPr>
          <a:xfrm>
            <a:off x="4343400" y="1143000"/>
            <a:ext cx="3611880" cy="3246120"/>
          </a:xfrm>
          <a:prstGeom prst="roundRect">
            <a:avLst>
              <a:gd name="adj" fmla="val 4507"/>
            </a:avLst>
          </a:prstGeom>
          <a:solidFill>
            <a:srgbClr val="FFFFFF"/>
          </a:solidFill>
          <a:ln/>
          <a:effectLst>
            <a:outerShdw sx="100000" sy="100000" kx="0" ky="0" algn="bl" rotWithShape="0" blurRad="101600" dist="25400" dir="5400000">
              <a:srgbClr val="0B1F3A">
                <a:alpha val="8000"/>
              </a:srgbClr>
            </a:outerShdw>
          </a:effectLst>
        </p:spPr>
      </p:sp>
      <p:sp>
        <p:nvSpPr>
          <p:cNvPr id="9" name="dot-1"/>
          <p:cNvSpPr/>
          <p:nvPr/>
        </p:nvSpPr>
        <p:spPr>
          <a:xfrm>
            <a:off x="5715000" y="1371600"/>
            <a:ext cx="822960" cy="822960"/>
          </a:xfrm>
          <a:prstGeom prst="ellipse">
            <a:avLst/>
          </a:prstGeom>
          <a:solidFill>
            <a:schemeClr val="accent2"/>
          </a:solidFill>
          <a:ln/>
        </p:spPr>
      </p:sp>
      <p:sp>
        <p:nvSpPr>
          <p:cNvPr id="10" name="Text 8"/>
          <p:cNvSpPr txBox="1"/>
          <p:nvPr/>
        </p:nvSpPr>
        <p:spPr>
          <a:xfrm>
            <a:off x="5715000" y="1481328"/>
            <a:ext cx="822960" cy="59436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1" name="Text 9"/>
          <p:cNvSpPr txBox="1"/>
          <p:nvPr/>
        </p:nvSpPr>
        <p:spPr>
          <a:xfrm>
            <a:off x="4572000" y="2377440"/>
            <a:ext cx="3154680" cy="640080"/>
          </a:xfrm>
          <a:prstGeom prst="rect">
            <a:avLst/>
          </a:prstGeom>
          <a:noFill/>
          <a:ln/>
        </p:spPr>
        <p:txBody>
          <a:bodyPr wrap="square" lIns="0" tIns="0" rIns="0" bIns="0" rtlCol="0" anchor="ctr"/>
          <a:lstStyle/>
          <a:p>
            <a:pPr algn="ctr" indent="0" marL="0">
              <a:buNone/>
            </a:pPr>
            <a:r>
              <a:rPr lang="en-US" sz="2200" b="1" dirty="0">
                <a:solidFill>
                  <a:schemeClr val="tx1"/>
                </a:solidFill>
              </a:rPr>
              <a:t>Phone away</a:t>
            </a:r>
            <a:endParaRPr lang="en-US" sz="2200" dirty="0"/>
          </a:p>
        </p:txBody>
      </p:sp>
      <p:sp>
        <p:nvSpPr>
          <p:cNvPr id="12" name="Text 10"/>
          <p:cNvSpPr txBox="1"/>
          <p:nvPr/>
        </p:nvSpPr>
        <p:spPr>
          <a:xfrm>
            <a:off x="4617720" y="3063240"/>
            <a:ext cx="3063240" cy="1005840"/>
          </a:xfrm>
          <a:prstGeom prst="rect">
            <a:avLst/>
          </a:prstGeom>
          <a:noFill/>
          <a:ln/>
        </p:spPr>
        <p:txBody>
          <a:bodyPr wrap="square" lIns="0" tIns="0" rIns="0" bIns="0" rtlCol="0" anchor="ctr"/>
          <a:lstStyle/>
          <a:p>
            <a:pPr algn="ctr" indent="0" marL="0">
              <a:buNone/>
            </a:pPr>
            <a:r>
              <a:rPr lang="en-US" sz="1600" dirty="0">
                <a:solidFill>
                  <a:schemeClr val="accent6"/>
                </a:solidFill>
              </a:rPr>
              <a:t>The walk itself is leftover time.</a:t>
            </a:r>
            <a:endParaRPr lang="en-US" sz="1600" dirty="0"/>
          </a:p>
        </p:txBody>
      </p:sp>
      <p:sp>
        <p:nvSpPr>
          <p:cNvPr id="13" name="problem-2"/>
          <p:cNvSpPr/>
          <p:nvPr/>
        </p:nvSpPr>
        <p:spPr>
          <a:xfrm>
            <a:off x="8138160" y="1143000"/>
            <a:ext cx="3611880" cy="3246120"/>
          </a:xfrm>
          <a:prstGeom prst="roundRect">
            <a:avLst>
              <a:gd name="adj" fmla="val 4507"/>
            </a:avLst>
          </a:prstGeom>
          <a:solidFill>
            <a:srgbClr val="FFFFFF"/>
          </a:solidFill>
          <a:ln/>
          <a:effectLst>
            <a:outerShdw sx="100000" sy="100000" kx="0" ky="0" algn="bl" rotWithShape="0" blurRad="101600" dist="25400" dir="5400000">
              <a:srgbClr val="0B1F3A">
                <a:alpha val="8000"/>
              </a:srgbClr>
            </a:outerShdw>
          </a:effectLst>
        </p:spPr>
      </p:sp>
      <p:sp>
        <p:nvSpPr>
          <p:cNvPr id="14" name="dot-2"/>
          <p:cNvSpPr/>
          <p:nvPr/>
        </p:nvSpPr>
        <p:spPr>
          <a:xfrm>
            <a:off x="9509760" y="1371600"/>
            <a:ext cx="822960" cy="822960"/>
          </a:xfrm>
          <a:prstGeom prst="ellipse">
            <a:avLst/>
          </a:prstGeom>
          <a:solidFill>
            <a:schemeClr val="accent2"/>
          </a:solidFill>
          <a:ln/>
        </p:spPr>
      </p:sp>
      <p:sp>
        <p:nvSpPr>
          <p:cNvPr id="15" name="Text 13"/>
          <p:cNvSpPr txBox="1"/>
          <p:nvPr/>
        </p:nvSpPr>
        <p:spPr>
          <a:xfrm>
            <a:off x="9509760" y="1481328"/>
            <a:ext cx="822960" cy="59436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6" name="Text 14"/>
          <p:cNvSpPr txBox="1"/>
          <p:nvPr/>
        </p:nvSpPr>
        <p:spPr>
          <a:xfrm>
            <a:off x="8366760" y="2377440"/>
            <a:ext cx="3154680" cy="640080"/>
          </a:xfrm>
          <a:prstGeom prst="rect">
            <a:avLst/>
          </a:prstGeom>
          <a:noFill/>
          <a:ln/>
        </p:spPr>
        <p:txBody>
          <a:bodyPr wrap="square" lIns="0" tIns="0" rIns="0" bIns="0" rtlCol="0" anchor="ctr"/>
          <a:lstStyle/>
          <a:p>
            <a:pPr algn="ctr" indent="0" marL="0">
              <a:buNone/>
            </a:pPr>
            <a:r>
              <a:rPr lang="en-US" sz="2200" b="1" dirty="0">
                <a:solidFill>
                  <a:schemeClr val="tx1"/>
                </a:solidFill>
              </a:rPr>
              <a:t>Missed places</a:t>
            </a:r>
            <a:endParaRPr lang="en-US" sz="2200" dirty="0"/>
          </a:p>
        </p:txBody>
      </p:sp>
      <p:sp>
        <p:nvSpPr>
          <p:cNvPr id="17" name="Text 15"/>
          <p:cNvSpPr txBox="1"/>
          <p:nvPr/>
        </p:nvSpPr>
        <p:spPr>
          <a:xfrm>
            <a:off x="8412480" y="3063240"/>
            <a:ext cx="3063240" cy="1005840"/>
          </a:xfrm>
          <a:prstGeom prst="rect">
            <a:avLst/>
          </a:prstGeom>
          <a:noFill/>
          <a:ln/>
        </p:spPr>
        <p:txBody>
          <a:bodyPr wrap="square" lIns="0" tIns="0" rIns="0" bIns="0" rtlCol="0" anchor="ctr"/>
          <a:lstStyle/>
          <a:p>
            <a:pPr algn="ctr" indent="0" marL="0">
              <a:buNone/>
            </a:pPr>
            <a:r>
              <a:rPr lang="en-US" sz="1600" dirty="0">
                <a:solidFill>
                  <a:schemeClr val="accent6"/>
                </a:solidFill>
              </a:rPr>
              <a:t>Campus already has stories. Nothing asks you to notice.</a:t>
            </a:r>
            <a:endParaRPr lang="en-US" sz="1600" dirty="0"/>
          </a:p>
        </p:txBody>
      </p:sp>
      <p:sp>
        <p:nvSpPr>
          <p:cNvPr id="18" name="Text 16"/>
          <p:cNvSpPr txBox="1"/>
          <p:nvPr/>
        </p:nvSpPr>
        <p:spPr>
          <a:xfrm>
            <a:off x="548640" y="4617720"/>
            <a:ext cx="11064240" cy="640080"/>
          </a:xfrm>
          <a:prstGeom prst="rect">
            <a:avLst/>
          </a:prstGeom>
          <a:noFill/>
          <a:ln/>
        </p:spPr>
        <p:txBody>
          <a:bodyPr wrap="square" lIns="0" tIns="0" rIns="0" bIns="0" rtlCol="0" anchor="ctr"/>
          <a:lstStyle/>
          <a:p>
            <a:pPr indent="0" marL="0">
              <a:buNone/>
            </a:pPr>
            <a:r>
              <a:rPr lang="en-US" sz="2000" i="1" dirty="0">
                <a:solidFill>
                  <a:schemeClr val="accent5"/>
                </a:solidFill>
              </a:rPr>
              <a:t>No fake statistics. Walking already happens. Discovery does not.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ph idx="100" type="title" hasCustomPrompt="1"/>
          </p:nvPr>
        </p:nvSpPr>
        <p:spPr>
          <a:xfrm>
            <a:off x="548640" y="256032"/>
            <a:ext cx="11064240" cy="658368"/>
          </a:xfrm>
          <a:prstGeom prst="rect">
            <a:avLst/>
          </a:prstGeom>
          <a:noFill/>
          <a:ln/>
        </p:spPr>
        <p:txBody>
          <a:bodyPr wrap="square" lIns="0" tIns="0" rIns="0" bIns="0" rtlCol="0" anchor="ctr"/>
          <a:lstStyle/>
          <a:p>
            <a:pPr algn="l" indent="0" marL="0">
              <a:buNone/>
            </a:pPr>
            <a:r>
              <a:rPr lang="en-US" sz="3600" b="1" dirty="0">
                <a:solidFill>
                  <a:schemeClr val="tx1"/>
                </a:solidFill>
              </a:rPr>
              <a:t>Explore  →  Walk  →  Discover  →  Collect</a:t>
            </a:r>
            <a:endParaRPr lang="en-US" sz="3600" dirty="0"/>
          </a:p>
        </p:txBody>
      </p:sp>
      <p:sp>
        <p:nvSpPr>
          <p:cNvPr id="3" name="loop-Explore"/>
          <p:cNvSpPr/>
          <p:nvPr/>
        </p:nvSpPr>
        <p:spPr>
          <a:xfrm>
            <a:off x="502920" y="1051560"/>
            <a:ext cx="2788920" cy="3977640"/>
          </a:xfrm>
          <a:prstGeom prst="roundRect">
            <a:avLst>
              <a:gd name="adj" fmla="val 5246"/>
            </a:avLst>
          </a:prstGeom>
          <a:solidFill>
            <a:srgbClr val="FFFFFF"/>
          </a:solidFill>
          <a:ln/>
          <a:effectLst>
            <a:outerShdw sx="100000" sy="100000" kx="0" ky="0" algn="bl" rotWithShape="0" blurRad="101600" dist="25400" dir="5400000">
              <a:srgbClr val="0B1F3A">
                <a:alpha val="8000"/>
              </a:srgbClr>
            </a:outerShdw>
          </a:effectLst>
        </p:spPr>
      </p:sp>
      <p:pic>
        <p:nvPicPr>
          <p:cNvPr id="4" name="art-Explore" descr="G:\broswer download\big-red-hacks2026\docs\presentation\assets\scout.png">    </p:cNvPr>
          <p:cNvPicPr>
            <a:picLocks noChangeAspect="1"/>
          </p:cNvPicPr>
          <p:nvPr/>
        </p:nvPicPr>
        <p:blipFill>
          <a:blip r:embed="rId1"/>
          <a:stretch>
            <a:fillRect/>
          </a:stretch>
        </p:blipFill>
        <p:spPr>
          <a:xfrm>
            <a:off x="1005840" y="1234440"/>
            <a:ext cx="1783080" cy="1783080"/>
          </a:xfrm>
          <a:prstGeom prst="rect">
            <a:avLst/>
          </a:prstGeom>
        </p:spPr>
      </p:pic>
      <p:sp>
        <p:nvSpPr>
          <p:cNvPr id="5" name="Text 2"/>
          <p:cNvSpPr txBox="1"/>
          <p:nvPr/>
        </p:nvSpPr>
        <p:spPr>
          <a:xfrm>
            <a:off x="640080" y="3108960"/>
            <a:ext cx="2514600" cy="411480"/>
          </a:xfrm>
          <a:prstGeom prst="rect">
            <a:avLst/>
          </a:prstGeom>
          <a:noFill/>
          <a:ln/>
        </p:spPr>
        <p:txBody>
          <a:bodyPr wrap="square" lIns="0" tIns="0" rIns="0" bIns="0" rtlCol="0" anchor="ctr"/>
          <a:lstStyle/>
          <a:p>
            <a:pPr algn="ctr" indent="0" marL="0">
              <a:buNone/>
            </a:pPr>
            <a:r>
              <a:rPr lang="en-US" sz="2200" b="1" dirty="0">
                <a:solidFill>
                  <a:schemeClr val="tx1"/>
                </a:solidFill>
              </a:rPr>
              <a:t>Explore</a:t>
            </a:r>
            <a:endParaRPr lang="en-US" sz="2200" dirty="0"/>
          </a:p>
        </p:txBody>
      </p:sp>
      <p:sp>
        <p:nvSpPr>
          <p:cNvPr id="6" name="Text 3"/>
          <p:cNvSpPr txBox="1"/>
          <p:nvPr/>
        </p:nvSpPr>
        <p:spPr>
          <a:xfrm>
            <a:off x="640080" y="3520440"/>
            <a:ext cx="2514600" cy="292608"/>
          </a:xfrm>
          <a:prstGeom prst="rect">
            <a:avLst/>
          </a:prstGeom>
          <a:noFill/>
          <a:ln/>
        </p:spPr>
        <p:txBody>
          <a:bodyPr wrap="square" lIns="0" tIns="0" rIns="0" bIns="0" rtlCol="0" anchor="ctr"/>
          <a:lstStyle/>
          <a:p>
            <a:pPr algn="ctr" indent="0" marL="0">
              <a:buNone/>
            </a:pPr>
            <a:r>
              <a:rPr lang="en-US" sz="1400" dirty="0">
                <a:solidFill>
                  <a:schemeClr val="accent1"/>
                </a:solidFill>
              </a:rPr>
              <a:t>Pip</a:t>
            </a:r>
            <a:endParaRPr lang="en-US" sz="1400" dirty="0"/>
          </a:p>
        </p:txBody>
      </p:sp>
      <p:sp>
        <p:nvSpPr>
          <p:cNvPr id="7" name="Text 4"/>
          <p:cNvSpPr txBox="1"/>
          <p:nvPr/>
        </p:nvSpPr>
        <p:spPr>
          <a:xfrm>
            <a:off x="667512" y="3858768"/>
            <a:ext cx="2468880" cy="1005840"/>
          </a:xfrm>
          <a:prstGeom prst="rect">
            <a:avLst/>
          </a:prstGeom>
          <a:noFill/>
          <a:ln/>
        </p:spPr>
        <p:txBody>
          <a:bodyPr wrap="square" lIns="0" tIns="0" rIns="0" bIns="0" rtlCol="0" anchor="ctr"/>
          <a:lstStyle/>
          <a:p>
            <a:pPr algn="ctr" indent="0" marL="0">
              <a:buNone/>
            </a:pPr>
            <a:r>
              <a:rPr lang="en-US" sz="1400" dirty="0">
                <a:solidFill>
                  <a:schemeClr val="accent6"/>
                </a:solidFill>
              </a:rPr>
              <a:t>Scouts a nearby place with Wikipedia and OSM.</a:t>
            </a:r>
            <a:endParaRPr lang="en-US" sz="1400" dirty="0"/>
          </a:p>
        </p:txBody>
      </p:sp>
      <p:sp>
        <p:nvSpPr>
          <p:cNvPr id="8" name="loop-Walk"/>
          <p:cNvSpPr/>
          <p:nvPr/>
        </p:nvSpPr>
        <p:spPr>
          <a:xfrm>
            <a:off x="3429000" y="1051560"/>
            <a:ext cx="2788920" cy="3977640"/>
          </a:xfrm>
          <a:prstGeom prst="roundRect">
            <a:avLst>
              <a:gd name="adj" fmla="val 5246"/>
            </a:avLst>
          </a:prstGeom>
          <a:solidFill>
            <a:srgbClr val="FFFFFF"/>
          </a:solidFill>
          <a:ln/>
          <a:effectLst>
            <a:outerShdw sx="100000" sy="100000" kx="0" ky="0" algn="bl" rotWithShape="0" blurRad="101600" dist="25400" dir="5400000">
              <a:srgbClr val="0B1F3A">
                <a:alpha val="8000"/>
              </a:srgbClr>
            </a:outerShdw>
          </a:effectLst>
        </p:spPr>
      </p:sp>
      <p:pic>
        <p:nvPicPr>
          <p:cNvPr id="9" name="art-Walk" descr="G:\broswer download\big-red-hacks2026\docs\presentation\assets\pathfinder.png">    </p:cNvPr>
          <p:cNvPicPr>
            <a:picLocks noChangeAspect="1"/>
          </p:cNvPicPr>
          <p:nvPr/>
        </p:nvPicPr>
        <p:blipFill>
          <a:blip r:embed="rId2"/>
          <a:stretch>
            <a:fillRect/>
          </a:stretch>
        </p:blipFill>
        <p:spPr>
          <a:xfrm>
            <a:off x="3931920" y="1234440"/>
            <a:ext cx="1783080" cy="1783080"/>
          </a:xfrm>
          <a:prstGeom prst="rect">
            <a:avLst/>
          </a:prstGeom>
        </p:spPr>
      </p:pic>
      <p:sp>
        <p:nvSpPr>
          <p:cNvPr id="10" name="Text 6"/>
          <p:cNvSpPr txBox="1"/>
          <p:nvPr/>
        </p:nvSpPr>
        <p:spPr>
          <a:xfrm>
            <a:off x="3566160" y="3108960"/>
            <a:ext cx="2514600" cy="411480"/>
          </a:xfrm>
          <a:prstGeom prst="rect">
            <a:avLst/>
          </a:prstGeom>
          <a:noFill/>
          <a:ln/>
        </p:spPr>
        <p:txBody>
          <a:bodyPr wrap="square" lIns="0" tIns="0" rIns="0" bIns="0" rtlCol="0" anchor="ctr"/>
          <a:lstStyle/>
          <a:p>
            <a:pPr algn="ctr" indent="0" marL="0">
              <a:buNone/>
            </a:pPr>
            <a:r>
              <a:rPr lang="en-US" sz="2200" b="1" dirty="0">
                <a:solidFill>
                  <a:schemeClr val="tx1"/>
                </a:solidFill>
              </a:rPr>
              <a:t>Walk</a:t>
            </a:r>
            <a:endParaRPr lang="en-US" sz="2200" dirty="0"/>
          </a:p>
        </p:txBody>
      </p:sp>
      <p:sp>
        <p:nvSpPr>
          <p:cNvPr id="11" name="Text 7"/>
          <p:cNvSpPr txBox="1"/>
          <p:nvPr/>
        </p:nvSpPr>
        <p:spPr>
          <a:xfrm>
            <a:off x="3566160" y="3520440"/>
            <a:ext cx="2514600" cy="292608"/>
          </a:xfrm>
          <a:prstGeom prst="rect">
            <a:avLst/>
          </a:prstGeom>
          <a:noFill/>
          <a:ln/>
        </p:spPr>
        <p:txBody>
          <a:bodyPr wrap="square" lIns="0" tIns="0" rIns="0" bIns="0" rtlCol="0" anchor="ctr"/>
          <a:lstStyle/>
          <a:p>
            <a:pPr algn="ctr" indent="0" marL="0">
              <a:buNone/>
            </a:pPr>
            <a:r>
              <a:rPr lang="en-US" sz="1400" dirty="0">
                <a:solidFill>
                  <a:schemeClr val="accent1"/>
                </a:solidFill>
              </a:rPr>
              <a:t>Fern</a:t>
            </a:r>
            <a:endParaRPr lang="en-US" sz="1400" dirty="0"/>
          </a:p>
        </p:txBody>
      </p:sp>
      <p:sp>
        <p:nvSpPr>
          <p:cNvPr id="12" name="Text 8"/>
          <p:cNvSpPr txBox="1"/>
          <p:nvPr/>
        </p:nvSpPr>
        <p:spPr>
          <a:xfrm>
            <a:off x="3593592" y="3858768"/>
            <a:ext cx="2468880" cy="1005840"/>
          </a:xfrm>
          <a:prstGeom prst="rect">
            <a:avLst/>
          </a:prstGeom>
          <a:noFill/>
          <a:ln/>
        </p:spPr>
        <p:txBody>
          <a:bodyPr wrap="square" lIns="0" tIns="0" rIns="0" bIns="0" rtlCol="0" anchor="ctr"/>
          <a:lstStyle/>
          <a:p>
            <a:pPr algn="ctr" indent="0" marL="0">
              <a:buNone/>
            </a:pPr>
            <a:r>
              <a:rPr lang="en-US" sz="1400" dirty="0">
                <a:solidFill>
                  <a:schemeClr val="accent6"/>
                </a:solidFill>
              </a:rPr>
              <a:t>Guides the route. The trail blooms.</a:t>
            </a:r>
            <a:endParaRPr lang="en-US" sz="1400" dirty="0"/>
          </a:p>
        </p:txBody>
      </p:sp>
      <p:sp>
        <p:nvSpPr>
          <p:cNvPr id="13" name="loop-Discover"/>
          <p:cNvSpPr/>
          <p:nvPr/>
        </p:nvSpPr>
        <p:spPr>
          <a:xfrm>
            <a:off x="6355080" y="1051560"/>
            <a:ext cx="2788920" cy="3977640"/>
          </a:xfrm>
          <a:prstGeom prst="roundRect">
            <a:avLst>
              <a:gd name="adj" fmla="val 5246"/>
            </a:avLst>
          </a:prstGeom>
          <a:solidFill>
            <a:srgbClr val="FFFFFF"/>
          </a:solidFill>
          <a:ln/>
          <a:effectLst>
            <a:outerShdw sx="100000" sy="100000" kx="0" ky="0" algn="bl" rotWithShape="0" blurRad="101600" dist="25400" dir="5400000">
              <a:srgbClr val="0B1F3A">
                <a:alpha val="8000"/>
              </a:srgbClr>
            </a:outerShdw>
          </a:effectLst>
        </p:spPr>
      </p:sp>
      <p:pic>
        <p:nvPicPr>
          <p:cNvPr id="14" name="art-Discover" descr="G:\broswer download\big-red-hacks2026\docs\presentation\assets\storyteller.png">    </p:cNvPr>
          <p:cNvPicPr>
            <a:picLocks noChangeAspect="1"/>
          </p:cNvPicPr>
          <p:nvPr/>
        </p:nvPicPr>
        <p:blipFill>
          <a:blip r:embed="rId3"/>
          <a:stretch>
            <a:fillRect/>
          </a:stretch>
        </p:blipFill>
        <p:spPr>
          <a:xfrm>
            <a:off x="6858000" y="1234440"/>
            <a:ext cx="1783080" cy="1783080"/>
          </a:xfrm>
          <a:prstGeom prst="rect">
            <a:avLst/>
          </a:prstGeom>
        </p:spPr>
      </p:pic>
      <p:sp>
        <p:nvSpPr>
          <p:cNvPr id="15" name="Text 10"/>
          <p:cNvSpPr txBox="1"/>
          <p:nvPr/>
        </p:nvSpPr>
        <p:spPr>
          <a:xfrm>
            <a:off x="6492240" y="3108960"/>
            <a:ext cx="2514600" cy="411480"/>
          </a:xfrm>
          <a:prstGeom prst="rect">
            <a:avLst/>
          </a:prstGeom>
          <a:noFill/>
          <a:ln/>
        </p:spPr>
        <p:txBody>
          <a:bodyPr wrap="square" lIns="0" tIns="0" rIns="0" bIns="0" rtlCol="0" anchor="ctr"/>
          <a:lstStyle/>
          <a:p>
            <a:pPr algn="ctr" indent="0" marL="0">
              <a:buNone/>
            </a:pPr>
            <a:r>
              <a:rPr lang="en-US" sz="2200" b="1" dirty="0">
                <a:solidFill>
                  <a:schemeClr val="tx1"/>
                </a:solidFill>
              </a:rPr>
              <a:t>Discover</a:t>
            </a:r>
            <a:endParaRPr lang="en-US" sz="2200" dirty="0"/>
          </a:p>
        </p:txBody>
      </p:sp>
      <p:sp>
        <p:nvSpPr>
          <p:cNvPr id="16" name="Text 11"/>
          <p:cNvSpPr txBox="1"/>
          <p:nvPr/>
        </p:nvSpPr>
        <p:spPr>
          <a:xfrm>
            <a:off x="6492240" y="3520440"/>
            <a:ext cx="2514600" cy="292608"/>
          </a:xfrm>
          <a:prstGeom prst="rect">
            <a:avLst/>
          </a:prstGeom>
          <a:noFill/>
          <a:ln/>
        </p:spPr>
        <p:txBody>
          <a:bodyPr wrap="square" lIns="0" tIns="0" rIns="0" bIns="0" rtlCol="0" anchor="ctr"/>
          <a:lstStyle/>
          <a:p>
            <a:pPr algn="ctr" indent="0" marL="0">
              <a:buNone/>
            </a:pPr>
            <a:r>
              <a:rPr lang="en-US" sz="1400" dirty="0">
                <a:solidFill>
                  <a:schemeClr val="accent1"/>
                </a:solidFill>
              </a:rPr>
              <a:t>Moss</a:t>
            </a:r>
            <a:endParaRPr lang="en-US" sz="1400" dirty="0"/>
          </a:p>
        </p:txBody>
      </p:sp>
      <p:sp>
        <p:nvSpPr>
          <p:cNvPr id="17" name="Text 12"/>
          <p:cNvSpPr txBox="1"/>
          <p:nvPr/>
        </p:nvSpPr>
        <p:spPr>
          <a:xfrm>
            <a:off x="6519672" y="3858768"/>
            <a:ext cx="2468880" cy="1005840"/>
          </a:xfrm>
          <a:prstGeom prst="rect">
            <a:avLst/>
          </a:prstGeom>
          <a:noFill/>
          <a:ln/>
        </p:spPr>
        <p:txBody>
          <a:bodyPr wrap="square" lIns="0" tIns="0" rIns="0" bIns="0" rtlCol="0" anchor="ctr"/>
          <a:lstStyle/>
          <a:p>
            <a:pPr algn="ctr" indent="0" marL="0">
              <a:buNone/>
            </a:pPr>
            <a:r>
              <a:rPr lang="en-US" sz="1400" dirty="0">
                <a:solidFill>
                  <a:schemeClr val="accent6"/>
                </a:solidFill>
              </a:rPr>
              <a:t>Tells the grounded story.</a:t>
            </a:r>
            <a:endParaRPr lang="en-US" sz="1400" dirty="0"/>
          </a:p>
        </p:txBody>
      </p:sp>
      <p:sp>
        <p:nvSpPr>
          <p:cNvPr id="18" name="loop-Collect"/>
          <p:cNvSpPr/>
          <p:nvPr/>
        </p:nvSpPr>
        <p:spPr>
          <a:xfrm>
            <a:off x="9281160" y="1051560"/>
            <a:ext cx="2788920" cy="3977640"/>
          </a:xfrm>
          <a:prstGeom prst="roundRect">
            <a:avLst>
              <a:gd name="adj" fmla="val 5246"/>
            </a:avLst>
          </a:prstGeom>
          <a:solidFill>
            <a:srgbClr val="FFFFFF"/>
          </a:solidFill>
          <a:ln/>
          <a:effectLst>
            <a:outerShdw sx="100000" sy="100000" kx="0" ky="0" algn="bl" rotWithShape="0" blurRad="101600" dist="25400" dir="5400000">
              <a:srgbClr val="0B1F3A">
                <a:alpha val="8000"/>
              </a:srgbClr>
            </a:outerShdw>
          </a:effectLst>
        </p:spPr>
      </p:sp>
      <p:pic>
        <p:nvPicPr>
          <p:cNvPr id="19" name="art-Collect" descr="G:\broswer download\big-red-hacks2026\mobile\assets\badges\gold.png">    </p:cNvPr>
          <p:cNvPicPr>
            <a:picLocks noChangeAspect="1"/>
          </p:cNvPicPr>
          <p:nvPr/>
        </p:nvPicPr>
        <p:blipFill>
          <a:blip r:embed="rId4"/>
          <a:stretch>
            <a:fillRect/>
          </a:stretch>
        </p:blipFill>
        <p:spPr>
          <a:xfrm>
            <a:off x="9784080" y="1234440"/>
            <a:ext cx="1783080" cy="1783080"/>
          </a:xfrm>
          <a:prstGeom prst="rect">
            <a:avLst/>
          </a:prstGeom>
        </p:spPr>
      </p:pic>
      <p:sp>
        <p:nvSpPr>
          <p:cNvPr id="20" name="Text 14"/>
          <p:cNvSpPr txBox="1"/>
          <p:nvPr/>
        </p:nvSpPr>
        <p:spPr>
          <a:xfrm>
            <a:off x="9418320" y="3108960"/>
            <a:ext cx="2514600" cy="411480"/>
          </a:xfrm>
          <a:prstGeom prst="rect">
            <a:avLst/>
          </a:prstGeom>
          <a:noFill/>
          <a:ln/>
        </p:spPr>
        <p:txBody>
          <a:bodyPr wrap="square" lIns="0" tIns="0" rIns="0" bIns="0" rtlCol="0" anchor="ctr"/>
          <a:lstStyle/>
          <a:p>
            <a:pPr algn="ctr" indent="0" marL="0">
              <a:buNone/>
            </a:pPr>
            <a:r>
              <a:rPr lang="en-US" sz="2200" b="1" dirty="0">
                <a:solidFill>
                  <a:schemeClr val="tx1"/>
                </a:solidFill>
              </a:rPr>
              <a:t>Collect</a:t>
            </a:r>
            <a:endParaRPr lang="en-US" sz="2200" dirty="0"/>
          </a:p>
        </p:txBody>
      </p:sp>
      <p:sp>
        <p:nvSpPr>
          <p:cNvPr id="21" name="Text 15"/>
          <p:cNvSpPr txBox="1"/>
          <p:nvPr/>
        </p:nvSpPr>
        <p:spPr>
          <a:xfrm>
            <a:off x="9418320" y="3520440"/>
            <a:ext cx="2514600" cy="292608"/>
          </a:xfrm>
          <a:prstGeom prst="rect">
            <a:avLst/>
          </a:prstGeom>
          <a:noFill/>
          <a:ln/>
        </p:spPr>
        <p:txBody>
          <a:bodyPr wrap="square" lIns="0" tIns="0" rIns="0" bIns="0" rtlCol="0" anchor="ctr"/>
          <a:lstStyle/>
          <a:p>
            <a:pPr algn="ctr" indent="0" marL="0">
              <a:buNone/>
            </a:pPr>
            <a:r>
              <a:rPr lang="en-US" sz="1400" dirty="0">
                <a:solidFill>
                  <a:schemeClr val="accent1"/>
                </a:solidFill>
              </a:rPr>
              <a:t>You</a:t>
            </a:r>
            <a:endParaRPr lang="en-US" sz="1400" dirty="0"/>
          </a:p>
        </p:txBody>
      </p:sp>
      <p:sp>
        <p:nvSpPr>
          <p:cNvPr id="22" name="Text 16"/>
          <p:cNvSpPr txBox="1"/>
          <p:nvPr/>
        </p:nvSpPr>
        <p:spPr>
          <a:xfrm>
            <a:off x="9445752" y="3858768"/>
            <a:ext cx="2468880" cy="1005840"/>
          </a:xfrm>
          <a:prstGeom prst="rect">
            <a:avLst/>
          </a:prstGeom>
          <a:noFill/>
          <a:ln/>
        </p:spPr>
        <p:txBody>
          <a:bodyPr wrap="square" lIns="0" tIns="0" rIns="0" bIns="0" rtlCol="0" anchor="ctr"/>
          <a:lstStyle/>
          <a:p>
            <a:pPr algn="ctr" indent="0" marL="0">
              <a:buNone/>
            </a:pPr>
            <a:r>
              <a:rPr lang="en-US" sz="1400" dirty="0">
                <a:solidFill>
                  <a:schemeClr val="accent6"/>
                </a:solidFill>
              </a:rPr>
              <a:t>Capture the landmark. Eggs fill as you walk.</a:t>
            </a:r>
            <a:endParaRPr lang="en-US" sz="1400" dirty="0"/>
          </a:p>
        </p:txBody>
      </p:sp>
      <p:sp>
        <p:nvSpPr>
          <p:cNvPr id="23" name="Text 17"/>
          <p:cNvSpPr txBox="1"/>
          <p:nvPr/>
        </p:nvSpPr>
        <p:spPr>
          <a:xfrm>
            <a:off x="548640" y="5166360"/>
            <a:ext cx="11064240" cy="1097280"/>
          </a:xfrm>
          <a:prstGeom prst="rect">
            <a:avLst/>
          </a:prstGeom>
          <a:noFill/>
          <a:ln/>
        </p:spPr>
        <p:txBody>
          <a:bodyPr wrap="square" lIns="0" tIns="0" rIns="0" bIns="0" rtlCol="0" anchor="ctr"/>
          <a:lstStyle/>
          <a:p>
            <a:pPr indent="0" marL="0">
              <a:buNone/>
            </a:pPr>
            <a:r>
              <a:rPr lang="en-US" sz="1600" dirty="0">
                <a:solidFill>
                  <a:schemeClr val="accent6"/>
                </a:solidFill>
              </a:rPr>
              <a:t>Pip, Fern, and Moss — original art from the app.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ph idx="100" type="title" hasCustomPrompt="1"/>
          </p:nvPr>
        </p:nvSpPr>
        <p:spPr>
          <a:xfrm>
            <a:off x="548640" y="256032"/>
            <a:ext cx="11064240" cy="658368"/>
          </a:xfrm>
          <a:prstGeom prst="rect">
            <a:avLst/>
          </a:prstGeom>
          <a:noFill/>
          <a:ln/>
        </p:spPr>
        <p:txBody>
          <a:bodyPr wrap="square" lIns="0" tIns="0" rIns="0" bIns="0" rtlCol="0" anchor="ctr"/>
          <a:lstStyle/>
          <a:p>
            <a:pPr algn="l" indent="0" marL="0">
              <a:buNone/>
            </a:pPr>
            <a:r>
              <a:rPr lang="en-US" sz="3600" b="1" dirty="0">
                <a:solidFill>
                  <a:schemeClr val="tx1"/>
                </a:solidFill>
              </a:rPr>
              <a:t>Keep this slide up. Hand them the phone.</a:t>
            </a:r>
            <a:endParaRPr lang="en-US" sz="3600" dirty="0"/>
          </a:p>
        </p:txBody>
      </p:sp>
      <p:sp>
        <p:nvSpPr>
          <p:cNvPr id="3" name="demo-banner"/>
          <p:cNvSpPr/>
          <p:nvPr/>
        </p:nvSpPr>
        <p:spPr>
          <a:xfrm>
            <a:off x="548640" y="1051560"/>
            <a:ext cx="11109960" cy="685800"/>
          </a:xfrm>
          <a:prstGeom prst="roundRect">
            <a:avLst>
              <a:gd name="adj" fmla="val 21333"/>
            </a:avLst>
          </a:prstGeom>
          <a:solidFill>
            <a:schemeClr val="tx2"/>
          </a:solidFill>
          <a:ln/>
          <a:effectLst>
            <a:outerShdw sx="100000" sy="100000" kx="0" ky="0" algn="bl" rotWithShape="0" blurRad="101600" dist="25400" dir="5400000">
              <a:srgbClr val="0B1F3A">
                <a:alpha val="8000"/>
              </a:srgbClr>
            </a:outerShdw>
          </a:effectLst>
        </p:spPr>
      </p:sp>
      <p:sp>
        <p:nvSpPr>
          <p:cNvPr id="4" name="Text 2"/>
          <p:cNvSpPr txBox="1"/>
          <p:nvPr/>
        </p:nvSpPr>
        <p:spPr>
          <a:xfrm>
            <a:off x="731520" y="1143000"/>
            <a:ext cx="10744200" cy="502920"/>
          </a:xfrm>
          <a:prstGeom prst="rect">
            <a:avLst/>
          </a:prstGeom>
          <a:noFill/>
          <a:ln/>
        </p:spPr>
        <p:txBody>
          <a:bodyPr wrap="square" lIns="0" tIns="0" rIns="0" bIns="0" rtlCol="0" anchor="ctr"/>
          <a:lstStyle/>
          <a:p>
            <a:pPr algn="ctr" indent="0" marL="0">
              <a:buNone/>
            </a:pPr>
            <a:r>
              <a:rPr lang="en-US" sz="2000" b="1" dirty="0">
                <a:solidFill>
                  <a:schemeClr val="accent3"/>
                </a:solidFill>
              </a:rPr>
              <a:t>Demo Walk is ON  ·  steps are simulated at the table</a:t>
            </a:r>
            <a:endParaRPr lang="en-US" sz="2000" dirty="0"/>
          </a:p>
        </p:txBody>
      </p:sp>
      <p:sp>
        <p:nvSpPr>
          <p:cNvPr id="5" name="demo-1"/>
          <p:cNvSpPr/>
          <p:nvPr/>
        </p:nvSpPr>
        <p:spPr>
          <a:xfrm>
            <a:off x="548640" y="1965960"/>
            <a:ext cx="2788920" cy="2331720"/>
          </a:xfrm>
          <a:prstGeom prst="roundRect">
            <a:avLst>
              <a:gd name="adj" fmla="val 6275"/>
            </a:avLst>
          </a:prstGeom>
          <a:solidFill>
            <a:srgbClr val="FFFFFF"/>
          </a:solidFill>
          <a:ln/>
          <a:effectLst>
            <a:outerShdw sx="100000" sy="100000" kx="0" ky="0" algn="bl" rotWithShape="0" blurRad="101600" dist="25400" dir="5400000">
              <a:srgbClr val="0B1F3A">
                <a:alpha val="8000"/>
              </a:srgbClr>
            </a:outerShdw>
          </a:effectLst>
        </p:spPr>
      </p:sp>
      <p:sp>
        <p:nvSpPr>
          <p:cNvPr id="6" name="n-1"/>
          <p:cNvSpPr/>
          <p:nvPr/>
        </p:nvSpPr>
        <p:spPr>
          <a:xfrm>
            <a:off x="1554480" y="2194560"/>
            <a:ext cx="731520" cy="731520"/>
          </a:xfrm>
          <a:prstGeom prst="ellipse">
            <a:avLst/>
          </a:prstGeom>
          <a:solidFill>
            <a:schemeClr val="accent1"/>
          </a:solidFill>
          <a:ln/>
        </p:spPr>
      </p:sp>
      <p:sp>
        <p:nvSpPr>
          <p:cNvPr id="7" name="Text 5"/>
          <p:cNvSpPr txBox="1"/>
          <p:nvPr/>
        </p:nvSpPr>
        <p:spPr>
          <a:xfrm>
            <a:off x="1554480" y="2286000"/>
            <a:ext cx="731520" cy="54864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8" name="Text 6"/>
          <p:cNvSpPr txBox="1"/>
          <p:nvPr/>
        </p:nvSpPr>
        <p:spPr>
          <a:xfrm>
            <a:off x="685800" y="3108960"/>
            <a:ext cx="2514600" cy="868680"/>
          </a:xfrm>
          <a:prstGeom prst="rect">
            <a:avLst/>
          </a:prstGeom>
          <a:noFill/>
          <a:ln/>
        </p:spPr>
        <p:txBody>
          <a:bodyPr wrap="square" lIns="0" tIns="0" rIns="0" bIns="0" rtlCol="0" anchor="ctr"/>
          <a:lstStyle/>
          <a:p>
            <a:pPr algn="ctr" indent="0" marL="0">
              <a:buNone/>
            </a:pPr>
            <a:r>
              <a:rPr lang="en-US" sz="2200" b="1" dirty="0">
                <a:solidFill>
                  <a:schemeClr val="tx1"/>
                </a:solidFill>
              </a:rPr>
              <a:t>Pip explores</a:t>
            </a:r>
            <a:endParaRPr lang="en-US" sz="2200" dirty="0"/>
          </a:p>
        </p:txBody>
      </p:sp>
      <p:sp>
        <p:nvSpPr>
          <p:cNvPr id="9" name="demo-2"/>
          <p:cNvSpPr/>
          <p:nvPr/>
        </p:nvSpPr>
        <p:spPr>
          <a:xfrm>
            <a:off x="3474720" y="1965960"/>
            <a:ext cx="2788920" cy="2331720"/>
          </a:xfrm>
          <a:prstGeom prst="roundRect">
            <a:avLst>
              <a:gd name="adj" fmla="val 6275"/>
            </a:avLst>
          </a:prstGeom>
          <a:solidFill>
            <a:srgbClr val="FFFFFF"/>
          </a:solidFill>
          <a:ln/>
          <a:effectLst>
            <a:outerShdw sx="100000" sy="100000" kx="0" ky="0" algn="bl" rotWithShape="0" blurRad="101600" dist="25400" dir="5400000">
              <a:srgbClr val="0B1F3A">
                <a:alpha val="8000"/>
              </a:srgbClr>
            </a:outerShdw>
          </a:effectLst>
        </p:spPr>
      </p:sp>
      <p:sp>
        <p:nvSpPr>
          <p:cNvPr id="10" name="n-2"/>
          <p:cNvSpPr/>
          <p:nvPr/>
        </p:nvSpPr>
        <p:spPr>
          <a:xfrm>
            <a:off x="4480560" y="2194560"/>
            <a:ext cx="731520" cy="731520"/>
          </a:xfrm>
          <a:prstGeom prst="ellipse">
            <a:avLst/>
          </a:prstGeom>
          <a:solidFill>
            <a:schemeClr val="accent1"/>
          </a:solidFill>
          <a:ln/>
        </p:spPr>
      </p:sp>
      <p:sp>
        <p:nvSpPr>
          <p:cNvPr id="11" name="Text 9"/>
          <p:cNvSpPr txBox="1"/>
          <p:nvPr/>
        </p:nvSpPr>
        <p:spPr>
          <a:xfrm>
            <a:off x="4480560" y="2286000"/>
            <a:ext cx="731520" cy="54864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3611880" y="3108960"/>
            <a:ext cx="2514600" cy="868680"/>
          </a:xfrm>
          <a:prstGeom prst="rect">
            <a:avLst/>
          </a:prstGeom>
          <a:noFill/>
          <a:ln/>
        </p:spPr>
        <p:txBody>
          <a:bodyPr wrap="square" lIns="0" tIns="0" rIns="0" bIns="0" rtlCol="0" anchor="ctr"/>
          <a:lstStyle/>
          <a:p>
            <a:pPr algn="ctr" indent="0" marL="0">
              <a:buNone/>
            </a:pPr>
            <a:r>
              <a:rPr lang="en-US" sz="2200" b="1" dirty="0">
                <a:solidFill>
                  <a:schemeClr val="tx1"/>
                </a:solidFill>
              </a:rPr>
              <a:t>Choose a place</a:t>
            </a:r>
            <a:endParaRPr lang="en-US" sz="2200" dirty="0"/>
          </a:p>
        </p:txBody>
      </p:sp>
      <p:sp>
        <p:nvSpPr>
          <p:cNvPr id="13" name="demo-3"/>
          <p:cNvSpPr/>
          <p:nvPr/>
        </p:nvSpPr>
        <p:spPr>
          <a:xfrm>
            <a:off x="6400800" y="1965960"/>
            <a:ext cx="2788920" cy="2331720"/>
          </a:xfrm>
          <a:prstGeom prst="roundRect">
            <a:avLst>
              <a:gd name="adj" fmla="val 6275"/>
            </a:avLst>
          </a:prstGeom>
          <a:solidFill>
            <a:srgbClr val="FFFFFF"/>
          </a:solidFill>
          <a:ln/>
          <a:effectLst>
            <a:outerShdw sx="100000" sy="100000" kx="0" ky="0" algn="bl" rotWithShape="0" blurRad="101600" dist="25400" dir="5400000">
              <a:srgbClr val="0B1F3A">
                <a:alpha val="8000"/>
              </a:srgbClr>
            </a:outerShdw>
          </a:effectLst>
        </p:spPr>
      </p:sp>
      <p:sp>
        <p:nvSpPr>
          <p:cNvPr id="14" name="n-3"/>
          <p:cNvSpPr/>
          <p:nvPr/>
        </p:nvSpPr>
        <p:spPr>
          <a:xfrm>
            <a:off x="7406640" y="2194560"/>
            <a:ext cx="731520" cy="731520"/>
          </a:xfrm>
          <a:prstGeom prst="ellipse">
            <a:avLst/>
          </a:prstGeom>
          <a:solidFill>
            <a:schemeClr val="accent1"/>
          </a:solidFill>
          <a:ln/>
        </p:spPr>
      </p:sp>
      <p:sp>
        <p:nvSpPr>
          <p:cNvPr id="15" name="Text 13"/>
          <p:cNvSpPr txBox="1"/>
          <p:nvPr/>
        </p:nvSpPr>
        <p:spPr>
          <a:xfrm>
            <a:off x="7406640" y="2286000"/>
            <a:ext cx="731520" cy="54864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6" name="Text 14"/>
          <p:cNvSpPr txBox="1"/>
          <p:nvPr/>
        </p:nvSpPr>
        <p:spPr>
          <a:xfrm>
            <a:off x="6537960" y="3108960"/>
            <a:ext cx="2514600" cy="868680"/>
          </a:xfrm>
          <a:prstGeom prst="rect">
            <a:avLst/>
          </a:prstGeom>
          <a:noFill/>
          <a:ln/>
        </p:spPr>
        <p:txBody>
          <a:bodyPr wrap="square" lIns="0" tIns="0" rIns="0" bIns="0" rtlCol="0" anchor="ctr"/>
          <a:lstStyle/>
          <a:p>
            <a:pPr algn="ctr" indent="0" marL="0">
              <a:buNone/>
            </a:pPr>
            <a:r>
              <a:rPr lang="en-US" sz="2200" b="1" dirty="0">
                <a:solidFill>
                  <a:schemeClr val="tx1"/>
                </a:solidFill>
              </a:rPr>
              <a:t>Start a walk</a:t>
            </a:r>
            <a:endParaRPr lang="en-US" sz="2200" dirty="0"/>
          </a:p>
        </p:txBody>
      </p:sp>
      <p:sp>
        <p:nvSpPr>
          <p:cNvPr id="17" name="demo-4"/>
          <p:cNvSpPr/>
          <p:nvPr/>
        </p:nvSpPr>
        <p:spPr>
          <a:xfrm>
            <a:off x="9326880" y="1965960"/>
            <a:ext cx="2788920" cy="2331720"/>
          </a:xfrm>
          <a:prstGeom prst="roundRect">
            <a:avLst>
              <a:gd name="adj" fmla="val 6275"/>
            </a:avLst>
          </a:prstGeom>
          <a:solidFill>
            <a:srgbClr val="FFFFFF"/>
          </a:solidFill>
          <a:ln/>
          <a:effectLst>
            <a:outerShdw sx="100000" sy="100000" kx="0" ky="0" algn="bl" rotWithShape="0" blurRad="101600" dist="25400" dir="5400000">
              <a:srgbClr val="0B1F3A">
                <a:alpha val="8000"/>
              </a:srgbClr>
            </a:outerShdw>
          </a:effectLst>
        </p:spPr>
      </p:sp>
      <p:sp>
        <p:nvSpPr>
          <p:cNvPr id="18" name="n-4"/>
          <p:cNvSpPr/>
          <p:nvPr/>
        </p:nvSpPr>
        <p:spPr>
          <a:xfrm>
            <a:off x="10332720" y="2194560"/>
            <a:ext cx="731520" cy="731520"/>
          </a:xfrm>
          <a:prstGeom prst="ellipse">
            <a:avLst/>
          </a:prstGeom>
          <a:solidFill>
            <a:schemeClr val="accent1"/>
          </a:solidFill>
          <a:ln/>
        </p:spPr>
      </p:sp>
      <p:sp>
        <p:nvSpPr>
          <p:cNvPr id="19" name="Text 17"/>
          <p:cNvSpPr txBox="1"/>
          <p:nvPr/>
        </p:nvSpPr>
        <p:spPr>
          <a:xfrm>
            <a:off x="10332720" y="2286000"/>
            <a:ext cx="731520" cy="548640"/>
          </a:xfrm>
          <a:prstGeom prst="rect">
            <a:avLst/>
          </a:prstGeom>
          <a:noFill/>
          <a:ln/>
        </p:spPr>
        <p:txBody>
          <a:bodyPr wrap="square" lIns="0" tIns="0" rIns="0" bIns="0" rtlCol="0" anchor="ctr"/>
          <a:lstStyle/>
          <a:p>
            <a:pPr algn="ctr" indent="0" marL="0">
              <a:buNone/>
            </a:pPr>
            <a:r>
              <a:rPr lang="en-US" sz="2400" b="1" dirty="0">
                <a:solidFill>
                  <a:srgbClr val="FFFFFF"/>
                </a:solidFill>
              </a:rPr>
              <a:t>4</a:t>
            </a:r>
            <a:endParaRPr lang="en-US" sz="2400" dirty="0"/>
          </a:p>
        </p:txBody>
      </p:sp>
      <p:sp>
        <p:nvSpPr>
          <p:cNvPr id="20" name="Text 18"/>
          <p:cNvSpPr txBox="1"/>
          <p:nvPr/>
        </p:nvSpPr>
        <p:spPr>
          <a:xfrm>
            <a:off x="9464040" y="3108960"/>
            <a:ext cx="2514600" cy="868680"/>
          </a:xfrm>
          <a:prstGeom prst="rect">
            <a:avLst/>
          </a:prstGeom>
          <a:noFill/>
          <a:ln/>
        </p:spPr>
        <p:txBody>
          <a:bodyPr wrap="square" lIns="0" tIns="0" rIns="0" bIns="0" rtlCol="0" anchor="ctr"/>
          <a:lstStyle/>
          <a:p>
            <a:pPr algn="ctr" indent="0" marL="0">
              <a:buNone/>
            </a:pPr>
            <a:r>
              <a:rPr lang="en-US" sz="2200" b="1" dirty="0">
                <a:solidFill>
                  <a:schemeClr val="tx1"/>
                </a:solidFill>
              </a:rPr>
              <a:t>Capture</a:t>
            </a:r>
            <a:endParaRPr lang="en-US" sz="2200" dirty="0"/>
          </a:p>
        </p:txBody>
      </p:sp>
      <p:sp>
        <p:nvSpPr>
          <p:cNvPr id="21" name="missing-shots"/>
          <p:cNvSpPr/>
          <p:nvPr/>
        </p:nvSpPr>
        <p:spPr>
          <a:xfrm>
            <a:off x="548640" y="4526280"/>
            <a:ext cx="11109960" cy="1691640"/>
          </a:xfrm>
          <a:prstGeom prst="roundRect">
            <a:avLst>
              <a:gd name="adj" fmla="val 8649"/>
            </a:avLst>
          </a:prstGeom>
          <a:solidFill>
            <a:srgbClr val="E8F5FF"/>
          </a:solidFill>
          <a:ln/>
          <a:effectLst>
            <a:outerShdw sx="100000" sy="100000" kx="0" ky="0" algn="bl" rotWithShape="0" blurRad="101600" dist="25400" dir="5400000">
              <a:srgbClr val="0B1F3A">
                <a:alpha val="8000"/>
              </a:srgbClr>
            </a:outerShdw>
          </a:effectLst>
        </p:spPr>
      </p:sp>
      <p:sp>
        <p:nvSpPr>
          <p:cNvPr id="22" name="Text 20"/>
          <p:cNvSpPr txBox="1"/>
          <p:nvPr/>
        </p:nvSpPr>
        <p:spPr>
          <a:xfrm>
            <a:off x="777240" y="4709160"/>
            <a:ext cx="10652760" cy="457200"/>
          </a:xfrm>
          <a:prstGeom prst="rect">
            <a:avLst/>
          </a:prstGeom>
          <a:noFill/>
          <a:ln/>
        </p:spPr>
        <p:txBody>
          <a:bodyPr wrap="square" lIns="0" tIns="0" rIns="0" bIns="0" rtlCol="0" anchor="ctr"/>
          <a:lstStyle/>
          <a:p>
            <a:pPr indent="0" marL="0">
              <a:buNone/>
            </a:pPr>
            <a:r>
              <a:rPr lang="en-US" sz="2200" b="1" dirty="0">
                <a:solidFill>
                  <a:schemeClr val="tx1"/>
                </a:solidFill>
              </a:rPr>
              <a:t>Follow these four taps on the phone.</a:t>
            </a:r>
            <a:endParaRPr lang="en-US" sz="2200" dirty="0"/>
          </a:p>
        </p:txBody>
      </p:sp>
      <p:sp>
        <p:nvSpPr>
          <p:cNvPr id="23" name="Text 21"/>
          <p:cNvSpPr txBox="1"/>
          <p:nvPr/>
        </p:nvSpPr>
        <p:spPr>
          <a:xfrm>
            <a:off x="777240" y="5212080"/>
            <a:ext cx="10652760" cy="731520"/>
          </a:xfrm>
          <a:prstGeom prst="rect">
            <a:avLst/>
          </a:prstGeom>
          <a:noFill/>
          <a:ln/>
        </p:spPr>
        <p:txBody>
          <a:bodyPr wrap="square" lIns="0" tIns="0" rIns="0" bIns="0" rtlCol="0" anchor="ctr"/>
          <a:lstStyle/>
          <a:p>
            <a:pPr indent="0" marL="0">
              <a:buNone/>
            </a:pPr>
            <a:r>
              <a:rPr lang="en-US" sz="1600" dirty="0">
                <a:solidFill>
                  <a:schemeClr val="accent6"/>
                </a:solidFill>
              </a:rPr>
              <a:t>Hide the Expo tools button. If voice is slow, keep going.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ph idx="100" type="title" hasCustomPrompt="1"/>
          </p:nvPr>
        </p:nvSpPr>
        <p:spPr>
          <a:xfrm>
            <a:off x="548640" y="256032"/>
            <a:ext cx="11064240" cy="658368"/>
          </a:xfrm>
          <a:prstGeom prst="rect">
            <a:avLst/>
          </a:prstGeom>
          <a:noFill/>
          <a:ln/>
        </p:spPr>
        <p:txBody>
          <a:bodyPr wrap="square" lIns="0" tIns="0" rIns="0" bIns="0" rtlCol="0" anchor="ctr"/>
          <a:lstStyle/>
          <a:p>
            <a:pPr algn="l" indent="0" marL="0">
              <a:buNone/>
            </a:pPr>
            <a:r>
              <a:rPr lang="en-US" sz="3600" b="1" dirty="0">
                <a:solidFill>
                  <a:schemeClr val="tx1"/>
                </a:solidFill>
              </a:rPr>
              <a:t>A phone, a small API, the real world</a:t>
            </a:r>
            <a:endParaRPr lang="en-US" sz="3600" dirty="0"/>
          </a:p>
        </p:txBody>
      </p:sp>
      <p:sp>
        <p:nvSpPr>
          <p:cNvPr id="3" name="arch-Phone"/>
          <p:cNvSpPr/>
          <p:nvPr/>
        </p:nvSpPr>
        <p:spPr>
          <a:xfrm>
            <a:off x="640080" y="1371600"/>
            <a:ext cx="3246120" cy="2468880"/>
          </a:xfrm>
          <a:prstGeom prst="roundRect">
            <a:avLst>
              <a:gd name="adj" fmla="val 5926"/>
            </a:avLst>
          </a:prstGeom>
          <a:solidFill>
            <a:srgbClr val="FFFFFF"/>
          </a:solidFill>
          <a:ln/>
          <a:effectLst>
            <a:outerShdw sx="100000" sy="100000" kx="0" ky="0" algn="bl" rotWithShape="0" blurRad="101600" dist="25400" dir="5400000">
              <a:srgbClr val="0B1F3A">
                <a:alpha val="8000"/>
              </a:srgbClr>
            </a:outerShdw>
          </a:effectLst>
        </p:spPr>
      </p:sp>
      <p:sp>
        <p:nvSpPr>
          <p:cNvPr id="4" name="Text 2"/>
          <p:cNvSpPr txBox="1"/>
          <p:nvPr/>
        </p:nvSpPr>
        <p:spPr>
          <a:xfrm>
            <a:off x="822960" y="1600200"/>
            <a:ext cx="2880360" cy="548640"/>
          </a:xfrm>
          <a:prstGeom prst="rect">
            <a:avLst/>
          </a:prstGeom>
          <a:noFill/>
          <a:ln/>
        </p:spPr>
        <p:txBody>
          <a:bodyPr wrap="square" lIns="0" tIns="0" rIns="0" bIns="0" rtlCol="0" anchor="ctr"/>
          <a:lstStyle/>
          <a:p>
            <a:pPr indent="0" marL="0">
              <a:buNone/>
            </a:pPr>
            <a:r>
              <a:rPr lang="en-US" sz="2600" b="1" dirty="0">
                <a:solidFill>
                  <a:schemeClr val="tx1"/>
                </a:solidFill>
              </a:rPr>
              <a:t>Phone</a:t>
            </a:r>
            <a:endParaRPr lang="en-US" sz="2600" dirty="0"/>
          </a:p>
        </p:txBody>
      </p:sp>
      <p:sp>
        <p:nvSpPr>
          <p:cNvPr id="5" name="Text 3"/>
          <p:cNvSpPr txBox="1"/>
          <p:nvPr/>
        </p:nvSpPr>
        <p:spPr>
          <a:xfrm>
            <a:off x="822960" y="2286000"/>
            <a:ext cx="2880360" cy="1234440"/>
          </a:xfrm>
          <a:prstGeom prst="rect">
            <a:avLst/>
          </a:prstGeom>
          <a:noFill/>
          <a:ln/>
        </p:spPr>
        <p:txBody>
          <a:bodyPr wrap="square" lIns="0" tIns="0" rIns="0" bIns="0" rtlCol="0" anchor="ctr"/>
          <a:lstStyle/>
          <a:p>
            <a:pPr indent="0" marL="0">
              <a:buNone/>
            </a:pPr>
            <a:r>
              <a:rPr lang="en-US" sz="1800" dirty="0">
                <a:solidFill>
                  <a:schemeClr val="accent6"/>
                </a:solidFill>
              </a:rPr>
              <a:t>Expo app</a:t>
            </a:r>
            <a:endParaRPr lang="en-US" sz="1800" dirty="0"/>
          </a:p>
          <a:p>
            <a:pPr indent="0" marL="0">
              <a:buNone/>
            </a:pPr>
            <a:r>
              <a:rPr lang="en-US" sz="1800" dirty="0">
                <a:solidFill>
                  <a:schemeClr val="accent6"/>
                </a:solidFill>
              </a:rPr>
              <a:t>Shared game logic</a:t>
            </a:r>
            <a:endParaRPr lang="en-US" sz="1800" dirty="0"/>
          </a:p>
        </p:txBody>
      </p:sp>
      <p:sp>
        <p:nvSpPr>
          <p:cNvPr id="6" name="arrow-0"/>
          <p:cNvSpPr txBox="1"/>
          <p:nvPr/>
        </p:nvSpPr>
        <p:spPr>
          <a:xfrm>
            <a:off x="3840480" y="2194560"/>
            <a:ext cx="685800" cy="640080"/>
          </a:xfrm>
          <a:prstGeom prst="rect">
            <a:avLst/>
          </a:prstGeom>
          <a:noFill/>
          <a:ln/>
        </p:spPr>
        <p:txBody>
          <a:bodyPr wrap="square" lIns="0" tIns="0" rIns="0" bIns="0" rtlCol="0" anchor="ctr"/>
          <a:lstStyle/>
          <a:p>
            <a:pPr algn="ctr" indent="0" marL="0">
              <a:buNone/>
            </a:pPr>
            <a:r>
              <a:rPr lang="en-US" sz="3200" b="1" dirty="0">
                <a:solidFill>
                  <a:schemeClr val="accent1"/>
                </a:solidFill>
              </a:rPr>
              <a:t>→</a:t>
            </a:r>
            <a:endParaRPr lang="en-US" sz="3200" dirty="0"/>
          </a:p>
        </p:txBody>
      </p:sp>
      <p:sp>
        <p:nvSpPr>
          <p:cNvPr id="7" name="arch-API"/>
          <p:cNvSpPr/>
          <p:nvPr/>
        </p:nvSpPr>
        <p:spPr>
          <a:xfrm>
            <a:off x="4480560" y="1371600"/>
            <a:ext cx="3246120" cy="2468880"/>
          </a:xfrm>
          <a:prstGeom prst="roundRect">
            <a:avLst>
              <a:gd name="adj" fmla="val 5926"/>
            </a:avLst>
          </a:prstGeom>
          <a:solidFill>
            <a:schemeClr val="tx2"/>
          </a:solidFill>
          <a:ln/>
          <a:effectLst>
            <a:outerShdw sx="100000" sy="100000" kx="0" ky="0" algn="bl" rotWithShape="0" blurRad="101600" dist="25400" dir="5400000">
              <a:srgbClr val="0B1F3A">
                <a:alpha val="8000"/>
              </a:srgbClr>
            </a:outerShdw>
          </a:effectLst>
        </p:spPr>
      </p:sp>
      <p:sp>
        <p:nvSpPr>
          <p:cNvPr id="8" name="Text 6"/>
          <p:cNvSpPr txBox="1"/>
          <p:nvPr/>
        </p:nvSpPr>
        <p:spPr>
          <a:xfrm>
            <a:off x="4663440" y="1600200"/>
            <a:ext cx="2880360" cy="548640"/>
          </a:xfrm>
          <a:prstGeom prst="rect">
            <a:avLst/>
          </a:prstGeom>
          <a:noFill/>
          <a:ln/>
        </p:spPr>
        <p:txBody>
          <a:bodyPr wrap="square" lIns="0" tIns="0" rIns="0" bIns="0" rtlCol="0" anchor="ctr"/>
          <a:lstStyle/>
          <a:p>
            <a:pPr indent="0" marL="0">
              <a:buNone/>
            </a:pPr>
            <a:r>
              <a:rPr lang="en-US" sz="2600" b="1" dirty="0">
                <a:solidFill>
                  <a:schemeClr val="accent3"/>
                </a:solidFill>
              </a:rPr>
              <a:t>API</a:t>
            </a:r>
            <a:endParaRPr lang="en-US" sz="2600" dirty="0"/>
          </a:p>
        </p:txBody>
      </p:sp>
      <p:sp>
        <p:nvSpPr>
          <p:cNvPr id="9" name="Text 7"/>
          <p:cNvSpPr txBox="1"/>
          <p:nvPr/>
        </p:nvSpPr>
        <p:spPr>
          <a:xfrm>
            <a:off x="4663440" y="2286000"/>
            <a:ext cx="2880360" cy="1234440"/>
          </a:xfrm>
          <a:prstGeom prst="rect">
            <a:avLst/>
          </a:prstGeom>
          <a:noFill/>
          <a:ln/>
        </p:spPr>
        <p:txBody>
          <a:bodyPr wrap="square" lIns="0" tIns="0" rIns="0" bIns="0" rtlCol="0" anchor="ctr"/>
          <a:lstStyle/>
          <a:p>
            <a:pPr indent="0" marL="0">
              <a:buNone/>
            </a:pPr>
            <a:r>
              <a:rPr lang="en-US" sz="1800" dirty="0">
                <a:solidFill>
                  <a:srgbClr val="FFFFFF"/>
                </a:solidFill>
              </a:rPr>
              <a:t>Node /api</a:t>
            </a:r>
            <a:endParaRPr lang="en-US" sz="1800" dirty="0"/>
          </a:p>
          <a:p>
            <a:pPr indent="0" marL="0">
              <a:buNone/>
            </a:pPr>
            <a:r>
              <a:rPr lang="en-US" sz="1800" dirty="0">
                <a:solidFill>
                  <a:srgbClr val="FFFFFF"/>
                </a:solidFill>
              </a:rPr>
              <a:t>Secrets stay here</a:t>
            </a:r>
            <a:endParaRPr lang="en-US" sz="1800" dirty="0"/>
          </a:p>
        </p:txBody>
      </p:sp>
      <p:sp>
        <p:nvSpPr>
          <p:cNvPr id="10" name="arrow-1"/>
          <p:cNvSpPr txBox="1"/>
          <p:nvPr/>
        </p:nvSpPr>
        <p:spPr>
          <a:xfrm>
            <a:off x="7680960" y="2194560"/>
            <a:ext cx="685800" cy="640080"/>
          </a:xfrm>
          <a:prstGeom prst="rect">
            <a:avLst/>
          </a:prstGeom>
          <a:noFill/>
          <a:ln/>
        </p:spPr>
        <p:txBody>
          <a:bodyPr wrap="square" lIns="0" tIns="0" rIns="0" bIns="0" rtlCol="0" anchor="ctr"/>
          <a:lstStyle/>
          <a:p>
            <a:pPr algn="ctr" indent="0" marL="0">
              <a:buNone/>
            </a:pPr>
            <a:r>
              <a:rPr lang="en-US" sz="3200" b="1" dirty="0">
                <a:solidFill>
                  <a:schemeClr val="accent1"/>
                </a:solidFill>
              </a:rPr>
              <a:t>→</a:t>
            </a:r>
            <a:endParaRPr lang="en-US" sz="3200" dirty="0"/>
          </a:p>
        </p:txBody>
      </p:sp>
      <p:sp>
        <p:nvSpPr>
          <p:cNvPr id="11" name="arch-World"/>
          <p:cNvSpPr/>
          <p:nvPr/>
        </p:nvSpPr>
        <p:spPr>
          <a:xfrm>
            <a:off x="8321040" y="1371600"/>
            <a:ext cx="3246120" cy="2468880"/>
          </a:xfrm>
          <a:prstGeom prst="roundRect">
            <a:avLst>
              <a:gd name="adj" fmla="val 5926"/>
            </a:avLst>
          </a:prstGeom>
          <a:solidFill>
            <a:srgbClr val="FFFFFF"/>
          </a:solidFill>
          <a:ln/>
          <a:effectLst>
            <a:outerShdw sx="100000" sy="100000" kx="0" ky="0" algn="bl" rotWithShape="0" blurRad="101600" dist="25400" dir="5400000">
              <a:srgbClr val="0B1F3A">
                <a:alpha val="8000"/>
              </a:srgbClr>
            </a:outerShdw>
          </a:effectLst>
        </p:spPr>
      </p:sp>
      <p:sp>
        <p:nvSpPr>
          <p:cNvPr id="12" name="Text 10"/>
          <p:cNvSpPr txBox="1"/>
          <p:nvPr/>
        </p:nvSpPr>
        <p:spPr>
          <a:xfrm>
            <a:off x="8503920" y="1600200"/>
            <a:ext cx="2880360" cy="548640"/>
          </a:xfrm>
          <a:prstGeom prst="rect">
            <a:avLst/>
          </a:prstGeom>
          <a:noFill/>
          <a:ln/>
        </p:spPr>
        <p:txBody>
          <a:bodyPr wrap="square" lIns="0" tIns="0" rIns="0" bIns="0" rtlCol="0" anchor="ctr"/>
          <a:lstStyle/>
          <a:p>
            <a:pPr indent="0" marL="0">
              <a:buNone/>
            </a:pPr>
            <a:r>
              <a:rPr lang="en-US" sz="2600" b="1" dirty="0">
                <a:solidFill>
                  <a:schemeClr val="tx1"/>
                </a:solidFill>
              </a:rPr>
              <a:t>World</a:t>
            </a:r>
            <a:endParaRPr lang="en-US" sz="2600" dirty="0"/>
          </a:p>
        </p:txBody>
      </p:sp>
      <p:sp>
        <p:nvSpPr>
          <p:cNvPr id="13" name="Text 11"/>
          <p:cNvSpPr txBox="1"/>
          <p:nvPr/>
        </p:nvSpPr>
        <p:spPr>
          <a:xfrm>
            <a:off x="8503920" y="2286000"/>
            <a:ext cx="2880360" cy="1234440"/>
          </a:xfrm>
          <a:prstGeom prst="rect">
            <a:avLst/>
          </a:prstGeom>
          <a:noFill/>
          <a:ln/>
        </p:spPr>
        <p:txBody>
          <a:bodyPr wrap="square" lIns="0" tIns="0" rIns="0" bIns="0" rtlCol="0" anchor="ctr"/>
          <a:lstStyle/>
          <a:p>
            <a:pPr indent="0" marL="0">
              <a:buNone/>
            </a:pPr>
            <a:r>
              <a:rPr lang="en-US" sz="1800" dirty="0">
                <a:solidFill>
                  <a:schemeClr val="accent6"/>
                </a:solidFill>
              </a:rPr>
              <a:t>Wikipedia · OSM</a:t>
            </a:r>
            <a:endParaRPr lang="en-US" sz="1800" dirty="0"/>
          </a:p>
          <a:p>
            <a:pPr indent="0" marL="0">
              <a:buNone/>
            </a:pPr>
            <a:r>
              <a:rPr lang="en-US" sz="1800" dirty="0">
                <a:solidFill>
                  <a:schemeClr val="accent6"/>
                </a:solidFill>
              </a:rPr>
              <a:t>Voice and art optional</a:t>
            </a:r>
            <a:endParaRPr lang="en-US" sz="1800" dirty="0"/>
          </a:p>
        </p:txBody>
      </p:sp>
      <p:sp>
        <p:nvSpPr>
          <p:cNvPr id="14" name="fact-dot-0"/>
          <p:cNvSpPr/>
          <p:nvPr/>
        </p:nvSpPr>
        <p:spPr>
          <a:xfrm>
            <a:off x="685800" y="4270248"/>
            <a:ext cx="256032" cy="256032"/>
          </a:xfrm>
          <a:prstGeom prst="ellipse">
            <a:avLst/>
          </a:prstGeom>
          <a:solidFill>
            <a:schemeClr val="accent2"/>
          </a:solidFill>
          <a:ln/>
        </p:spPr>
      </p:sp>
      <p:sp>
        <p:nvSpPr>
          <p:cNvPr id="15" name="Text 13"/>
          <p:cNvSpPr txBox="1"/>
          <p:nvPr/>
        </p:nvSpPr>
        <p:spPr>
          <a:xfrm>
            <a:off x="1097280" y="4160520"/>
            <a:ext cx="10424160" cy="502920"/>
          </a:xfrm>
          <a:prstGeom prst="rect">
            <a:avLst/>
          </a:prstGeom>
          <a:noFill/>
          <a:ln/>
        </p:spPr>
        <p:txBody>
          <a:bodyPr wrap="square" lIns="0" tIns="0" rIns="0" bIns="0" rtlCol="0" anchor="ctr"/>
          <a:lstStyle/>
          <a:p>
            <a:pPr indent="0" marL="0">
              <a:buNone/>
            </a:pPr>
            <a:r>
              <a:rPr lang="en-US" sz="2000" dirty="0">
                <a:solidFill>
                  <a:schemeClr val="tx1"/>
                </a:solidFill>
              </a:rPr>
              <a:t>Facts and routes come from tools, not the model.</a:t>
            </a:r>
            <a:endParaRPr lang="en-US" sz="2000" dirty="0"/>
          </a:p>
        </p:txBody>
      </p:sp>
      <p:sp>
        <p:nvSpPr>
          <p:cNvPr id="16" name="fact-dot-1"/>
          <p:cNvSpPr/>
          <p:nvPr/>
        </p:nvSpPr>
        <p:spPr>
          <a:xfrm>
            <a:off x="685800" y="4910328"/>
            <a:ext cx="256032" cy="256032"/>
          </a:xfrm>
          <a:prstGeom prst="ellipse">
            <a:avLst/>
          </a:prstGeom>
          <a:solidFill>
            <a:schemeClr val="accent2"/>
          </a:solidFill>
          <a:ln/>
        </p:spPr>
      </p:sp>
      <p:sp>
        <p:nvSpPr>
          <p:cNvPr id="17" name="Text 15"/>
          <p:cNvSpPr txBox="1"/>
          <p:nvPr/>
        </p:nvSpPr>
        <p:spPr>
          <a:xfrm>
            <a:off x="1097280" y="4800600"/>
            <a:ext cx="10424160" cy="502920"/>
          </a:xfrm>
          <a:prstGeom prst="rect">
            <a:avLst/>
          </a:prstGeom>
          <a:noFill/>
          <a:ln/>
        </p:spPr>
        <p:txBody>
          <a:bodyPr wrap="square" lIns="0" tIns="0" rIns="0" bIns="0" rtlCol="0" anchor="ctr"/>
          <a:lstStyle/>
          <a:p>
            <a:pPr indent="0" marL="0">
              <a:buNone/>
            </a:pPr>
            <a:r>
              <a:rPr lang="en-US" sz="2000" dirty="0">
                <a:solidFill>
                  <a:schemeClr val="tx1"/>
                </a:solidFill>
              </a:rPr>
              <a:t>Photon carries the same squad into iMessage.</a:t>
            </a:r>
            <a:endParaRPr lang="en-US" sz="2000" dirty="0"/>
          </a:p>
        </p:txBody>
      </p:sp>
      <p:sp>
        <p:nvSpPr>
          <p:cNvPr id="18" name="fact-dot-2"/>
          <p:cNvSpPr/>
          <p:nvPr/>
        </p:nvSpPr>
        <p:spPr>
          <a:xfrm>
            <a:off x="685800" y="5550408"/>
            <a:ext cx="256032" cy="256032"/>
          </a:xfrm>
          <a:prstGeom prst="ellipse">
            <a:avLst/>
          </a:prstGeom>
          <a:solidFill>
            <a:schemeClr val="accent2"/>
          </a:solidFill>
          <a:ln/>
        </p:spPr>
      </p:sp>
      <p:sp>
        <p:nvSpPr>
          <p:cNvPr id="19" name="Text 17"/>
          <p:cNvSpPr txBox="1"/>
          <p:nvPr/>
        </p:nvSpPr>
        <p:spPr>
          <a:xfrm>
            <a:off x="1097280" y="5440680"/>
            <a:ext cx="10424160" cy="502920"/>
          </a:xfrm>
          <a:prstGeom prst="rect">
            <a:avLst/>
          </a:prstGeom>
          <a:noFill/>
          <a:ln/>
        </p:spPr>
        <p:txBody>
          <a:bodyPr wrap="square" lIns="0" tIns="0" rIns="0" bIns="0" rtlCol="0" anchor="ctr"/>
          <a:lstStyle/>
          <a:p>
            <a:pPr indent="0" marL="0">
              <a:buNone/>
            </a:pPr>
            <a:r>
              <a:rPr lang="en-US" sz="2000" dirty="0">
                <a:solidFill>
                  <a:schemeClr val="tx1"/>
                </a:solidFill>
              </a:rPr>
              <a:t>Designed and iterated in Cursor.</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ph idx="100" type="title" hasCustomPrompt="1"/>
          </p:nvPr>
        </p:nvSpPr>
        <p:spPr>
          <a:xfrm>
            <a:off x="548640" y="256032"/>
            <a:ext cx="11064240" cy="658368"/>
          </a:xfrm>
          <a:prstGeom prst="rect">
            <a:avLst/>
          </a:prstGeom>
          <a:noFill/>
          <a:ln/>
        </p:spPr>
        <p:txBody>
          <a:bodyPr wrap="square" lIns="0" tIns="0" rIns="0" bIns="0" rtlCol="0" anchor="ctr"/>
          <a:lstStyle/>
          <a:p>
            <a:pPr algn="l" indent="0" marL="0">
              <a:buNone/>
            </a:pPr>
            <a:r>
              <a:rPr lang="en-US" sz="3600" b="1" dirty="0">
                <a:solidFill>
                  <a:schemeClr val="tx1"/>
                </a:solidFill>
              </a:rPr>
              <a:t>Walking becomes play</a:t>
            </a:r>
            <a:endParaRPr lang="en-US" sz="3600" dirty="0"/>
          </a:p>
        </p:txBody>
      </p:sp>
      <p:sp>
        <p:nvSpPr>
          <p:cNvPr id="3" name="special-0"/>
          <p:cNvSpPr/>
          <p:nvPr/>
        </p:nvSpPr>
        <p:spPr>
          <a:xfrm>
            <a:off x="502920" y="1097280"/>
            <a:ext cx="3657600" cy="3794760"/>
          </a:xfrm>
          <a:prstGeom prst="roundRect">
            <a:avLst>
              <a:gd name="adj" fmla="val 4000"/>
            </a:avLst>
          </a:prstGeom>
          <a:solidFill>
            <a:srgbClr val="FFFFFF"/>
          </a:solidFill>
          <a:ln/>
          <a:effectLst>
            <a:outerShdw sx="100000" sy="100000" kx="0" ky="0" algn="bl" rotWithShape="0" blurRad="101600" dist="25400" dir="5400000">
              <a:srgbClr val="0B1F3A">
                <a:alpha val="8000"/>
              </a:srgbClr>
            </a:outerShdw>
          </a:effectLst>
        </p:spPr>
      </p:sp>
      <p:pic>
        <p:nvPicPr>
          <p:cNvPr id="4" name="special-art-0" descr="G:\broswer download\big-red-hacks2026\mobile\assets\splash-icon.png">    </p:cNvPr>
          <p:cNvPicPr>
            <a:picLocks noChangeAspect="1"/>
          </p:cNvPicPr>
          <p:nvPr/>
        </p:nvPicPr>
        <p:blipFill>
          <a:blip r:embed="rId1"/>
          <a:stretch>
            <a:fillRect/>
          </a:stretch>
        </p:blipFill>
        <p:spPr>
          <a:xfrm>
            <a:off x="1600200" y="1280160"/>
            <a:ext cx="1417320" cy="1417320"/>
          </a:xfrm>
          <a:prstGeom prst="rect">
            <a:avLst/>
          </a:prstGeom>
        </p:spPr>
      </p:pic>
      <p:sp>
        <p:nvSpPr>
          <p:cNvPr id="5" name="Text 2"/>
          <p:cNvSpPr txBox="1"/>
          <p:nvPr/>
        </p:nvSpPr>
        <p:spPr>
          <a:xfrm>
            <a:off x="704088" y="2834640"/>
            <a:ext cx="3246120" cy="640080"/>
          </a:xfrm>
          <a:prstGeom prst="rect">
            <a:avLst/>
          </a:prstGeom>
          <a:noFill/>
          <a:ln/>
        </p:spPr>
        <p:txBody>
          <a:bodyPr wrap="square" lIns="0" tIns="0" rIns="0" bIns="0" rtlCol="0" anchor="ctr"/>
          <a:lstStyle/>
          <a:p>
            <a:pPr indent="0" marL="0">
              <a:buNone/>
            </a:pPr>
            <a:r>
              <a:rPr lang="en-US" sz="2000" b="1" dirty="0">
                <a:solidFill>
                  <a:schemeClr val="tx1"/>
                </a:solidFill>
              </a:rPr>
              <a:t>The map is a trail</a:t>
            </a:r>
            <a:endParaRPr lang="en-US" sz="2000" dirty="0"/>
          </a:p>
        </p:txBody>
      </p:sp>
      <p:sp>
        <p:nvSpPr>
          <p:cNvPr id="6" name="Text 3"/>
          <p:cNvSpPr txBox="1"/>
          <p:nvPr/>
        </p:nvSpPr>
        <p:spPr>
          <a:xfrm>
            <a:off x="704088" y="3520440"/>
            <a:ext cx="3246120" cy="1097280"/>
          </a:xfrm>
          <a:prstGeom prst="rect">
            <a:avLst/>
          </a:prstGeom>
          <a:noFill/>
          <a:ln/>
        </p:spPr>
        <p:txBody>
          <a:bodyPr wrap="square" lIns="0" tIns="0" rIns="0" bIns="0" rtlCol="0" anchor="ctr"/>
          <a:lstStyle/>
          <a:p>
            <a:pPr indent="0" marL="0">
              <a:buNone/>
            </a:pPr>
            <a:r>
              <a:rPr lang="en-US" sz="1600" dirty="0">
                <a:solidFill>
                  <a:schemeClr val="accent6"/>
                </a:solidFill>
              </a:rPr>
              <a:t>A blooming path and a squad, not only a blue line.</a:t>
            </a:r>
            <a:endParaRPr lang="en-US" sz="1600" dirty="0"/>
          </a:p>
        </p:txBody>
      </p:sp>
      <p:sp>
        <p:nvSpPr>
          <p:cNvPr id="7" name="special-1"/>
          <p:cNvSpPr/>
          <p:nvPr/>
        </p:nvSpPr>
        <p:spPr>
          <a:xfrm>
            <a:off x="4343400" y="1097280"/>
            <a:ext cx="3657600" cy="3794760"/>
          </a:xfrm>
          <a:prstGeom prst="roundRect">
            <a:avLst>
              <a:gd name="adj" fmla="val 4000"/>
            </a:avLst>
          </a:prstGeom>
          <a:solidFill>
            <a:srgbClr val="FFFFFF"/>
          </a:solidFill>
          <a:ln/>
          <a:effectLst>
            <a:outerShdw sx="100000" sy="100000" kx="0" ky="0" algn="bl" rotWithShape="0" blurRad="101600" dist="25400" dir="5400000">
              <a:srgbClr val="0B1F3A">
                <a:alpha val="8000"/>
              </a:srgbClr>
            </a:outerShdw>
          </a:effectLst>
        </p:spPr>
      </p:sp>
      <p:pic>
        <p:nvPicPr>
          <p:cNvPr id="8" name="special-art-1" descr="G:\broswer download\big-red-hacks2026\mobile\assets\badges\gold.png">    </p:cNvPr>
          <p:cNvPicPr>
            <a:picLocks noChangeAspect="1"/>
          </p:cNvPicPr>
          <p:nvPr/>
        </p:nvPicPr>
        <p:blipFill>
          <a:blip r:embed="rId2"/>
          <a:stretch>
            <a:fillRect/>
          </a:stretch>
        </p:blipFill>
        <p:spPr>
          <a:xfrm>
            <a:off x="5440680" y="1280160"/>
            <a:ext cx="1417320" cy="1417320"/>
          </a:xfrm>
          <a:prstGeom prst="rect">
            <a:avLst/>
          </a:prstGeom>
        </p:spPr>
      </p:pic>
      <p:sp>
        <p:nvSpPr>
          <p:cNvPr id="9" name="Text 5"/>
          <p:cNvSpPr txBox="1"/>
          <p:nvPr/>
        </p:nvSpPr>
        <p:spPr>
          <a:xfrm>
            <a:off x="4544568" y="2834640"/>
            <a:ext cx="3246120" cy="640080"/>
          </a:xfrm>
          <a:prstGeom prst="rect">
            <a:avLst/>
          </a:prstGeom>
          <a:noFill/>
          <a:ln/>
        </p:spPr>
        <p:txBody>
          <a:bodyPr wrap="square" lIns="0" tIns="0" rIns="0" bIns="0" rtlCol="0" anchor="ctr"/>
          <a:lstStyle/>
          <a:p>
            <a:pPr indent="0" marL="0">
              <a:buNone/>
            </a:pPr>
            <a:r>
              <a:rPr lang="en-US" sz="2000" b="1" dirty="0">
                <a:solidFill>
                  <a:schemeClr val="tx1"/>
                </a:solidFill>
              </a:rPr>
              <a:t>Steps earn creatures</a:t>
            </a:r>
            <a:endParaRPr lang="en-US" sz="2000" dirty="0"/>
          </a:p>
        </p:txBody>
      </p:sp>
      <p:sp>
        <p:nvSpPr>
          <p:cNvPr id="10" name="Text 6"/>
          <p:cNvSpPr txBox="1"/>
          <p:nvPr/>
        </p:nvSpPr>
        <p:spPr>
          <a:xfrm>
            <a:off x="4544568" y="3520440"/>
            <a:ext cx="3246120" cy="1097280"/>
          </a:xfrm>
          <a:prstGeom prst="rect">
            <a:avLst/>
          </a:prstGeom>
          <a:noFill/>
          <a:ln/>
        </p:spPr>
        <p:txBody>
          <a:bodyPr wrap="square" lIns="0" tIns="0" rIns="0" bIns="0" rtlCol="0" anchor="ctr"/>
          <a:lstStyle/>
          <a:p>
            <a:pPr indent="0" marL="0">
              <a:buNone/>
            </a:pPr>
            <a:r>
              <a:rPr lang="en-US" sz="1600" dirty="0">
                <a:solidFill>
                  <a:schemeClr val="accent6"/>
                </a:solidFill>
              </a:rPr>
              <a:t>Eggs, ranks, and captures — completable in Demo Walk.</a:t>
            </a:r>
            <a:endParaRPr lang="en-US" sz="1600" dirty="0"/>
          </a:p>
        </p:txBody>
      </p:sp>
      <p:sp>
        <p:nvSpPr>
          <p:cNvPr id="11" name="special-2"/>
          <p:cNvSpPr/>
          <p:nvPr/>
        </p:nvSpPr>
        <p:spPr>
          <a:xfrm>
            <a:off x="8183880" y="1097280"/>
            <a:ext cx="3657600" cy="3794760"/>
          </a:xfrm>
          <a:prstGeom prst="roundRect">
            <a:avLst>
              <a:gd name="adj" fmla="val 4000"/>
            </a:avLst>
          </a:prstGeom>
          <a:solidFill>
            <a:srgbClr val="FFFFFF"/>
          </a:solidFill>
          <a:ln/>
          <a:effectLst>
            <a:outerShdw sx="100000" sy="100000" kx="0" ky="0" algn="bl" rotWithShape="0" blurRad="101600" dist="25400" dir="5400000">
              <a:srgbClr val="0B1F3A">
                <a:alpha val="8000"/>
              </a:srgbClr>
            </a:outerShdw>
          </a:effectLst>
        </p:spPr>
      </p:sp>
      <p:pic>
        <p:nvPicPr>
          <p:cNvPr id="12" name="special-art-2" descr="G:\broswer download\big-red-hacks2026\docs\presentation\assets\scout.png">    </p:cNvPr>
          <p:cNvPicPr>
            <a:picLocks noChangeAspect="1"/>
          </p:cNvPicPr>
          <p:nvPr/>
        </p:nvPicPr>
        <p:blipFill>
          <a:blip r:embed="rId3"/>
          <a:stretch>
            <a:fillRect/>
          </a:stretch>
        </p:blipFill>
        <p:spPr>
          <a:xfrm>
            <a:off x="9281160" y="1280160"/>
            <a:ext cx="1417320" cy="1417320"/>
          </a:xfrm>
          <a:prstGeom prst="rect">
            <a:avLst/>
          </a:prstGeom>
        </p:spPr>
      </p:pic>
      <p:sp>
        <p:nvSpPr>
          <p:cNvPr id="13" name="Text 8"/>
          <p:cNvSpPr txBox="1"/>
          <p:nvPr/>
        </p:nvSpPr>
        <p:spPr>
          <a:xfrm>
            <a:off x="8385048" y="2834640"/>
            <a:ext cx="3246120" cy="640080"/>
          </a:xfrm>
          <a:prstGeom prst="rect">
            <a:avLst/>
          </a:prstGeom>
          <a:noFill/>
          <a:ln/>
        </p:spPr>
        <p:txBody>
          <a:bodyPr wrap="square" lIns="0" tIns="0" rIns="0" bIns="0" rtlCol="0" anchor="ctr"/>
          <a:lstStyle/>
          <a:p>
            <a:pPr indent="0" marL="0">
              <a:buNone/>
            </a:pPr>
            <a:r>
              <a:rPr lang="en-US" sz="2000" b="1" dirty="0">
                <a:solidFill>
                  <a:schemeClr val="tx1"/>
                </a:solidFill>
              </a:rPr>
              <a:t>It continues in iMessage</a:t>
            </a:r>
            <a:endParaRPr lang="en-US" sz="2000" dirty="0"/>
          </a:p>
        </p:txBody>
      </p:sp>
      <p:sp>
        <p:nvSpPr>
          <p:cNvPr id="14" name="Text 9"/>
          <p:cNvSpPr txBox="1"/>
          <p:nvPr/>
        </p:nvSpPr>
        <p:spPr>
          <a:xfrm>
            <a:off x="8385048" y="3520440"/>
            <a:ext cx="3246120" cy="1097280"/>
          </a:xfrm>
          <a:prstGeom prst="rect">
            <a:avLst/>
          </a:prstGeom>
          <a:noFill/>
          <a:ln/>
        </p:spPr>
        <p:txBody>
          <a:bodyPr wrap="square" lIns="0" tIns="0" rIns="0" bIns="0" rtlCol="0" anchor="ctr"/>
          <a:lstStyle/>
          <a:p>
            <a:pPr indent="0" marL="0">
              <a:buNone/>
            </a:pPr>
            <a:r>
              <a:rPr lang="en-US" sz="1600" dirty="0">
                <a:solidFill>
                  <a:schemeClr val="accent6"/>
                </a:solidFill>
              </a:rPr>
              <a:t>Same squad over Photon. Terminal today; iMessage with keys.</a:t>
            </a:r>
            <a:endParaRPr lang="en-US" sz="1600" dirty="0"/>
          </a:p>
        </p:txBody>
      </p:sp>
      <p:sp>
        <p:nvSpPr>
          <p:cNvPr id="15" name="working"/>
          <p:cNvSpPr/>
          <p:nvPr/>
        </p:nvSpPr>
        <p:spPr>
          <a:xfrm>
            <a:off x="502920" y="5074920"/>
            <a:ext cx="5532120" cy="1188720"/>
          </a:xfrm>
          <a:prstGeom prst="roundRect">
            <a:avLst>
              <a:gd name="adj" fmla="val 12308"/>
            </a:avLst>
          </a:prstGeom>
          <a:solidFill>
            <a:schemeClr val="bg2"/>
          </a:solidFill>
          <a:ln/>
          <a:effectLst>
            <a:outerShdw sx="100000" sy="100000" kx="0" ky="0" algn="bl" rotWithShape="0" blurRad="101600" dist="25400" dir="5400000">
              <a:srgbClr val="0B1F3A">
                <a:alpha val="8000"/>
              </a:srgbClr>
            </a:outerShdw>
          </a:effectLst>
        </p:spPr>
      </p:sp>
      <p:sp>
        <p:nvSpPr>
          <p:cNvPr id="16" name="Text 11"/>
          <p:cNvSpPr txBox="1"/>
          <p:nvPr/>
        </p:nvSpPr>
        <p:spPr>
          <a:xfrm>
            <a:off x="685800" y="5257800"/>
            <a:ext cx="5166360" cy="822960"/>
          </a:xfrm>
          <a:prstGeom prst="rect">
            <a:avLst/>
          </a:prstGeom>
          <a:noFill/>
          <a:ln/>
        </p:spPr>
        <p:txBody>
          <a:bodyPr wrap="square" lIns="0" tIns="0" rIns="0" bIns="0" rtlCol="0" anchor="ctr"/>
          <a:lstStyle/>
          <a:p>
            <a:pPr indent="0" marL="0">
              <a:buNone/>
            </a:pPr>
            <a:r>
              <a:rPr lang="en-US" sz="1600" dirty="0">
                <a:solidFill>
                  <a:schemeClr val="tx1"/>
                </a:solidFill>
              </a:rPr>
              <a:t>Working  ·  ISS overhead can boost rare hatches.</a:t>
            </a:r>
            <a:endParaRPr lang="en-US" sz="1600" dirty="0"/>
          </a:p>
        </p:txBody>
      </p:sp>
      <p:sp>
        <p:nvSpPr>
          <p:cNvPr id="17" name="later"/>
          <p:cNvSpPr/>
          <p:nvPr/>
        </p:nvSpPr>
        <p:spPr>
          <a:xfrm>
            <a:off x="6217920" y="5074920"/>
            <a:ext cx="5440680" cy="1188720"/>
          </a:xfrm>
          <a:prstGeom prst="roundRect">
            <a:avLst>
              <a:gd name="adj" fmla="val 12308"/>
            </a:avLst>
          </a:prstGeom>
          <a:solidFill>
            <a:srgbClr val="E8F5FF"/>
          </a:solidFill>
          <a:ln/>
          <a:effectLst>
            <a:outerShdw sx="100000" sy="100000" kx="0" ky="0" algn="bl" rotWithShape="0" blurRad="101600" dist="25400" dir="5400000">
              <a:srgbClr val="0B1F3A">
                <a:alpha val="8000"/>
              </a:srgbClr>
            </a:outerShdw>
          </a:effectLst>
        </p:spPr>
      </p:sp>
      <p:sp>
        <p:nvSpPr>
          <p:cNvPr id="18" name="Text 13"/>
          <p:cNvSpPr txBox="1"/>
          <p:nvPr/>
        </p:nvSpPr>
        <p:spPr>
          <a:xfrm>
            <a:off x="6400800" y="5257800"/>
            <a:ext cx="5074920" cy="822960"/>
          </a:xfrm>
          <a:prstGeom prst="rect">
            <a:avLst/>
          </a:prstGeom>
          <a:noFill/>
          <a:ln/>
        </p:spPr>
        <p:txBody>
          <a:bodyPr wrap="square" lIns="0" tIns="0" rIns="0" bIns="0" rtlCol="0" anchor="ctr"/>
          <a:lstStyle/>
          <a:p>
            <a:pPr indent="0" marL="0">
              <a:buNone/>
            </a:pPr>
            <a:r>
              <a:rPr lang="en-US" sz="1600" dirty="0">
                <a:solidFill>
                  <a:schemeClr val="accent6"/>
                </a:solidFill>
              </a:rPr>
              <a:t>Later  ·  live Grok without a key, cloud deploy, background tracking.</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ph idx="100" type="title" hasCustomPrompt="1"/>
          </p:nvPr>
        </p:nvSpPr>
        <p:spPr>
          <a:xfrm>
            <a:off x="548640" y="256032"/>
            <a:ext cx="11064240" cy="658368"/>
          </a:xfrm>
          <a:prstGeom prst="rect">
            <a:avLst/>
          </a:prstGeom>
          <a:noFill/>
          <a:ln/>
        </p:spPr>
        <p:txBody>
          <a:bodyPr wrap="square" lIns="0" tIns="0" rIns="0" bIns="0" rtlCol="0" anchor="ctr"/>
          <a:lstStyle/>
          <a:p>
            <a:pPr algn="l" indent="0" marL="0">
              <a:buNone/>
            </a:pPr>
            <a:r>
              <a:rPr lang="en-US" sz="3600" b="1" dirty="0">
                <a:solidFill>
                  <a:schemeClr val="tx1"/>
                </a:solidFill>
              </a:rPr>
              <a:t>Everyday walks. Extraordinary company.</a:t>
            </a:r>
            <a:endParaRPr lang="en-US" sz="3600" dirty="0"/>
          </a:p>
        </p:txBody>
      </p:sp>
      <p:sp>
        <p:nvSpPr>
          <p:cNvPr id="3" name="Text 1"/>
          <p:cNvSpPr txBox="1"/>
          <p:nvPr/>
        </p:nvSpPr>
        <p:spPr>
          <a:xfrm>
            <a:off x="548640" y="1005840"/>
            <a:ext cx="11064240" cy="411480"/>
          </a:xfrm>
          <a:prstGeom prst="rect">
            <a:avLst/>
          </a:prstGeom>
          <a:noFill/>
          <a:ln/>
        </p:spPr>
        <p:txBody>
          <a:bodyPr wrap="square" lIns="0" tIns="0" rIns="0" bIns="0" rtlCol="0" anchor="ctr"/>
          <a:lstStyle/>
          <a:p>
            <a:pPr indent="0" marL="0">
              <a:buNone/>
            </a:pPr>
            <a:r>
              <a:rPr lang="en-US" sz="1800" dirty="0">
                <a:solidFill>
                  <a:schemeClr val="accent5"/>
                </a:solidFill>
              </a:rPr>
              <a:t>Campus, hometown blocks, the path between classes — same loop.</a:t>
            </a:r>
            <a:endParaRPr lang="en-US" sz="1800" dirty="0"/>
          </a:p>
        </p:txBody>
      </p:sp>
      <p:sp>
        <p:nvSpPr>
          <p:cNvPr id="4" name="Text 2"/>
          <p:cNvSpPr txBox="1"/>
          <p:nvPr/>
        </p:nvSpPr>
        <p:spPr>
          <a:xfrm>
            <a:off x="548640" y="155448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Planned next — not shipped</a:t>
            </a:r>
            <a:endParaRPr lang="en-US" sz="1600" dirty="0"/>
          </a:p>
        </p:txBody>
      </p:sp>
      <p:sp>
        <p:nvSpPr>
          <p:cNvPr id="5" name="next-0"/>
          <p:cNvSpPr/>
          <p:nvPr/>
        </p:nvSpPr>
        <p:spPr>
          <a:xfrm>
            <a:off x="548640" y="2057400"/>
            <a:ext cx="3611880" cy="2148840"/>
          </a:xfrm>
          <a:prstGeom prst="roundRect">
            <a:avLst>
              <a:gd name="adj" fmla="val 6809"/>
            </a:avLst>
          </a:prstGeom>
          <a:solidFill>
            <a:srgbClr val="FFFFFF"/>
          </a:solidFill>
          <a:ln/>
          <a:effectLst>
            <a:outerShdw sx="100000" sy="100000" kx="0" ky="0" algn="bl" rotWithShape="0" blurRad="101600" dist="25400" dir="5400000">
              <a:srgbClr val="0B1F3A">
                <a:alpha val="8000"/>
              </a:srgbClr>
            </a:outerShdw>
          </a:effectLst>
        </p:spPr>
      </p:sp>
      <p:sp>
        <p:nvSpPr>
          <p:cNvPr id="6" name="Text 4"/>
          <p:cNvSpPr txBox="1"/>
          <p:nvPr/>
        </p:nvSpPr>
        <p:spPr>
          <a:xfrm>
            <a:off x="749808" y="2286000"/>
            <a:ext cx="3200400" cy="777240"/>
          </a:xfrm>
          <a:prstGeom prst="rect">
            <a:avLst/>
          </a:prstGeom>
          <a:noFill/>
          <a:ln/>
        </p:spPr>
        <p:txBody>
          <a:bodyPr wrap="square" lIns="0" tIns="0" rIns="0" bIns="0" rtlCol="0" anchor="ctr"/>
          <a:lstStyle/>
          <a:p>
            <a:pPr indent="0" marL="0">
              <a:buNone/>
            </a:pPr>
            <a:r>
              <a:rPr lang="en-US" sz="2000" b="1" dirty="0">
                <a:solidFill>
                  <a:schemeClr val="tx1"/>
                </a:solidFill>
              </a:rPr>
              <a:t>Background tracking</a:t>
            </a:r>
            <a:endParaRPr lang="en-US" sz="2000" dirty="0"/>
          </a:p>
        </p:txBody>
      </p:sp>
      <p:sp>
        <p:nvSpPr>
          <p:cNvPr id="7" name="Text 5"/>
          <p:cNvSpPr txBox="1"/>
          <p:nvPr/>
        </p:nvSpPr>
        <p:spPr>
          <a:xfrm>
            <a:off x="749808" y="3108960"/>
            <a:ext cx="3200400" cy="822960"/>
          </a:xfrm>
          <a:prstGeom prst="rect">
            <a:avLst/>
          </a:prstGeom>
          <a:noFill/>
          <a:ln/>
        </p:spPr>
        <p:txBody>
          <a:bodyPr wrap="square" lIns="0" tIns="0" rIns="0" bIns="0" rtlCol="0" anchor="ctr"/>
          <a:lstStyle/>
          <a:p>
            <a:pPr indent="0" marL="0">
              <a:buNone/>
            </a:pPr>
            <a:r>
              <a:rPr lang="en-US" sz="1600" dirty="0">
                <a:solidFill>
                  <a:schemeClr val="accent6"/>
                </a:solidFill>
              </a:rPr>
              <a:t>Honest walks with the phone in a pocket.</a:t>
            </a:r>
            <a:endParaRPr lang="en-US" sz="1600" dirty="0"/>
          </a:p>
        </p:txBody>
      </p:sp>
      <p:sp>
        <p:nvSpPr>
          <p:cNvPr id="8" name="next-1"/>
          <p:cNvSpPr/>
          <p:nvPr/>
        </p:nvSpPr>
        <p:spPr>
          <a:xfrm>
            <a:off x="4343400" y="2057400"/>
            <a:ext cx="3611880" cy="2148840"/>
          </a:xfrm>
          <a:prstGeom prst="roundRect">
            <a:avLst>
              <a:gd name="adj" fmla="val 6809"/>
            </a:avLst>
          </a:prstGeom>
          <a:solidFill>
            <a:srgbClr val="FFFFFF"/>
          </a:solidFill>
          <a:ln/>
          <a:effectLst>
            <a:outerShdw sx="100000" sy="100000" kx="0" ky="0" algn="bl" rotWithShape="0" blurRad="101600" dist="25400" dir="5400000">
              <a:srgbClr val="0B1F3A">
                <a:alpha val="8000"/>
              </a:srgbClr>
            </a:outerShdw>
          </a:effectLst>
        </p:spPr>
      </p:sp>
      <p:sp>
        <p:nvSpPr>
          <p:cNvPr id="9" name="Text 7"/>
          <p:cNvSpPr txBox="1"/>
          <p:nvPr/>
        </p:nvSpPr>
        <p:spPr>
          <a:xfrm>
            <a:off x="4544568" y="2286000"/>
            <a:ext cx="3200400" cy="777240"/>
          </a:xfrm>
          <a:prstGeom prst="rect">
            <a:avLst/>
          </a:prstGeom>
          <a:noFill/>
          <a:ln/>
        </p:spPr>
        <p:txBody>
          <a:bodyPr wrap="square" lIns="0" tIns="0" rIns="0" bIns="0" rtlCol="0" anchor="ctr"/>
          <a:lstStyle/>
          <a:p>
            <a:pPr indent="0" marL="0">
              <a:buNone/>
            </a:pPr>
            <a:r>
              <a:rPr lang="en-US" sz="2000" b="1" dirty="0">
                <a:solidFill>
                  <a:schemeClr val="tx1"/>
                </a:solidFill>
              </a:rPr>
              <a:t>A deploy that stays awake</a:t>
            </a:r>
            <a:endParaRPr lang="en-US" sz="2000" dirty="0"/>
          </a:p>
        </p:txBody>
      </p:sp>
      <p:sp>
        <p:nvSpPr>
          <p:cNvPr id="10" name="Text 8"/>
          <p:cNvSpPr txBox="1"/>
          <p:nvPr/>
        </p:nvSpPr>
        <p:spPr>
          <a:xfrm>
            <a:off x="4544568" y="3108960"/>
            <a:ext cx="3200400" cy="822960"/>
          </a:xfrm>
          <a:prstGeom prst="rect">
            <a:avLst/>
          </a:prstGeom>
          <a:noFill/>
          <a:ln/>
        </p:spPr>
        <p:txBody>
          <a:bodyPr wrap="square" lIns="0" tIns="0" rIns="0" bIns="0" rtlCol="0" anchor="ctr"/>
          <a:lstStyle/>
          <a:p>
            <a:pPr indent="0" marL="0">
              <a:buNone/>
            </a:pPr>
            <a:r>
              <a:rPr lang="en-US" sz="1600" dirty="0">
                <a:solidFill>
                  <a:schemeClr val="accent6"/>
                </a:solidFill>
              </a:rPr>
              <a:t>Grok and turf up for a whole event.</a:t>
            </a:r>
            <a:endParaRPr lang="en-US" sz="1600" dirty="0"/>
          </a:p>
        </p:txBody>
      </p:sp>
      <p:sp>
        <p:nvSpPr>
          <p:cNvPr id="11" name="next-2"/>
          <p:cNvSpPr/>
          <p:nvPr/>
        </p:nvSpPr>
        <p:spPr>
          <a:xfrm>
            <a:off x="8138160" y="2057400"/>
            <a:ext cx="3611880" cy="2148840"/>
          </a:xfrm>
          <a:prstGeom prst="roundRect">
            <a:avLst>
              <a:gd name="adj" fmla="val 6809"/>
            </a:avLst>
          </a:prstGeom>
          <a:solidFill>
            <a:srgbClr val="FFFFFF"/>
          </a:solidFill>
          <a:ln/>
          <a:effectLst>
            <a:outerShdw sx="100000" sy="100000" kx="0" ky="0" algn="bl" rotWithShape="0" blurRad="101600" dist="25400" dir="5400000">
              <a:srgbClr val="0B1F3A">
                <a:alpha val="8000"/>
              </a:srgbClr>
            </a:outerShdw>
          </a:effectLst>
        </p:spPr>
      </p:sp>
      <p:sp>
        <p:nvSpPr>
          <p:cNvPr id="12" name="Text 10"/>
          <p:cNvSpPr txBox="1"/>
          <p:nvPr/>
        </p:nvSpPr>
        <p:spPr>
          <a:xfrm>
            <a:off x="8339328" y="2286000"/>
            <a:ext cx="3200400" cy="777240"/>
          </a:xfrm>
          <a:prstGeom prst="rect">
            <a:avLst/>
          </a:prstGeom>
          <a:noFill/>
          <a:ln/>
        </p:spPr>
        <p:txBody>
          <a:bodyPr wrap="square" lIns="0" tIns="0" rIns="0" bIns="0" rtlCol="0" anchor="ctr"/>
          <a:lstStyle/>
          <a:p>
            <a:pPr indent="0" marL="0">
              <a:buNone/>
            </a:pPr>
            <a:r>
              <a:rPr lang="en-US" sz="2000" b="1" dirty="0">
                <a:solidFill>
                  <a:schemeClr val="tx1"/>
                </a:solidFill>
              </a:rPr>
              <a:t>Richer social exploration</a:t>
            </a:r>
            <a:endParaRPr lang="en-US" sz="2000" dirty="0"/>
          </a:p>
        </p:txBody>
      </p:sp>
      <p:sp>
        <p:nvSpPr>
          <p:cNvPr id="13" name="Text 11"/>
          <p:cNvSpPr txBox="1"/>
          <p:nvPr/>
        </p:nvSpPr>
        <p:spPr>
          <a:xfrm>
            <a:off x="8339328" y="3108960"/>
            <a:ext cx="3200400" cy="822960"/>
          </a:xfrm>
          <a:prstGeom prst="rect">
            <a:avLst/>
          </a:prstGeom>
          <a:noFill/>
          <a:ln/>
        </p:spPr>
        <p:txBody>
          <a:bodyPr wrap="square" lIns="0" tIns="0" rIns="0" bIns="0" rtlCol="0" anchor="ctr"/>
          <a:lstStyle/>
          <a:p>
            <a:pPr indent="0" marL="0">
              <a:buNone/>
            </a:pPr>
            <a:r>
              <a:rPr lang="en-US" sz="1600" dirty="0">
                <a:solidFill>
                  <a:schemeClr val="accent6"/>
                </a:solidFill>
              </a:rPr>
              <a:t>Shared landmarks without a grind.</a:t>
            </a:r>
            <a:endParaRPr lang="en-US" sz="1600" dirty="0"/>
          </a:p>
        </p:txBody>
      </p:sp>
      <p:pic>
        <p:nvPicPr>
          <p:cNvPr id="14" name="close-mascot" descr="G:\broswer download\big-red-hacks2026\mobile\assets\splash-icon.png">    </p:cNvPr>
          <p:cNvPicPr>
            <a:picLocks noChangeAspect="1"/>
          </p:cNvPicPr>
          <p:nvPr/>
        </p:nvPicPr>
        <p:blipFill>
          <a:blip r:embed="rId1"/>
          <a:stretch>
            <a:fillRect/>
          </a:stretch>
        </p:blipFill>
        <p:spPr>
          <a:xfrm>
            <a:off x="640080" y="4480560"/>
            <a:ext cx="1234440" cy="1234440"/>
          </a:xfrm>
          <a:prstGeom prst="rect">
            <a:avLst/>
          </a:prstGeom>
        </p:spPr>
      </p:pic>
      <p:sp>
        <p:nvSpPr>
          <p:cNvPr id="15" name="Text 12"/>
          <p:cNvSpPr txBox="1"/>
          <p:nvPr/>
        </p:nvSpPr>
        <p:spPr>
          <a:xfrm>
            <a:off x="2011680" y="4709160"/>
            <a:ext cx="9509760" cy="502920"/>
          </a:xfrm>
          <a:prstGeom prst="rect">
            <a:avLst/>
          </a:prstGeom>
          <a:noFill/>
          <a:ln/>
        </p:spPr>
        <p:txBody>
          <a:bodyPr wrap="square" lIns="0" tIns="0" rIns="0" bIns="0" rtlCol="0" anchor="ctr"/>
          <a:lstStyle/>
          <a:p>
            <a:pPr indent="0" marL="0">
              <a:buNone/>
            </a:pPr>
            <a:r>
              <a:rPr lang="en-US" sz="2400" b="1" dirty="0">
                <a:solidFill>
                  <a:schemeClr val="tx1"/>
                </a:solidFill>
              </a:rPr>
              <a:t>Try it on the phone. Ask us anything.</a:t>
            </a:r>
            <a:endParaRPr lang="en-US" sz="2400" dirty="0"/>
          </a:p>
        </p:txBody>
      </p:sp>
      <p:sp>
        <p:nvSpPr>
          <p:cNvPr id="16" name="Text 13"/>
          <p:cNvSpPr txBox="1"/>
          <p:nvPr/>
        </p:nvSpPr>
        <p:spPr>
          <a:xfrm>
            <a:off x="2011680" y="5257800"/>
            <a:ext cx="9509760" cy="365760"/>
          </a:xfrm>
          <a:prstGeom prst="rect">
            <a:avLst/>
          </a:prstGeom>
          <a:noFill/>
          <a:ln/>
        </p:spPr>
        <p:txBody>
          <a:bodyPr wrap="square" lIns="0" tIns="0" rIns="0" bIns="0" rtlCol="0" anchor="ctr"/>
          <a:lstStyle/>
          <a:p>
            <a:pPr indent="0" marL="0">
              <a:buNone/>
            </a:pPr>
            <a:r>
              <a:rPr lang="en-US" sz="1600" dirty="0">
                <a:solidFill>
                  <a:schemeClr val="accent6"/>
                </a:solidFill>
              </a:rPr>
              <a:t>Luis Mendez  ·  Abdullah Rashid</a:t>
            </a:r>
            <a:endParaRPr lang="en-US" sz="1600" dirty="0"/>
          </a:p>
        </p:txBody>
      </p:sp>
    </p:spTree>
  </p:cSld>
  <p:clrMapOvr>
    <a:masterClrMapping/>
  </p:clrMapOvr>
</p:sld>
</file>

<file path=ppt/theme/theme1.xml><?xml version="1.0" encoding="utf-8"?>
<a:theme xmlns:a="http://schemas.openxmlformats.org/drawingml/2006/main" name="HuskiesPaws">
  <a:themeElements>
    <a:clrScheme name="HuskiesPaws">
      <a:dk1>
        <a:srgbClr val="163528"/>
      </a:dk1>
      <a:lt1>
        <a:srgbClr val="F6F1E4"/>
      </a:lt1>
      <a:dk2>
        <a:srgbClr val="0B1F3A"/>
      </a:dk2>
      <a:lt2>
        <a:srgbClr val="E6F4EA"/>
      </a:lt2>
      <a:accent1>
        <a:srgbClr val="2E9D4F"/>
      </a:accent1>
      <a:accent2>
        <a:srgbClr val="6EC6FF"/>
      </a:accent2>
      <a:accent3>
        <a:srgbClr val="E8A317"/>
      </a:accent3>
      <a:accent4>
        <a:srgbClr val="FF7A59"/>
      </a:accent4>
      <a:accent5>
        <a:srgbClr val="237A3D"/>
      </a:accent5>
      <a:accent6>
        <a:srgbClr val="5B6B82"/>
      </a:accent6>
      <a:hlink>
        <a:srgbClr val="6EC6FF"/>
      </a:hlink>
      <a:folHlink>
        <a:srgbClr val="2E9D4F"/>
      </a:folHlink>
    </a:clrScheme>
    <a:fontScheme name="HuskiesPaw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HuskiesPaws — BigRed//Hacks 2026</dc:title>
  <dc:subject>Navigation-themed demo deck</dc:subject>
  <dc:creator>Luis Mendez, Abdullah Rashid</dc:creator>
  <cp:lastModifiedBy>Luis Mendez, Abdullah Rashid</cp:lastModifiedBy>
  <cp:revision>1</cp:revision>
  <dcterms:created xsi:type="dcterms:W3CDTF">2026-10-04T04:35:07Z</dcterms:created>
  <dcterms:modified xsi:type="dcterms:W3CDTF">2026-10-04T04:35:07Z</dcterms:modified>
</cp:coreProperties>
</file>