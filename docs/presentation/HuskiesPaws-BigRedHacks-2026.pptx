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75c60f64-f831-6c14-78a7-61d93ef339ec}">
          <p14:sldIdLst>
            <p14:sldId id="256"/>
            <p14:sldId id="257"/>
            <p14:sldId id="258"/>
          </p14:sldIdLst>
        </p14:section>
        <p14:section name="Demo" id="{e85ba79f-efed-ae6f-698c-c17e38775cb1}">
          <p14:sldIdLst>
            <p14:sldId id="259"/>
          </p14:sldIdLst>
        </p14:section>
        <p14:section name="Build" id="{a9fd02b3-0671-ec03-9fc5-fd48b3121434}">
          <p14:sldIdLst>
            <p14:sldId id="260"/>
            <p14:sldId id="261"/>
          </p14:sldIdLst>
        </p14:section>
        <p14:section name="Close" id="{781d7c0b-19e4-d151-c0d1-62d4b7a8e03b}">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We are HuskiesPaws. Ordinary walks become a creature-collecting adventure. Team is Luis Mendez and Abdullah Rashid, BigRed Hacks 2026, Navigation. The product is the phone app. Invite them to watch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Do not invent numbers. Typical maps optimize for arrival. People miss buildings and corners they walk past every day. Walking already happens; discovery and progress do not. That is the gap on campus.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Loop: Explore, Walk, Discover, Collect. Pip scouts with Wikipedia and OpenStreetMap. Fern starts the walk. Moss tells the story from those facts. Capture and eggs reward the walk. Point at the screenshot: a real landmark, a squad pet, and Walk there. Then go to the live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visible. Hand the phone over if they want it. Demo Walk ON — say walks are simulated. Sequence: Squad, Pip, Explore. Pick the postcard. Start walk. Watch the blooming trail. Capture. If Grok is slow, keep going. Hide the Expo tools button. Do not claim a live server unless /api/health 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Phone talks to our Node API. Secrets never ship in the app. Wikipedia and OSM ground the adventure. Speech and Imagine are optional. Shared core keeps pets, ranks, and walks consistent. Photon is iMessage. Built in Cursor. Do not say Render is live unless health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Three things they saw: navigation is play; walking earns creatures; you can hold a real landmark. ISS rare-hatch boost is in shared logic. Be honest about Grok keys, deploy, and background GPS. The squad can also live in iMessage.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Close on campus exploration — not inflated stats. Next is planned: background tracking, a deploy that stays awake, richer social play. Line: Everyday walks. Extraordinary company. Hand them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11247120" cy="56692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547104"/>
            <a:ext cx="11247120" cy="182880"/>
          </a:xfrm>
          <a:prstGeom prst="rect">
            <a:avLst/>
          </a:prstGeom>
          <a:noFill/>
          <a:ln/>
        </p:spPr>
        <p:txBody>
          <a:bodyPr wrap="square" lIns="0" tIns="0" rIns="0" bIns="0" rtlCol="0" anchor="ctr"/>
          <a:lstStyle/>
          <a:p>
            <a:pPr indent="0" marL="0">
              <a:buNone/>
            </a:pPr>
            <a:r>
              <a:rPr lang="en-US" sz="1100" dirty="0">
                <a:solidFill>
                  <a:schemeClr val="accent6"/>
                </a:solidFill>
              </a:rPr>
              <a:t>HuskiesPaws  ·  BigRed//Hacks 2026</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HuskiesPaws</a:t>
            </a:r>
            <a:endParaRPr lang="en-US" sz="3000" dirty="0"/>
          </a:p>
        </p:txBody>
      </p:sp>
      <p:pic>
        <p:nvPicPr>
          <p:cNvPr id="3" name="mascot" descr="G:\broswer download\big-red-hacks2026\mobile\assets\splash-icon.png">    </p:cNvPr>
          <p:cNvPicPr>
            <a:picLocks noChangeAspect="1"/>
          </p:cNvPicPr>
          <p:nvPr/>
        </p:nvPicPr>
        <p:blipFill>
          <a:blip r:embed="rId1"/>
          <a:stretch>
            <a:fillRect/>
          </a:stretch>
        </p:blipFill>
        <p:spPr>
          <a:xfrm>
            <a:off x="502920" y="1051560"/>
            <a:ext cx="1920240" cy="1920240"/>
          </a:xfrm>
          <a:prstGeom prst="rect">
            <a:avLst/>
          </a:prstGeom>
        </p:spPr>
      </p:pic>
      <p:sp>
        <p:nvSpPr>
          <p:cNvPr id="4" name="Text 1"/>
          <p:cNvSpPr txBox="1"/>
          <p:nvPr/>
        </p:nvSpPr>
        <p:spPr>
          <a:xfrm>
            <a:off x="2651760" y="1097280"/>
            <a:ext cx="8961120" cy="731520"/>
          </a:xfrm>
          <a:prstGeom prst="rect">
            <a:avLst/>
          </a:prstGeom>
          <a:noFill/>
          <a:ln/>
        </p:spPr>
        <p:txBody>
          <a:bodyPr wrap="square" lIns="0" tIns="0" rIns="0" bIns="0" rtlCol="0" anchor="ctr"/>
          <a:lstStyle/>
          <a:p>
            <a:pPr indent="0" marL="0">
              <a:buNone/>
            </a:pPr>
            <a:r>
              <a:rPr lang="en-US" sz="2200" i="1" dirty="0">
                <a:solidFill>
                  <a:schemeClr val="accent5"/>
                </a:solidFill>
              </a:rPr>
              <a:t>Turn everyday walks into a creature-collecting adventure.</a:t>
            </a:r>
            <a:endParaRPr lang="en-US" sz="2200" dirty="0"/>
          </a:p>
        </p:txBody>
      </p:sp>
      <p:sp>
        <p:nvSpPr>
          <p:cNvPr id="5" name="Text 2"/>
          <p:cNvSpPr txBox="1"/>
          <p:nvPr/>
        </p:nvSpPr>
        <p:spPr>
          <a:xfrm>
            <a:off x="2651760" y="1874520"/>
            <a:ext cx="8961120" cy="365760"/>
          </a:xfrm>
          <a:prstGeom prst="rect">
            <a:avLst/>
          </a:prstGeom>
          <a:noFill/>
          <a:ln/>
        </p:spPr>
        <p:txBody>
          <a:bodyPr wrap="square" lIns="0" tIns="0" rIns="0" bIns="0" rtlCol="0" anchor="ctr"/>
          <a:lstStyle/>
          <a:p>
            <a:pPr indent="0" marL="0">
              <a:buNone/>
            </a:pPr>
            <a:r>
              <a:rPr lang="en-US" sz="1600" dirty="0">
                <a:solidFill>
                  <a:schemeClr val="accent6"/>
                </a:solidFill>
              </a:rPr>
              <a:t>BigRed//Hacks 2026  ·  Navigation  ·  the phone app</a:t>
            </a:r>
            <a:endParaRPr lang="en-US" sz="1600" dirty="0"/>
          </a:p>
        </p:txBody>
      </p:sp>
      <p:sp>
        <p:nvSpPr>
          <p:cNvPr id="6" name="chip-0"/>
          <p:cNvSpPr/>
          <p:nvPr/>
        </p:nvSpPr>
        <p:spPr>
          <a:xfrm>
            <a:off x="502920" y="3246120"/>
            <a:ext cx="3657600" cy="960120"/>
          </a:xfrm>
          <a:prstGeom prst="roundRect">
            <a:avLst>
              <a:gd name="adj" fmla="val 13333"/>
            </a:avLst>
          </a:prstGeom>
          <a:solidFill>
            <a:schemeClr val="bg2"/>
          </a:solidFill>
          <a:ln/>
          <a:effectLst>
            <a:outerShdw sx="100000" sy="100000" kx="0" ky="0" algn="bl" rotWithShape="0" blurRad="101600" dist="25400" dir="5400000">
              <a:srgbClr val="0B1F3A">
                <a:alpha val="10000"/>
              </a:srgbClr>
            </a:outerShdw>
          </a:effectLst>
        </p:spPr>
      </p:sp>
      <p:sp>
        <p:nvSpPr>
          <p:cNvPr id="7" name="Text 4"/>
          <p:cNvSpPr txBox="1"/>
          <p:nvPr/>
        </p:nvSpPr>
        <p:spPr>
          <a:xfrm>
            <a:off x="640080" y="3383280"/>
            <a:ext cx="3383280" cy="685800"/>
          </a:xfrm>
          <a:prstGeom prst="rect">
            <a:avLst/>
          </a:prstGeom>
          <a:noFill/>
          <a:ln/>
        </p:spPr>
        <p:txBody>
          <a:bodyPr wrap="square" lIns="0" tIns="0" rIns="0" bIns="0" rtlCol="0" anchor="ctr"/>
          <a:lstStyle/>
          <a:p>
            <a:pPr algn="ctr" indent="0" marL="0">
              <a:buNone/>
            </a:pPr>
            <a:r>
              <a:rPr lang="en-US" sz="1800" b="1" dirty="0">
                <a:solidFill>
                  <a:schemeClr val="tx1"/>
                </a:solidFill>
              </a:rPr>
              <a:t>Luis Mendez</a:t>
            </a:r>
            <a:endParaRPr lang="en-US" sz="1800" dirty="0"/>
          </a:p>
        </p:txBody>
      </p:sp>
      <p:sp>
        <p:nvSpPr>
          <p:cNvPr id="8" name="chip-1"/>
          <p:cNvSpPr/>
          <p:nvPr/>
        </p:nvSpPr>
        <p:spPr>
          <a:xfrm>
            <a:off x="4343400" y="3246120"/>
            <a:ext cx="3657600" cy="960120"/>
          </a:xfrm>
          <a:prstGeom prst="roundRect">
            <a:avLst>
              <a:gd name="adj" fmla="val 13333"/>
            </a:avLst>
          </a:prstGeom>
          <a:solidFill>
            <a:schemeClr val="bg2"/>
          </a:solidFill>
          <a:ln/>
          <a:effectLst>
            <a:outerShdw sx="100000" sy="100000" kx="0" ky="0" algn="bl" rotWithShape="0" blurRad="101600" dist="25400" dir="5400000">
              <a:srgbClr val="0B1F3A">
                <a:alpha val="10000"/>
              </a:srgbClr>
            </a:outerShdw>
          </a:effectLst>
        </p:spPr>
      </p:sp>
      <p:sp>
        <p:nvSpPr>
          <p:cNvPr id="9" name="Text 6"/>
          <p:cNvSpPr txBox="1"/>
          <p:nvPr/>
        </p:nvSpPr>
        <p:spPr>
          <a:xfrm>
            <a:off x="4480560" y="3383280"/>
            <a:ext cx="3383280" cy="685800"/>
          </a:xfrm>
          <a:prstGeom prst="rect">
            <a:avLst/>
          </a:prstGeom>
          <a:noFill/>
          <a:ln/>
        </p:spPr>
        <p:txBody>
          <a:bodyPr wrap="square" lIns="0" tIns="0" rIns="0" bIns="0" rtlCol="0" anchor="ctr"/>
          <a:lstStyle/>
          <a:p>
            <a:pPr algn="ctr" indent="0" marL="0">
              <a:buNone/>
            </a:pPr>
            <a:r>
              <a:rPr lang="en-US" sz="1800" b="1" dirty="0">
                <a:solidFill>
                  <a:schemeClr val="tx1"/>
                </a:solidFill>
              </a:rPr>
              <a:t>Abdullah Rashid</a:t>
            </a:r>
            <a:endParaRPr lang="en-US" sz="1800" dirty="0"/>
          </a:p>
        </p:txBody>
      </p:sp>
      <p:sp>
        <p:nvSpPr>
          <p:cNvPr id="10" name="chip-2"/>
          <p:cNvSpPr/>
          <p:nvPr/>
        </p:nvSpPr>
        <p:spPr>
          <a:xfrm>
            <a:off x="8183880" y="3246120"/>
            <a:ext cx="3657600" cy="960120"/>
          </a:xfrm>
          <a:prstGeom prst="roundRect">
            <a:avLst>
              <a:gd name="adj" fmla="val 13333"/>
            </a:avLst>
          </a:prstGeom>
          <a:solidFill>
            <a:schemeClr val="bg2"/>
          </a:solidFill>
          <a:ln/>
          <a:effectLst>
            <a:outerShdw sx="100000" sy="100000" kx="0" ky="0" algn="bl" rotWithShape="0" blurRad="101600" dist="25400" dir="5400000">
              <a:srgbClr val="0B1F3A">
                <a:alpha val="10000"/>
              </a:srgbClr>
            </a:outerShdw>
          </a:effectLst>
        </p:spPr>
      </p:sp>
      <p:sp>
        <p:nvSpPr>
          <p:cNvPr id="11" name="Text 8"/>
          <p:cNvSpPr txBox="1"/>
          <p:nvPr/>
        </p:nvSpPr>
        <p:spPr>
          <a:xfrm>
            <a:off x="8321040" y="3383280"/>
            <a:ext cx="3383280" cy="685800"/>
          </a:xfrm>
          <a:prstGeom prst="rect">
            <a:avLst/>
          </a:prstGeom>
          <a:noFill/>
          <a:ln/>
        </p:spPr>
        <p:txBody>
          <a:bodyPr wrap="square" lIns="0" tIns="0" rIns="0" bIns="0" rtlCol="0" anchor="ctr"/>
          <a:lstStyle/>
          <a:p>
            <a:pPr algn="ctr" indent="0" marL="0">
              <a:buNone/>
            </a:pPr>
            <a:r>
              <a:rPr lang="en-US" sz="1800" b="1" dirty="0">
                <a:solidFill>
                  <a:schemeClr val="tx1"/>
                </a:solidFill>
              </a:rPr>
              <a:t>Built with Cursor</a:t>
            </a:r>
            <a:endParaRPr lang="en-US" sz="1800" dirty="0"/>
          </a:p>
        </p:txBody>
      </p:sp>
      <p:pic>
        <p:nvPicPr>
          <p:cNvPr id="12" name="pip" descr="G:\broswer download\big-red-hacks2026\docs\presentation\assets\scout.png">    </p:cNvPr>
          <p:cNvPicPr>
            <a:picLocks noChangeAspect="1"/>
          </p:cNvPicPr>
          <p:nvPr/>
        </p:nvPicPr>
        <p:blipFill>
          <a:blip r:embed="rId2"/>
          <a:stretch>
            <a:fillRect/>
          </a:stretch>
        </p:blipFill>
        <p:spPr>
          <a:xfrm>
            <a:off x="3840480" y="4480560"/>
            <a:ext cx="1234440" cy="1234440"/>
          </a:xfrm>
          <a:prstGeom prst="rect">
            <a:avLst/>
          </a:prstGeom>
        </p:spPr>
      </p:pic>
      <p:pic>
        <p:nvPicPr>
          <p:cNvPr id="13" name="fern" descr="G:\broswer download\big-red-hacks2026\docs\presentation\assets\pathfinder.png">    </p:cNvPr>
          <p:cNvPicPr>
            <a:picLocks noChangeAspect="1"/>
          </p:cNvPicPr>
          <p:nvPr/>
        </p:nvPicPr>
        <p:blipFill>
          <a:blip r:embed="rId3"/>
          <a:stretch>
            <a:fillRect/>
          </a:stretch>
        </p:blipFill>
        <p:spPr>
          <a:xfrm>
            <a:off x="5486400" y="4480560"/>
            <a:ext cx="1234440" cy="1234440"/>
          </a:xfrm>
          <a:prstGeom prst="rect">
            <a:avLst/>
          </a:prstGeom>
        </p:spPr>
      </p:pic>
      <p:pic>
        <p:nvPicPr>
          <p:cNvPr id="14" name="moss" descr="G:\broswer download\big-red-hacks2026\docs\presentation\assets\storyteller.png">    </p:cNvPr>
          <p:cNvPicPr>
            <a:picLocks noChangeAspect="1"/>
          </p:cNvPicPr>
          <p:nvPr/>
        </p:nvPicPr>
        <p:blipFill>
          <a:blip r:embed="rId4"/>
          <a:stretch>
            <a:fillRect/>
          </a:stretch>
        </p:blipFill>
        <p:spPr>
          <a:xfrm>
            <a:off x="7132320" y="4480560"/>
            <a:ext cx="1234440" cy="12344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Maps get you there. They do not make you look.</a:t>
            </a:r>
            <a:endParaRPr lang="en-US" sz="3000" dirty="0"/>
          </a:p>
        </p:txBody>
      </p:sp>
      <p:sp>
        <p:nvSpPr>
          <p:cNvPr id="3" name="p-0"/>
          <p:cNvSpPr/>
          <p:nvPr/>
        </p:nvSpPr>
        <p:spPr>
          <a:xfrm>
            <a:off x="502920" y="1051560"/>
            <a:ext cx="3657600" cy="3383280"/>
          </a:xfrm>
          <a:prstGeom prst="roundRect">
            <a:avLst>
              <a:gd name="adj" fmla="val 3784"/>
            </a:avLst>
          </a:prstGeom>
          <a:solidFill>
            <a:srgbClr val="FFFFFF"/>
          </a:solidFill>
          <a:ln/>
          <a:effectLst>
            <a:outerShdw sx="100000" sy="100000" kx="0" ky="0" algn="bl" rotWithShape="0" blurRad="101600" dist="25400" dir="5400000">
              <a:srgbClr val="0B1F3A">
                <a:alpha val="10000"/>
              </a:srgbClr>
            </a:outerShdw>
          </a:effectLst>
        </p:spPr>
      </p:sp>
      <p:sp>
        <p:nvSpPr>
          <p:cNvPr id="4" name="n-0"/>
          <p:cNvSpPr/>
          <p:nvPr/>
        </p:nvSpPr>
        <p:spPr>
          <a:xfrm>
            <a:off x="1920240" y="1325880"/>
            <a:ext cx="777240" cy="777240"/>
          </a:xfrm>
          <a:prstGeom prst="ellipse">
            <a:avLst/>
          </a:prstGeom>
          <a:solidFill>
            <a:schemeClr val="accent2"/>
          </a:solidFill>
          <a:ln/>
        </p:spPr>
      </p:sp>
      <p:sp>
        <p:nvSpPr>
          <p:cNvPr id="5" name="Text 3"/>
          <p:cNvSpPr txBox="1"/>
          <p:nvPr/>
        </p:nvSpPr>
        <p:spPr>
          <a:xfrm>
            <a:off x="1920240" y="1417320"/>
            <a:ext cx="777240" cy="59436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6" name="Text 4"/>
          <p:cNvSpPr txBox="1"/>
          <p:nvPr/>
        </p:nvSpPr>
        <p:spPr>
          <a:xfrm>
            <a:off x="731520" y="2286000"/>
            <a:ext cx="3200400" cy="640080"/>
          </a:xfrm>
          <a:prstGeom prst="rect">
            <a:avLst/>
          </a:prstGeom>
          <a:noFill/>
          <a:ln/>
        </p:spPr>
        <p:txBody>
          <a:bodyPr wrap="square" lIns="0" tIns="0" rIns="0" bIns="0" rtlCol="0" anchor="ctr"/>
          <a:lstStyle/>
          <a:p>
            <a:pPr algn="ctr" indent="0" marL="0">
              <a:buNone/>
            </a:pPr>
            <a:r>
              <a:rPr lang="en-US" sz="2200" b="1" dirty="0">
                <a:solidFill>
                  <a:schemeClr val="tx1"/>
                </a:solidFill>
              </a:rPr>
              <a:t>Shortest path</a:t>
            </a:r>
            <a:endParaRPr lang="en-US" sz="2200" dirty="0"/>
          </a:p>
        </p:txBody>
      </p:sp>
      <p:sp>
        <p:nvSpPr>
          <p:cNvPr id="7" name="Text 5"/>
          <p:cNvSpPr txBox="1"/>
          <p:nvPr/>
        </p:nvSpPr>
        <p:spPr>
          <a:xfrm>
            <a:off x="777240" y="2971800"/>
            <a:ext cx="3108960" cy="1097280"/>
          </a:xfrm>
          <a:prstGeom prst="rect">
            <a:avLst/>
          </a:prstGeom>
          <a:noFill/>
          <a:ln/>
        </p:spPr>
        <p:txBody>
          <a:bodyPr wrap="square" lIns="0" tIns="0" rIns="0" bIns="0" rtlCol="0" anchor="ctr"/>
          <a:lstStyle/>
          <a:p>
            <a:pPr algn="ctr" indent="0" marL="0">
              <a:buNone/>
            </a:pPr>
            <a:r>
              <a:rPr lang="en-US" sz="1600" dirty="0">
                <a:solidFill>
                  <a:schemeClr val="accent6"/>
                </a:solidFill>
              </a:rPr>
              <a:t>Navigation ends at the pin.</a:t>
            </a:r>
            <a:endParaRPr lang="en-US" sz="1600" dirty="0"/>
          </a:p>
        </p:txBody>
      </p:sp>
      <p:sp>
        <p:nvSpPr>
          <p:cNvPr id="8" name="p-1"/>
          <p:cNvSpPr/>
          <p:nvPr/>
        </p:nvSpPr>
        <p:spPr>
          <a:xfrm>
            <a:off x="4343400" y="1051560"/>
            <a:ext cx="3657600" cy="3383280"/>
          </a:xfrm>
          <a:prstGeom prst="roundRect">
            <a:avLst>
              <a:gd name="adj" fmla="val 3784"/>
            </a:avLst>
          </a:prstGeom>
          <a:solidFill>
            <a:srgbClr val="FFFFFF"/>
          </a:solidFill>
          <a:ln/>
          <a:effectLst>
            <a:outerShdw sx="100000" sy="100000" kx="0" ky="0" algn="bl" rotWithShape="0" blurRad="101600" dist="25400" dir="5400000">
              <a:srgbClr val="0B1F3A">
                <a:alpha val="10000"/>
              </a:srgbClr>
            </a:outerShdw>
          </a:effectLst>
        </p:spPr>
      </p:sp>
      <p:sp>
        <p:nvSpPr>
          <p:cNvPr id="9" name="n-1"/>
          <p:cNvSpPr/>
          <p:nvPr/>
        </p:nvSpPr>
        <p:spPr>
          <a:xfrm>
            <a:off x="5760720" y="1325880"/>
            <a:ext cx="777240" cy="777240"/>
          </a:xfrm>
          <a:prstGeom prst="ellipse">
            <a:avLst/>
          </a:prstGeom>
          <a:solidFill>
            <a:schemeClr val="accent2"/>
          </a:solidFill>
          <a:ln/>
        </p:spPr>
      </p:sp>
      <p:sp>
        <p:nvSpPr>
          <p:cNvPr id="10" name="Text 8"/>
          <p:cNvSpPr txBox="1"/>
          <p:nvPr/>
        </p:nvSpPr>
        <p:spPr>
          <a:xfrm>
            <a:off x="5760720" y="1417320"/>
            <a:ext cx="777240" cy="59436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1" name="Text 9"/>
          <p:cNvSpPr txBox="1"/>
          <p:nvPr/>
        </p:nvSpPr>
        <p:spPr>
          <a:xfrm>
            <a:off x="4572000" y="2286000"/>
            <a:ext cx="3200400" cy="640080"/>
          </a:xfrm>
          <a:prstGeom prst="rect">
            <a:avLst/>
          </a:prstGeom>
          <a:noFill/>
          <a:ln/>
        </p:spPr>
        <p:txBody>
          <a:bodyPr wrap="square" lIns="0" tIns="0" rIns="0" bIns="0" rtlCol="0" anchor="ctr"/>
          <a:lstStyle/>
          <a:p>
            <a:pPr algn="ctr" indent="0" marL="0">
              <a:buNone/>
            </a:pPr>
            <a:r>
              <a:rPr lang="en-US" sz="2200" b="1" dirty="0">
                <a:solidFill>
                  <a:schemeClr val="tx1"/>
                </a:solidFill>
              </a:rPr>
              <a:t>Phone away</a:t>
            </a:r>
            <a:endParaRPr lang="en-US" sz="2200" dirty="0"/>
          </a:p>
        </p:txBody>
      </p:sp>
      <p:sp>
        <p:nvSpPr>
          <p:cNvPr id="12" name="Text 10"/>
          <p:cNvSpPr txBox="1"/>
          <p:nvPr/>
        </p:nvSpPr>
        <p:spPr>
          <a:xfrm>
            <a:off x="4617720" y="2971800"/>
            <a:ext cx="3108960" cy="1097280"/>
          </a:xfrm>
          <a:prstGeom prst="rect">
            <a:avLst/>
          </a:prstGeom>
          <a:noFill/>
          <a:ln/>
        </p:spPr>
        <p:txBody>
          <a:bodyPr wrap="square" lIns="0" tIns="0" rIns="0" bIns="0" rtlCol="0" anchor="ctr"/>
          <a:lstStyle/>
          <a:p>
            <a:pPr algn="ctr" indent="0" marL="0">
              <a:buNone/>
            </a:pPr>
            <a:r>
              <a:rPr lang="en-US" sz="1600" dirty="0">
                <a:solidFill>
                  <a:schemeClr val="accent6"/>
                </a:solidFill>
              </a:rPr>
              <a:t>The walk itself is leftover time.</a:t>
            </a:r>
            <a:endParaRPr lang="en-US" sz="1600" dirty="0"/>
          </a:p>
        </p:txBody>
      </p:sp>
      <p:sp>
        <p:nvSpPr>
          <p:cNvPr id="13" name="p-2"/>
          <p:cNvSpPr/>
          <p:nvPr/>
        </p:nvSpPr>
        <p:spPr>
          <a:xfrm>
            <a:off x="8183880" y="1051560"/>
            <a:ext cx="3657600" cy="3383280"/>
          </a:xfrm>
          <a:prstGeom prst="roundRect">
            <a:avLst>
              <a:gd name="adj" fmla="val 3784"/>
            </a:avLst>
          </a:prstGeom>
          <a:solidFill>
            <a:srgbClr val="FFFFFF"/>
          </a:solidFill>
          <a:ln/>
          <a:effectLst>
            <a:outerShdw sx="100000" sy="100000" kx="0" ky="0" algn="bl" rotWithShape="0" blurRad="101600" dist="25400" dir="5400000">
              <a:srgbClr val="0B1F3A">
                <a:alpha val="10000"/>
              </a:srgbClr>
            </a:outerShdw>
          </a:effectLst>
        </p:spPr>
      </p:sp>
      <p:sp>
        <p:nvSpPr>
          <p:cNvPr id="14" name="n-2"/>
          <p:cNvSpPr/>
          <p:nvPr/>
        </p:nvSpPr>
        <p:spPr>
          <a:xfrm>
            <a:off x="9601200" y="1325880"/>
            <a:ext cx="777240" cy="777240"/>
          </a:xfrm>
          <a:prstGeom prst="ellipse">
            <a:avLst/>
          </a:prstGeom>
          <a:solidFill>
            <a:schemeClr val="accent2"/>
          </a:solidFill>
          <a:ln/>
        </p:spPr>
      </p:sp>
      <p:sp>
        <p:nvSpPr>
          <p:cNvPr id="15" name="Text 13"/>
          <p:cNvSpPr txBox="1"/>
          <p:nvPr/>
        </p:nvSpPr>
        <p:spPr>
          <a:xfrm>
            <a:off x="9601200" y="1417320"/>
            <a:ext cx="777240" cy="59436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6" name="Text 14"/>
          <p:cNvSpPr txBox="1"/>
          <p:nvPr/>
        </p:nvSpPr>
        <p:spPr>
          <a:xfrm>
            <a:off x="8412480" y="2286000"/>
            <a:ext cx="3200400" cy="640080"/>
          </a:xfrm>
          <a:prstGeom prst="rect">
            <a:avLst/>
          </a:prstGeom>
          <a:noFill/>
          <a:ln/>
        </p:spPr>
        <p:txBody>
          <a:bodyPr wrap="square" lIns="0" tIns="0" rIns="0" bIns="0" rtlCol="0" anchor="ctr"/>
          <a:lstStyle/>
          <a:p>
            <a:pPr algn="ctr" indent="0" marL="0">
              <a:buNone/>
            </a:pPr>
            <a:r>
              <a:rPr lang="en-US" sz="2200" b="1" dirty="0">
                <a:solidFill>
                  <a:schemeClr val="tx1"/>
                </a:solidFill>
              </a:rPr>
              <a:t>Missed places</a:t>
            </a:r>
            <a:endParaRPr lang="en-US" sz="2200" dirty="0"/>
          </a:p>
        </p:txBody>
      </p:sp>
      <p:sp>
        <p:nvSpPr>
          <p:cNvPr id="17" name="Text 15"/>
          <p:cNvSpPr txBox="1"/>
          <p:nvPr/>
        </p:nvSpPr>
        <p:spPr>
          <a:xfrm>
            <a:off x="8458200" y="2971800"/>
            <a:ext cx="3108960" cy="1097280"/>
          </a:xfrm>
          <a:prstGeom prst="rect">
            <a:avLst/>
          </a:prstGeom>
          <a:noFill/>
          <a:ln/>
        </p:spPr>
        <p:txBody>
          <a:bodyPr wrap="square" lIns="0" tIns="0" rIns="0" bIns="0" rtlCol="0" anchor="ctr"/>
          <a:lstStyle/>
          <a:p>
            <a:pPr algn="ctr" indent="0" marL="0">
              <a:buNone/>
            </a:pPr>
            <a:r>
              <a:rPr lang="en-US" sz="1600" dirty="0">
                <a:solidFill>
                  <a:schemeClr val="accent6"/>
                </a:solidFill>
              </a:rPr>
              <a:t>Campus already has stories.</a:t>
            </a:r>
            <a:endParaRPr lang="en-US" sz="1600" dirty="0"/>
          </a:p>
        </p:txBody>
      </p:sp>
      <p:sp>
        <p:nvSpPr>
          <p:cNvPr id="18" name="Text 16"/>
          <p:cNvSpPr txBox="1"/>
          <p:nvPr/>
        </p:nvSpPr>
        <p:spPr>
          <a:xfrm>
            <a:off x="502920" y="4709160"/>
            <a:ext cx="11155680" cy="640080"/>
          </a:xfrm>
          <a:prstGeom prst="rect">
            <a:avLst/>
          </a:prstGeom>
          <a:noFill/>
          <a:ln/>
        </p:spPr>
        <p:txBody>
          <a:bodyPr wrap="square" lIns="0" tIns="0" rIns="0" bIns="0" rtlCol="0" anchor="ctr"/>
          <a:lstStyle/>
          <a:p>
            <a:pPr indent="0" marL="0">
              <a:buNone/>
            </a:pPr>
            <a:r>
              <a:rPr lang="en-US" sz="2000" i="1" dirty="0">
                <a:solidFill>
                  <a:schemeClr val="accent5"/>
                </a:solidFill>
              </a:rPr>
              <a:t>No fake statistics. Walking already happens. Discovery does not.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Explore  →  Walk  →  Discover  →  Collect</a:t>
            </a:r>
            <a:endParaRPr lang="en-US" sz="3000" dirty="0"/>
          </a:p>
        </p:txBody>
      </p:sp>
      <p:sp>
        <p:nvSpPr>
          <p:cNvPr id="3" name="loop-0"/>
          <p:cNvSpPr/>
          <p:nvPr/>
        </p:nvSpPr>
        <p:spPr>
          <a:xfrm>
            <a:off x="457200" y="960120"/>
            <a:ext cx="4892040" cy="987552"/>
          </a:xfrm>
          <a:prstGeom prst="roundRect">
            <a:avLst>
              <a:gd name="adj" fmla="val 12963"/>
            </a:avLst>
          </a:prstGeom>
          <a:solidFill>
            <a:srgbClr val="FFFFFF"/>
          </a:solidFill>
          <a:ln/>
          <a:effectLst>
            <a:outerShdw sx="100000" sy="100000" kx="0" ky="0" algn="bl" rotWithShape="0" blurRad="101600" dist="25400" dir="5400000">
              <a:srgbClr val="0B1F3A">
                <a:alpha val="10000"/>
              </a:srgbClr>
            </a:outerShdw>
          </a:effectLst>
        </p:spPr>
      </p:sp>
      <p:sp>
        <p:nvSpPr>
          <p:cNvPr id="4" name="loop-n-0"/>
          <p:cNvSpPr/>
          <p:nvPr/>
        </p:nvSpPr>
        <p:spPr>
          <a:xfrm>
            <a:off x="621792" y="1161288"/>
            <a:ext cx="566928" cy="566928"/>
          </a:xfrm>
          <a:prstGeom prst="ellipse">
            <a:avLst/>
          </a:prstGeom>
          <a:solidFill>
            <a:schemeClr val="accent1"/>
          </a:solidFill>
          <a:ln/>
        </p:spPr>
      </p:sp>
      <p:sp>
        <p:nvSpPr>
          <p:cNvPr id="5" name="Text 3"/>
          <p:cNvSpPr txBox="1"/>
          <p:nvPr/>
        </p:nvSpPr>
        <p:spPr>
          <a:xfrm>
            <a:off x="621792" y="1216152"/>
            <a:ext cx="566928"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371600" y="1069848"/>
            <a:ext cx="3749040" cy="347472"/>
          </a:xfrm>
          <a:prstGeom prst="rect">
            <a:avLst/>
          </a:prstGeom>
          <a:noFill/>
          <a:ln/>
        </p:spPr>
        <p:txBody>
          <a:bodyPr wrap="square" lIns="0" tIns="0" rIns="0" bIns="0" rtlCol="0" anchor="ctr"/>
          <a:lstStyle/>
          <a:p>
            <a:pPr indent="0" marL="0">
              <a:buNone/>
            </a:pPr>
            <a:r>
              <a:rPr lang="en-US" sz="1800" b="1" dirty="0">
                <a:solidFill>
                  <a:schemeClr val="tx1"/>
                </a:solidFill>
              </a:rPr>
              <a:t>Explore</a:t>
            </a:r>
            <a:endParaRPr lang="en-US" sz="1800" dirty="0"/>
          </a:p>
        </p:txBody>
      </p:sp>
      <p:sp>
        <p:nvSpPr>
          <p:cNvPr id="7" name="Text 5"/>
          <p:cNvSpPr txBox="1"/>
          <p:nvPr/>
        </p:nvSpPr>
        <p:spPr>
          <a:xfrm>
            <a:off x="1371600" y="1417320"/>
            <a:ext cx="3749040" cy="384048"/>
          </a:xfrm>
          <a:prstGeom prst="rect">
            <a:avLst/>
          </a:prstGeom>
          <a:noFill/>
          <a:ln/>
        </p:spPr>
        <p:txBody>
          <a:bodyPr wrap="square" lIns="0" tIns="0" rIns="0" bIns="0" rtlCol="0" anchor="ctr"/>
          <a:lstStyle/>
          <a:p>
            <a:pPr indent="0" marL="0">
              <a:buNone/>
            </a:pPr>
            <a:r>
              <a:rPr lang="en-US" sz="1400" dirty="0">
                <a:solidFill>
                  <a:schemeClr val="accent6"/>
                </a:solidFill>
              </a:rPr>
              <a:t>Pip scouts a real nearby place.</a:t>
            </a:r>
            <a:endParaRPr lang="en-US" sz="1400" dirty="0"/>
          </a:p>
        </p:txBody>
      </p:sp>
      <p:sp>
        <p:nvSpPr>
          <p:cNvPr id="8" name="loop-1"/>
          <p:cNvSpPr/>
          <p:nvPr/>
        </p:nvSpPr>
        <p:spPr>
          <a:xfrm>
            <a:off x="457200" y="2057400"/>
            <a:ext cx="4892040" cy="987552"/>
          </a:xfrm>
          <a:prstGeom prst="roundRect">
            <a:avLst>
              <a:gd name="adj" fmla="val 12963"/>
            </a:avLst>
          </a:prstGeom>
          <a:solidFill>
            <a:srgbClr val="FFFFFF"/>
          </a:solidFill>
          <a:ln/>
          <a:effectLst>
            <a:outerShdw sx="100000" sy="100000" kx="0" ky="0" algn="bl" rotWithShape="0" blurRad="101600" dist="25400" dir="5400000">
              <a:srgbClr val="0B1F3A">
                <a:alpha val="10000"/>
              </a:srgbClr>
            </a:outerShdw>
          </a:effectLst>
        </p:spPr>
      </p:sp>
      <p:sp>
        <p:nvSpPr>
          <p:cNvPr id="9" name="loop-n-1"/>
          <p:cNvSpPr/>
          <p:nvPr/>
        </p:nvSpPr>
        <p:spPr>
          <a:xfrm>
            <a:off x="621792" y="2258568"/>
            <a:ext cx="566928" cy="566928"/>
          </a:xfrm>
          <a:prstGeom prst="ellipse">
            <a:avLst/>
          </a:prstGeom>
          <a:solidFill>
            <a:schemeClr val="accent1"/>
          </a:solidFill>
          <a:ln/>
        </p:spPr>
      </p:sp>
      <p:sp>
        <p:nvSpPr>
          <p:cNvPr id="10" name="Text 8"/>
          <p:cNvSpPr txBox="1"/>
          <p:nvPr/>
        </p:nvSpPr>
        <p:spPr>
          <a:xfrm>
            <a:off x="621792" y="2313432"/>
            <a:ext cx="566928"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167128"/>
            <a:ext cx="3749040" cy="347472"/>
          </a:xfrm>
          <a:prstGeom prst="rect">
            <a:avLst/>
          </a:prstGeom>
          <a:noFill/>
          <a:ln/>
        </p:spPr>
        <p:txBody>
          <a:bodyPr wrap="square" lIns="0" tIns="0" rIns="0" bIns="0" rtlCol="0" anchor="ctr"/>
          <a:lstStyle/>
          <a:p>
            <a:pPr indent="0" marL="0">
              <a:buNone/>
            </a:pPr>
            <a:r>
              <a:rPr lang="en-US" sz="1800" b="1" dirty="0">
                <a:solidFill>
                  <a:schemeClr val="tx1"/>
                </a:solidFill>
              </a:rPr>
              <a:t>Walk</a:t>
            </a:r>
            <a:endParaRPr lang="en-US" sz="1800" dirty="0"/>
          </a:p>
        </p:txBody>
      </p:sp>
      <p:sp>
        <p:nvSpPr>
          <p:cNvPr id="12" name="Text 10"/>
          <p:cNvSpPr txBox="1"/>
          <p:nvPr/>
        </p:nvSpPr>
        <p:spPr>
          <a:xfrm>
            <a:off x="1371600" y="2514600"/>
            <a:ext cx="3749040" cy="384048"/>
          </a:xfrm>
          <a:prstGeom prst="rect">
            <a:avLst/>
          </a:prstGeom>
          <a:noFill/>
          <a:ln/>
        </p:spPr>
        <p:txBody>
          <a:bodyPr wrap="square" lIns="0" tIns="0" rIns="0" bIns="0" rtlCol="0" anchor="ctr"/>
          <a:lstStyle/>
          <a:p>
            <a:pPr indent="0" marL="0">
              <a:buNone/>
            </a:pPr>
            <a:r>
              <a:rPr lang="en-US" sz="1400" dirty="0">
                <a:solidFill>
                  <a:schemeClr val="accent6"/>
                </a:solidFill>
              </a:rPr>
              <a:t>Fern turns it into a route.</a:t>
            </a:r>
            <a:endParaRPr lang="en-US" sz="1400" dirty="0"/>
          </a:p>
        </p:txBody>
      </p:sp>
      <p:sp>
        <p:nvSpPr>
          <p:cNvPr id="13" name="loop-2"/>
          <p:cNvSpPr/>
          <p:nvPr/>
        </p:nvSpPr>
        <p:spPr>
          <a:xfrm>
            <a:off x="457200" y="3154680"/>
            <a:ext cx="4892040" cy="987552"/>
          </a:xfrm>
          <a:prstGeom prst="roundRect">
            <a:avLst>
              <a:gd name="adj" fmla="val 12963"/>
            </a:avLst>
          </a:prstGeom>
          <a:solidFill>
            <a:srgbClr val="FFFFFF"/>
          </a:solidFill>
          <a:ln/>
          <a:effectLst>
            <a:outerShdw sx="100000" sy="100000" kx="0" ky="0" algn="bl" rotWithShape="0" blurRad="101600" dist="25400" dir="5400000">
              <a:srgbClr val="0B1F3A">
                <a:alpha val="10000"/>
              </a:srgbClr>
            </a:outerShdw>
          </a:effectLst>
        </p:spPr>
      </p:sp>
      <p:sp>
        <p:nvSpPr>
          <p:cNvPr id="14" name="loop-n-2"/>
          <p:cNvSpPr/>
          <p:nvPr/>
        </p:nvSpPr>
        <p:spPr>
          <a:xfrm>
            <a:off x="621792" y="3355848"/>
            <a:ext cx="566928" cy="566928"/>
          </a:xfrm>
          <a:prstGeom prst="ellipse">
            <a:avLst/>
          </a:prstGeom>
          <a:solidFill>
            <a:schemeClr val="accent1"/>
          </a:solidFill>
          <a:ln/>
        </p:spPr>
      </p:sp>
      <p:sp>
        <p:nvSpPr>
          <p:cNvPr id="15" name="Text 13"/>
          <p:cNvSpPr txBox="1"/>
          <p:nvPr/>
        </p:nvSpPr>
        <p:spPr>
          <a:xfrm>
            <a:off x="621792" y="3410712"/>
            <a:ext cx="566928"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1371600" y="3264408"/>
            <a:ext cx="3749040" cy="347472"/>
          </a:xfrm>
          <a:prstGeom prst="rect">
            <a:avLst/>
          </a:prstGeom>
          <a:noFill/>
          <a:ln/>
        </p:spPr>
        <p:txBody>
          <a:bodyPr wrap="square" lIns="0" tIns="0" rIns="0" bIns="0" rtlCol="0" anchor="ctr"/>
          <a:lstStyle/>
          <a:p>
            <a:pPr indent="0" marL="0">
              <a:buNone/>
            </a:pPr>
            <a:r>
              <a:rPr lang="en-US" sz="1800" b="1" dirty="0">
                <a:solidFill>
                  <a:schemeClr val="tx1"/>
                </a:solidFill>
              </a:rPr>
              <a:t>Discover</a:t>
            </a:r>
            <a:endParaRPr lang="en-US" sz="1800" dirty="0"/>
          </a:p>
        </p:txBody>
      </p:sp>
      <p:sp>
        <p:nvSpPr>
          <p:cNvPr id="17" name="Text 15"/>
          <p:cNvSpPr txBox="1"/>
          <p:nvPr/>
        </p:nvSpPr>
        <p:spPr>
          <a:xfrm>
            <a:off x="1371600" y="3611880"/>
            <a:ext cx="3749040" cy="384048"/>
          </a:xfrm>
          <a:prstGeom prst="rect">
            <a:avLst/>
          </a:prstGeom>
          <a:noFill/>
          <a:ln/>
        </p:spPr>
        <p:txBody>
          <a:bodyPr wrap="square" lIns="0" tIns="0" rIns="0" bIns="0" rtlCol="0" anchor="ctr"/>
          <a:lstStyle/>
          <a:p>
            <a:pPr indent="0" marL="0">
              <a:buNone/>
            </a:pPr>
            <a:r>
              <a:rPr lang="en-US" sz="1400" dirty="0">
                <a:solidFill>
                  <a:schemeClr val="accent6"/>
                </a:solidFill>
              </a:rPr>
              <a:t>Moss tells the grounded story.</a:t>
            </a:r>
            <a:endParaRPr lang="en-US" sz="1400" dirty="0"/>
          </a:p>
        </p:txBody>
      </p:sp>
      <p:sp>
        <p:nvSpPr>
          <p:cNvPr id="18" name="loop-3"/>
          <p:cNvSpPr/>
          <p:nvPr/>
        </p:nvSpPr>
        <p:spPr>
          <a:xfrm>
            <a:off x="457200" y="4251960"/>
            <a:ext cx="4892040" cy="987552"/>
          </a:xfrm>
          <a:prstGeom prst="roundRect">
            <a:avLst>
              <a:gd name="adj" fmla="val 12963"/>
            </a:avLst>
          </a:prstGeom>
          <a:solidFill>
            <a:srgbClr val="FFFFFF"/>
          </a:solidFill>
          <a:ln/>
          <a:effectLst>
            <a:outerShdw sx="100000" sy="100000" kx="0" ky="0" algn="bl" rotWithShape="0" blurRad="101600" dist="25400" dir="5400000">
              <a:srgbClr val="0B1F3A">
                <a:alpha val="10000"/>
              </a:srgbClr>
            </a:outerShdw>
          </a:effectLst>
        </p:spPr>
      </p:sp>
      <p:sp>
        <p:nvSpPr>
          <p:cNvPr id="19" name="loop-n-3"/>
          <p:cNvSpPr/>
          <p:nvPr/>
        </p:nvSpPr>
        <p:spPr>
          <a:xfrm>
            <a:off x="621792" y="4453128"/>
            <a:ext cx="566928" cy="566928"/>
          </a:xfrm>
          <a:prstGeom prst="ellipse">
            <a:avLst/>
          </a:prstGeom>
          <a:solidFill>
            <a:schemeClr val="accent1"/>
          </a:solidFill>
          <a:ln/>
        </p:spPr>
      </p:sp>
      <p:sp>
        <p:nvSpPr>
          <p:cNvPr id="20" name="Text 18"/>
          <p:cNvSpPr txBox="1"/>
          <p:nvPr/>
        </p:nvSpPr>
        <p:spPr>
          <a:xfrm>
            <a:off x="621792" y="4507992"/>
            <a:ext cx="566928"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1" name="Text 19"/>
          <p:cNvSpPr txBox="1"/>
          <p:nvPr/>
        </p:nvSpPr>
        <p:spPr>
          <a:xfrm>
            <a:off x="1371600" y="4361688"/>
            <a:ext cx="3749040" cy="347472"/>
          </a:xfrm>
          <a:prstGeom prst="rect">
            <a:avLst/>
          </a:prstGeom>
          <a:noFill/>
          <a:ln/>
        </p:spPr>
        <p:txBody>
          <a:bodyPr wrap="square" lIns="0" tIns="0" rIns="0" bIns="0" rtlCol="0" anchor="ctr"/>
          <a:lstStyle/>
          <a:p>
            <a:pPr indent="0" marL="0">
              <a:buNone/>
            </a:pPr>
            <a:r>
              <a:rPr lang="en-US" sz="1800" b="1" dirty="0">
                <a:solidFill>
                  <a:schemeClr val="tx1"/>
                </a:solidFill>
              </a:rPr>
              <a:t>Collect</a:t>
            </a:r>
            <a:endParaRPr lang="en-US" sz="1800" dirty="0"/>
          </a:p>
        </p:txBody>
      </p:sp>
      <p:sp>
        <p:nvSpPr>
          <p:cNvPr id="22" name="Text 20"/>
          <p:cNvSpPr txBox="1"/>
          <p:nvPr/>
        </p:nvSpPr>
        <p:spPr>
          <a:xfrm>
            <a:off x="1371600" y="4709160"/>
            <a:ext cx="3749040" cy="384048"/>
          </a:xfrm>
          <a:prstGeom prst="rect">
            <a:avLst/>
          </a:prstGeom>
          <a:noFill/>
          <a:ln/>
        </p:spPr>
        <p:txBody>
          <a:bodyPr wrap="square" lIns="0" tIns="0" rIns="0" bIns="0" rtlCol="0" anchor="ctr"/>
          <a:lstStyle/>
          <a:p>
            <a:pPr indent="0" marL="0">
              <a:buNone/>
            </a:pPr>
            <a:r>
              <a:rPr lang="en-US" sz="1400" dirty="0">
                <a:solidFill>
                  <a:schemeClr val="accent6"/>
                </a:solidFill>
              </a:rPr>
              <a:t>Capture it. Walking fills eggs.</a:t>
            </a:r>
            <a:endParaRPr lang="en-US" sz="1400" dirty="0"/>
          </a:p>
        </p:txBody>
      </p:sp>
      <p:sp>
        <p:nvSpPr>
          <p:cNvPr id="23" name="solution-phone-frame"/>
          <p:cNvSpPr/>
          <p:nvPr/>
        </p:nvSpPr>
        <p:spPr>
          <a:xfrm>
            <a:off x="5596128" y="841248"/>
            <a:ext cx="2767440" cy="5221224"/>
          </a:xfrm>
          <a:prstGeom prst="roundRect">
            <a:avLst>
              <a:gd name="adj" fmla="val 5947"/>
            </a:avLst>
          </a:prstGeom>
          <a:solidFill>
            <a:srgbClr val="0B1F3A"/>
          </a:solidFill>
          <a:ln/>
        </p:spPr>
      </p:sp>
      <p:pic>
        <p:nvPicPr>
          <p:cNvPr id="24" name="solution-phone" descr="G:\broswer download\big-red-hacks2026\docs\presentation\app_images\295D7A3E-924B-40C7-9900-0A4613317A96.jpg">    </p:cNvPr>
          <p:cNvPicPr>
            <a:picLocks noChangeAspect="1"/>
          </p:cNvPicPr>
          <p:nvPr/>
        </p:nvPicPr>
        <p:blipFill>
          <a:blip r:embed="rId1"/>
          <a:stretch>
            <a:fillRect/>
          </a:stretch>
        </p:blipFill>
        <p:spPr>
          <a:xfrm>
            <a:off x="5669280" y="914400"/>
            <a:ext cx="2621136" cy="5074920"/>
          </a:xfrm>
          <a:prstGeom prst="rect">
            <a:avLst/>
          </a:prstGeom>
        </p:spPr>
      </p:pic>
      <p:sp>
        <p:nvSpPr>
          <p:cNvPr id="25" name="sol-call-1"/>
          <p:cNvSpPr/>
          <p:nvPr/>
        </p:nvSpPr>
        <p:spPr>
          <a:xfrm>
            <a:off x="8455008" y="1691640"/>
            <a:ext cx="3200400" cy="1234440"/>
          </a:xfrm>
          <a:prstGeom prst="roundRect">
            <a:avLst>
              <a:gd name="adj" fmla="val 10370"/>
            </a:avLst>
          </a:prstGeom>
          <a:solidFill>
            <a:srgbClr val="FFFFFF"/>
          </a:solidFill>
          <a:ln/>
          <a:effectLst>
            <a:outerShdw sx="100000" sy="100000" kx="0" ky="0" algn="bl" rotWithShape="0" blurRad="101600" dist="25400" dir="5400000">
              <a:srgbClr val="0B1F3A">
                <a:alpha val="10000"/>
              </a:srgbClr>
            </a:outerShdw>
          </a:effectLst>
        </p:spPr>
      </p:sp>
      <p:sp>
        <p:nvSpPr>
          <p:cNvPr id="26" name="Text 23"/>
          <p:cNvSpPr txBox="1"/>
          <p:nvPr/>
        </p:nvSpPr>
        <p:spPr>
          <a:xfrm>
            <a:off x="8583024" y="1764792"/>
            <a:ext cx="2944368" cy="1088136"/>
          </a:xfrm>
          <a:prstGeom prst="rect">
            <a:avLst/>
          </a:prstGeom>
          <a:noFill/>
          <a:ln/>
        </p:spPr>
        <p:txBody>
          <a:bodyPr wrap="square" lIns="0" tIns="0" rIns="0" bIns="0" rtlCol="0" anchor="ctr"/>
          <a:lstStyle/>
          <a:p>
            <a:pPr indent="0" marL="0">
              <a:buNone/>
            </a:pPr>
            <a:r>
              <a:rPr lang="en-US" sz="1400" dirty="0">
                <a:solidFill>
                  <a:schemeClr val="tx1"/>
                </a:solidFill>
              </a:rPr>
              <a:t>Bailey Hall, a real campus place.</a:t>
            </a:r>
            <a:endParaRPr lang="en-US" sz="1400" dirty="0"/>
          </a:p>
        </p:txBody>
      </p:sp>
      <p:sp>
        <p:nvSpPr>
          <p:cNvPr id="27" name="sol-call-2"/>
          <p:cNvSpPr/>
          <p:nvPr/>
        </p:nvSpPr>
        <p:spPr>
          <a:xfrm>
            <a:off x="8455008" y="3108960"/>
            <a:ext cx="3200400" cy="1325880"/>
          </a:xfrm>
          <a:prstGeom prst="roundRect">
            <a:avLst>
              <a:gd name="adj" fmla="val 9655"/>
            </a:avLst>
          </a:prstGeom>
          <a:solidFill>
            <a:srgbClr val="FFFFFF"/>
          </a:solidFill>
          <a:ln/>
          <a:effectLst>
            <a:outerShdw sx="100000" sy="100000" kx="0" ky="0" algn="bl" rotWithShape="0" blurRad="101600" dist="25400" dir="5400000">
              <a:srgbClr val="0B1F3A">
                <a:alpha val="10000"/>
              </a:srgbClr>
            </a:outerShdw>
          </a:effectLst>
        </p:spPr>
      </p:sp>
      <p:sp>
        <p:nvSpPr>
          <p:cNvPr id="28" name="Text 25"/>
          <p:cNvSpPr txBox="1"/>
          <p:nvPr/>
        </p:nvSpPr>
        <p:spPr>
          <a:xfrm>
            <a:off x="8583024" y="3182112"/>
            <a:ext cx="2944368" cy="1179576"/>
          </a:xfrm>
          <a:prstGeom prst="rect">
            <a:avLst/>
          </a:prstGeom>
          <a:noFill/>
          <a:ln/>
        </p:spPr>
        <p:txBody>
          <a:bodyPr wrap="square" lIns="0" tIns="0" rIns="0" bIns="0" rtlCol="0" anchor="ctr"/>
          <a:lstStyle/>
          <a:p>
            <a:pPr indent="0" marL="0">
              <a:buNone/>
            </a:pPr>
            <a:r>
              <a:rPr lang="en-US" sz="1400" dirty="0">
                <a:solidFill>
                  <a:schemeClr val="tx1"/>
                </a:solidFill>
              </a:rPr>
              <a:t>Pick a squad pet, then tap Walk there.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Keep this slide up. Hand them the phone.</a:t>
            </a:r>
            <a:endParaRPr lang="en-US" sz="3000" dirty="0"/>
          </a:p>
        </p:txBody>
      </p:sp>
      <p:sp>
        <p:nvSpPr>
          <p:cNvPr id="3" name="demo-banner"/>
          <p:cNvSpPr/>
          <p:nvPr/>
        </p:nvSpPr>
        <p:spPr>
          <a:xfrm>
            <a:off x="457200" y="868680"/>
            <a:ext cx="11292840" cy="530352"/>
          </a:xfrm>
          <a:prstGeom prst="roundRect">
            <a:avLst>
              <a:gd name="adj" fmla="val 24138"/>
            </a:avLst>
          </a:prstGeom>
          <a:solidFill>
            <a:srgbClr val="0B1F3A"/>
          </a:solidFill>
          <a:ln/>
          <a:effectLst>
            <a:outerShdw sx="100000" sy="100000" kx="0" ky="0" algn="bl" rotWithShape="0" blurRad="101600" dist="25400" dir="5400000">
              <a:srgbClr val="0B1F3A">
                <a:alpha val="10000"/>
              </a:srgbClr>
            </a:outerShdw>
          </a:effectLst>
        </p:spPr>
      </p:sp>
      <p:sp>
        <p:nvSpPr>
          <p:cNvPr id="4" name="Text 2"/>
          <p:cNvSpPr txBox="1"/>
          <p:nvPr/>
        </p:nvSpPr>
        <p:spPr>
          <a:xfrm>
            <a:off x="594360" y="932688"/>
            <a:ext cx="11018520" cy="402336"/>
          </a:xfrm>
          <a:prstGeom prst="rect">
            <a:avLst/>
          </a:prstGeom>
          <a:noFill/>
          <a:ln/>
        </p:spPr>
        <p:txBody>
          <a:bodyPr wrap="square" lIns="0" tIns="0" rIns="0" bIns="0" rtlCol="0" anchor="ctr"/>
          <a:lstStyle/>
          <a:p>
            <a:pPr algn="ctr" indent="0" marL="0">
              <a:buNone/>
            </a:pPr>
            <a:r>
              <a:rPr lang="en-US" sz="1800" b="1" dirty="0">
                <a:solidFill>
                  <a:schemeClr val="accent3"/>
                </a:solidFill>
              </a:rPr>
              <a:t>Demo Walk is ON  ·  steps at the table are simulated</a:t>
            </a:r>
            <a:endParaRPr lang="en-US" sz="1800" dirty="0"/>
          </a:p>
        </p:txBody>
      </p:sp>
      <p:pic>
        <p:nvPicPr>
          <p:cNvPr id="5" name="demo-league" descr="G:\broswer download\big-red-hacks2026\docs\presentation\app_images\ED702DFD-F3B0-4517-8C60-E4FEB548C8EB.jpg">    </p:cNvPr>
          <p:cNvPicPr>
            <a:picLocks noChangeAspect="1"/>
          </p:cNvPicPr>
          <p:nvPr/>
        </p:nvPicPr>
        <p:blipFill>
          <a:blip r:embed="rId1"/>
          <a:stretch>
            <a:fillRect/>
          </a:stretch>
        </p:blipFill>
        <p:spPr>
          <a:xfrm>
            <a:off x="457200" y="1554480"/>
            <a:ext cx="4089313" cy="4160520"/>
          </a:xfrm>
          <a:prstGeom prst="rect">
            <a:avLst/>
          </a:prstGeom>
        </p:spPr>
      </p:pic>
      <p:sp>
        <p:nvSpPr>
          <p:cNvPr id="6" name="demo-walk-frame"/>
          <p:cNvSpPr/>
          <p:nvPr/>
        </p:nvSpPr>
        <p:spPr>
          <a:xfrm>
            <a:off x="4674529" y="1481328"/>
            <a:ext cx="2295164" cy="4306824"/>
          </a:xfrm>
          <a:prstGeom prst="roundRect">
            <a:avLst>
              <a:gd name="adj" fmla="val 7171"/>
            </a:avLst>
          </a:prstGeom>
          <a:solidFill>
            <a:srgbClr val="0B1F3A"/>
          </a:solidFill>
          <a:ln/>
        </p:spPr>
      </p:sp>
      <p:pic>
        <p:nvPicPr>
          <p:cNvPr id="7" name="demo-walk" descr="G:\broswer download\big-red-hacks2026\docs\presentation\app_images\295D7A3E-924B-40C7-9900-0A4613317A96.jpg">    </p:cNvPr>
          <p:cNvPicPr>
            <a:picLocks noChangeAspect="1"/>
          </p:cNvPicPr>
          <p:nvPr/>
        </p:nvPicPr>
        <p:blipFill>
          <a:blip r:embed="rId2"/>
          <a:stretch>
            <a:fillRect/>
          </a:stretch>
        </p:blipFill>
        <p:spPr>
          <a:xfrm>
            <a:off x="4747681" y="1554480"/>
            <a:ext cx="2148860" cy="4160520"/>
          </a:xfrm>
          <a:prstGeom prst="rect">
            <a:avLst/>
          </a:prstGeom>
        </p:spPr>
      </p:pic>
      <p:sp>
        <p:nvSpPr>
          <p:cNvPr id="8" name="c1"/>
          <p:cNvSpPr/>
          <p:nvPr/>
        </p:nvSpPr>
        <p:spPr>
          <a:xfrm>
            <a:off x="7097709" y="1554480"/>
            <a:ext cx="4652331" cy="1280160"/>
          </a:xfrm>
          <a:prstGeom prst="roundRect">
            <a:avLst>
              <a:gd name="adj" fmla="val 10000"/>
            </a:avLst>
          </a:prstGeom>
          <a:solidFill>
            <a:srgbClr val="FFFFFF"/>
          </a:solidFill>
          <a:ln/>
          <a:effectLst>
            <a:outerShdw sx="100000" sy="100000" kx="0" ky="0" algn="bl" rotWithShape="0" blurRad="101600" dist="25400" dir="5400000">
              <a:srgbClr val="0B1F3A">
                <a:alpha val="10000"/>
              </a:srgbClr>
            </a:outerShdw>
          </a:effectLst>
        </p:spPr>
      </p:sp>
      <p:sp>
        <p:nvSpPr>
          <p:cNvPr id="9" name="Text 5"/>
          <p:cNvSpPr txBox="1"/>
          <p:nvPr/>
        </p:nvSpPr>
        <p:spPr>
          <a:xfrm>
            <a:off x="7225725" y="1627632"/>
            <a:ext cx="4396299" cy="1133856"/>
          </a:xfrm>
          <a:prstGeom prst="rect">
            <a:avLst/>
          </a:prstGeom>
          <a:noFill/>
          <a:ln/>
        </p:spPr>
        <p:txBody>
          <a:bodyPr wrap="square" lIns="0" tIns="0" rIns="0" bIns="0" rtlCol="0" anchor="ctr"/>
          <a:lstStyle/>
          <a:p>
            <a:pPr indent="0" marL="0">
              <a:buNone/>
            </a:pPr>
            <a:r>
              <a:rPr lang="en-US" sz="1400" dirty="0">
                <a:solidFill>
                  <a:schemeClr val="tx1"/>
                </a:solidFill>
              </a:rPr>
              <a:t>1–2  Pip explores. League-up. Practice walk.</a:t>
            </a:r>
            <a:endParaRPr lang="en-US" sz="1400" dirty="0"/>
          </a:p>
        </p:txBody>
      </p:sp>
      <p:sp>
        <p:nvSpPr>
          <p:cNvPr id="10" name="c2"/>
          <p:cNvSpPr/>
          <p:nvPr/>
        </p:nvSpPr>
        <p:spPr>
          <a:xfrm>
            <a:off x="7097709" y="2971800"/>
            <a:ext cx="4652331" cy="1280160"/>
          </a:xfrm>
          <a:prstGeom prst="roundRect">
            <a:avLst>
              <a:gd name="adj" fmla="val 10000"/>
            </a:avLst>
          </a:prstGeom>
          <a:solidFill>
            <a:srgbClr val="FFFFFF"/>
          </a:solidFill>
          <a:ln/>
          <a:effectLst>
            <a:outerShdw sx="100000" sy="100000" kx="0" ky="0" algn="bl" rotWithShape="0" blurRad="101600" dist="25400" dir="5400000">
              <a:srgbClr val="0B1F3A">
                <a:alpha val="10000"/>
              </a:srgbClr>
            </a:outerShdw>
          </a:effectLst>
        </p:spPr>
      </p:sp>
      <p:sp>
        <p:nvSpPr>
          <p:cNvPr id="11" name="Text 7"/>
          <p:cNvSpPr txBox="1"/>
          <p:nvPr/>
        </p:nvSpPr>
        <p:spPr>
          <a:xfrm>
            <a:off x="7225725" y="3044952"/>
            <a:ext cx="4396299" cy="1133856"/>
          </a:xfrm>
          <a:prstGeom prst="rect">
            <a:avLst/>
          </a:prstGeom>
          <a:noFill/>
          <a:ln/>
        </p:spPr>
        <p:txBody>
          <a:bodyPr wrap="square" lIns="0" tIns="0" rIns="0" bIns="0" rtlCol="0" anchor="ctr"/>
          <a:lstStyle/>
          <a:p>
            <a:pPr indent="0" marL="0">
              <a:buNone/>
            </a:pPr>
            <a:r>
              <a:rPr lang="en-US" sz="1400" dirty="0">
                <a:solidFill>
                  <a:schemeClr val="tx1"/>
                </a:solidFill>
              </a:rPr>
              <a:t>3  Pick Bailey Hall. Start the 161 m walk.</a:t>
            </a:r>
            <a:endParaRPr lang="en-US" sz="1400" dirty="0"/>
          </a:p>
        </p:txBody>
      </p:sp>
      <p:sp>
        <p:nvSpPr>
          <p:cNvPr id="12" name="c3"/>
          <p:cNvSpPr/>
          <p:nvPr/>
        </p:nvSpPr>
        <p:spPr>
          <a:xfrm>
            <a:off x="7097709" y="4389120"/>
            <a:ext cx="4652331" cy="1280160"/>
          </a:xfrm>
          <a:prstGeom prst="roundRect">
            <a:avLst>
              <a:gd name="adj" fmla="val 10000"/>
            </a:avLst>
          </a:prstGeom>
          <a:solidFill>
            <a:srgbClr val="FFFFFF"/>
          </a:solidFill>
          <a:ln/>
          <a:effectLst>
            <a:outerShdw sx="100000" sy="100000" kx="0" ky="0" algn="bl" rotWithShape="0" blurRad="101600" dist="25400" dir="5400000">
              <a:srgbClr val="0B1F3A">
                <a:alpha val="10000"/>
              </a:srgbClr>
            </a:outerShdw>
          </a:effectLst>
        </p:spPr>
      </p:sp>
      <p:sp>
        <p:nvSpPr>
          <p:cNvPr id="13" name="Text 9"/>
          <p:cNvSpPr txBox="1"/>
          <p:nvPr/>
        </p:nvSpPr>
        <p:spPr>
          <a:xfrm>
            <a:off x="7225725" y="4462272"/>
            <a:ext cx="4396299" cy="1133856"/>
          </a:xfrm>
          <a:prstGeom prst="rect">
            <a:avLst/>
          </a:prstGeom>
          <a:noFill/>
          <a:ln/>
        </p:spPr>
        <p:txBody>
          <a:bodyPr wrap="square" lIns="0" tIns="0" rIns="0" bIns="0" rtlCol="0" anchor="ctr"/>
          <a:lstStyle/>
          <a:p>
            <a:pPr indent="0" marL="0">
              <a:buNone/>
            </a:pPr>
            <a:r>
              <a:rPr lang="en-US" sz="1400" dirty="0">
                <a:solidFill>
                  <a:schemeClr val="tx1"/>
                </a:solidFill>
              </a:rPr>
              <a:t>4  Capture the landmark. Hide Expo tools.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A phone, a small API, the real world</a:t>
            </a:r>
            <a:endParaRPr lang="en-US" sz="3000" dirty="0"/>
          </a:p>
        </p:txBody>
      </p:sp>
      <p:sp>
        <p:nvSpPr>
          <p:cNvPr id="3" name="arch-0"/>
          <p:cNvSpPr/>
          <p:nvPr/>
        </p:nvSpPr>
        <p:spPr>
          <a:xfrm>
            <a:off x="502920" y="1097280"/>
            <a:ext cx="3383280" cy="2240280"/>
          </a:xfrm>
          <a:prstGeom prst="roundRect">
            <a:avLst>
              <a:gd name="adj" fmla="val 5714"/>
            </a:avLst>
          </a:prstGeom>
          <a:solidFill>
            <a:srgbClr val="FFFFFF"/>
          </a:solidFill>
          <a:ln/>
          <a:effectLst>
            <a:outerShdw sx="100000" sy="100000" kx="0" ky="0" algn="bl" rotWithShape="0" blurRad="101600" dist="25400" dir="5400000">
              <a:srgbClr val="0B1F3A">
                <a:alpha val="10000"/>
              </a:srgbClr>
            </a:outerShdw>
          </a:effectLst>
        </p:spPr>
      </p:sp>
      <p:sp>
        <p:nvSpPr>
          <p:cNvPr id="4" name="Text 2"/>
          <p:cNvSpPr txBox="1"/>
          <p:nvPr/>
        </p:nvSpPr>
        <p:spPr>
          <a:xfrm>
            <a:off x="704088" y="1280160"/>
            <a:ext cx="2971800" cy="457200"/>
          </a:xfrm>
          <a:prstGeom prst="rect">
            <a:avLst/>
          </a:prstGeom>
          <a:noFill/>
          <a:ln/>
        </p:spPr>
        <p:txBody>
          <a:bodyPr wrap="square" lIns="0" tIns="0" rIns="0" bIns="0" rtlCol="0" anchor="ctr"/>
          <a:lstStyle/>
          <a:p>
            <a:pPr indent="0" marL="0">
              <a:buNone/>
            </a:pPr>
            <a:r>
              <a:rPr lang="en-US" sz="2400" b="1" dirty="0">
                <a:solidFill>
                  <a:schemeClr val="tx1"/>
                </a:solidFill>
              </a:rPr>
              <a:t>Phone</a:t>
            </a:r>
            <a:endParaRPr lang="en-US" sz="2400" dirty="0"/>
          </a:p>
        </p:txBody>
      </p:sp>
      <p:sp>
        <p:nvSpPr>
          <p:cNvPr id="5" name="Text 3"/>
          <p:cNvSpPr txBox="1"/>
          <p:nvPr/>
        </p:nvSpPr>
        <p:spPr>
          <a:xfrm>
            <a:off x="704088" y="1874520"/>
            <a:ext cx="2971800" cy="1188720"/>
          </a:xfrm>
          <a:prstGeom prst="rect">
            <a:avLst/>
          </a:prstGeom>
          <a:noFill/>
          <a:ln/>
        </p:spPr>
        <p:txBody>
          <a:bodyPr wrap="square" lIns="0" tIns="0" rIns="0" bIns="0" rtlCol="0" anchor="ctr"/>
          <a:lstStyle/>
          <a:p>
            <a:pPr indent="0" marL="0">
              <a:buNone/>
            </a:pPr>
            <a:r>
              <a:rPr lang="en-US" sz="1800" dirty="0">
                <a:solidFill>
                  <a:schemeClr val="accent6"/>
                </a:solidFill>
              </a:rPr>
              <a:t>Expo app</a:t>
            </a:r>
            <a:endParaRPr lang="en-US" sz="1800" dirty="0"/>
          </a:p>
          <a:p>
            <a:pPr indent="0" marL="0">
              <a:buNone/>
            </a:pPr>
            <a:r>
              <a:rPr lang="en-US" sz="1800" dirty="0">
                <a:solidFill>
                  <a:schemeClr val="accent6"/>
                </a:solidFill>
              </a:rPr>
              <a:t>Shared game logic</a:t>
            </a:r>
            <a:endParaRPr lang="en-US" sz="1800" dirty="0"/>
          </a:p>
        </p:txBody>
      </p:sp>
      <p:sp>
        <p:nvSpPr>
          <p:cNvPr id="6" name="Text 4"/>
          <p:cNvSpPr txBox="1"/>
          <p:nvPr/>
        </p:nvSpPr>
        <p:spPr>
          <a:xfrm>
            <a:off x="3749040" y="1920240"/>
            <a:ext cx="640080" cy="502920"/>
          </a:xfrm>
          <a:prstGeom prst="rect">
            <a:avLst/>
          </a:prstGeom>
          <a:noFill/>
          <a:ln/>
        </p:spPr>
        <p:txBody>
          <a:bodyPr wrap="square" lIns="0" tIns="0" rIns="0" bIns="0" rtlCol="0" anchor="ctr"/>
          <a:lstStyle/>
          <a:p>
            <a:pPr algn="ctr" indent="0" marL="0">
              <a:buNone/>
            </a:pPr>
            <a:r>
              <a:rPr lang="en-US" sz="2800" b="1" dirty="0">
                <a:solidFill>
                  <a:schemeClr val="accent1"/>
                </a:solidFill>
              </a:rPr>
              <a:t>→</a:t>
            </a:r>
            <a:endParaRPr lang="en-US" sz="2800" dirty="0"/>
          </a:p>
        </p:txBody>
      </p:sp>
      <p:sp>
        <p:nvSpPr>
          <p:cNvPr id="7" name="arch-1"/>
          <p:cNvSpPr/>
          <p:nvPr/>
        </p:nvSpPr>
        <p:spPr>
          <a:xfrm>
            <a:off x="4389120" y="1097280"/>
            <a:ext cx="3383280" cy="2240280"/>
          </a:xfrm>
          <a:prstGeom prst="roundRect">
            <a:avLst>
              <a:gd name="adj" fmla="val 5714"/>
            </a:avLst>
          </a:prstGeom>
          <a:solidFill>
            <a:srgbClr val="0B1F3A"/>
          </a:solidFill>
          <a:ln/>
          <a:effectLst>
            <a:outerShdw sx="100000" sy="100000" kx="0" ky="0" algn="bl" rotWithShape="0" blurRad="101600" dist="25400" dir="5400000">
              <a:srgbClr val="0B1F3A">
                <a:alpha val="10000"/>
              </a:srgbClr>
            </a:outerShdw>
          </a:effectLst>
        </p:spPr>
      </p:sp>
      <p:sp>
        <p:nvSpPr>
          <p:cNvPr id="8" name="Text 6"/>
          <p:cNvSpPr txBox="1"/>
          <p:nvPr/>
        </p:nvSpPr>
        <p:spPr>
          <a:xfrm>
            <a:off x="4590288" y="1280160"/>
            <a:ext cx="2971800" cy="457200"/>
          </a:xfrm>
          <a:prstGeom prst="rect">
            <a:avLst/>
          </a:prstGeom>
          <a:noFill/>
          <a:ln/>
        </p:spPr>
        <p:txBody>
          <a:bodyPr wrap="square" lIns="0" tIns="0" rIns="0" bIns="0" rtlCol="0" anchor="ctr"/>
          <a:lstStyle/>
          <a:p>
            <a:pPr indent="0" marL="0">
              <a:buNone/>
            </a:pPr>
            <a:r>
              <a:rPr lang="en-US" sz="2400" b="1" dirty="0">
                <a:solidFill>
                  <a:schemeClr val="accent3"/>
                </a:solidFill>
              </a:rPr>
              <a:t>API</a:t>
            </a:r>
            <a:endParaRPr lang="en-US" sz="2400" dirty="0"/>
          </a:p>
        </p:txBody>
      </p:sp>
      <p:sp>
        <p:nvSpPr>
          <p:cNvPr id="9" name="Text 7"/>
          <p:cNvSpPr txBox="1"/>
          <p:nvPr/>
        </p:nvSpPr>
        <p:spPr>
          <a:xfrm>
            <a:off x="4590288" y="1874520"/>
            <a:ext cx="2971800" cy="1188720"/>
          </a:xfrm>
          <a:prstGeom prst="rect">
            <a:avLst/>
          </a:prstGeom>
          <a:noFill/>
          <a:ln/>
        </p:spPr>
        <p:txBody>
          <a:bodyPr wrap="square" lIns="0" tIns="0" rIns="0" bIns="0" rtlCol="0" anchor="ctr"/>
          <a:lstStyle/>
          <a:p>
            <a:pPr indent="0" marL="0">
              <a:buNone/>
            </a:pPr>
            <a:r>
              <a:rPr lang="en-US" sz="1800" dirty="0">
                <a:solidFill>
                  <a:srgbClr val="FFFFFF"/>
                </a:solidFill>
              </a:rPr>
              <a:t>Node /api</a:t>
            </a:r>
            <a:endParaRPr lang="en-US" sz="1800" dirty="0"/>
          </a:p>
          <a:p>
            <a:pPr indent="0" marL="0">
              <a:buNone/>
            </a:pPr>
            <a:r>
              <a:rPr lang="en-US" sz="1800" dirty="0">
                <a:solidFill>
                  <a:srgbClr val="FFFFFF"/>
                </a:solidFill>
              </a:rPr>
              <a:t>Secrets stay here</a:t>
            </a:r>
            <a:endParaRPr lang="en-US" sz="1800" dirty="0"/>
          </a:p>
        </p:txBody>
      </p:sp>
      <p:sp>
        <p:nvSpPr>
          <p:cNvPr id="10" name="Text 8"/>
          <p:cNvSpPr txBox="1"/>
          <p:nvPr/>
        </p:nvSpPr>
        <p:spPr>
          <a:xfrm>
            <a:off x="7635240" y="1920240"/>
            <a:ext cx="640080" cy="502920"/>
          </a:xfrm>
          <a:prstGeom prst="rect">
            <a:avLst/>
          </a:prstGeom>
          <a:noFill/>
          <a:ln/>
        </p:spPr>
        <p:txBody>
          <a:bodyPr wrap="square" lIns="0" tIns="0" rIns="0" bIns="0" rtlCol="0" anchor="ctr"/>
          <a:lstStyle/>
          <a:p>
            <a:pPr algn="ctr" indent="0" marL="0">
              <a:buNone/>
            </a:pPr>
            <a:r>
              <a:rPr lang="en-US" sz="2800" b="1" dirty="0">
                <a:solidFill>
                  <a:schemeClr val="accent1"/>
                </a:solidFill>
              </a:rPr>
              <a:t>→</a:t>
            </a:r>
            <a:endParaRPr lang="en-US" sz="2800" dirty="0"/>
          </a:p>
        </p:txBody>
      </p:sp>
      <p:sp>
        <p:nvSpPr>
          <p:cNvPr id="11" name="arch-2"/>
          <p:cNvSpPr/>
          <p:nvPr/>
        </p:nvSpPr>
        <p:spPr>
          <a:xfrm>
            <a:off x="8275320" y="1097280"/>
            <a:ext cx="3383280" cy="2240280"/>
          </a:xfrm>
          <a:prstGeom prst="roundRect">
            <a:avLst>
              <a:gd name="adj" fmla="val 5714"/>
            </a:avLst>
          </a:prstGeom>
          <a:solidFill>
            <a:srgbClr val="FFFFFF"/>
          </a:solidFill>
          <a:ln/>
          <a:effectLst>
            <a:outerShdw sx="100000" sy="100000" kx="0" ky="0" algn="bl" rotWithShape="0" blurRad="101600" dist="25400" dir="5400000">
              <a:srgbClr val="0B1F3A">
                <a:alpha val="10000"/>
              </a:srgbClr>
            </a:outerShdw>
          </a:effectLst>
        </p:spPr>
      </p:sp>
      <p:sp>
        <p:nvSpPr>
          <p:cNvPr id="12" name="Text 10"/>
          <p:cNvSpPr txBox="1"/>
          <p:nvPr/>
        </p:nvSpPr>
        <p:spPr>
          <a:xfrm>
            <a:off x="8476488" y="1280160"/>
            <a:ext cx="2971800" cy="457200"/>
          </a:xfrm>
          <a:prstGeom prst="rect">
            <a:avLst/>
          </a:prstGeom>
          <a:noFill/>
          <a:ln/>
        </p:spPr>
        <p:txBody>
          <a:bodyPr wrap="square" lIns="0" tIns="0" rIns="0" bIns="0" rtlCol="0" anchor="ctr"/>
          <a:lstStyle/>
          <a:p>
            <a:pPr indent="0" marL="0">
              <a:buNone/>
            </a:pPr>
            <a:r>
              <a:rPr lang="en-US" sz="2400" b="1" dirty="0">
                <a:solidFill>
                  <a:schemeClr val="tx1"/>
                </a:solidFill>
              </a:rPr>
              <a:t>World</a:t>
            </a:r>
            <a:endParaRPr lang="en-US" sz="2400" dirty="0"/>
          </a:p>
        </p:txBody>
      </p:sp>
      <p:sp>
        <p:nvSpPr>
          <p:cNvPr id="13" name="Text 11"/>
          <p:cNvSpPr txBox="1"/>
          <p:nvPr/>
        </p:nvSpPr>
        <p:spPr>
          <a:xfrm>
            <a:off x="8476488" y="1874520"/>
            <a:ext cx="2971800" cy="1188720"/>
          </a:xfrm>
          <a:prstGeom prst="rect">
            <a:avLst/>
          </a:prstGeom>
          <a:noFill/>
          <a:ln/>
        </p:spPr>
        <p:txBody>
          <a:bodyPr wrap="square" lIns="0" tIns="0" rIns="0" bIns="0" rtlCol="0" anchor="ctr"/>
          <a:lstStyle/>
          <a:p>
            <a:pPr indent="0" marL="0">
              <a:buNone/>
            </a:pPr>
            <a:r>
              <a:rPr lang="en-US" sz="1800" dirty="0">
                <a:solidFill>
                  <a:schemeClr val="accent6"/>
                </a:solidFill>
              </a:rPr>
              <a:t>Wikipedia · OSM</a:t>
            </a:r>
            <a:endParaRPr lang="en-US" sz="1800" dirty="0"/>
          </a:p>
          <a:p>
            <a:pPr indent="0" marL="0">
              <a:buNone/>
            </a:pPr>
            <a:r>
              <a:rPr lang="en-US" sz="1800" dirty="0">
                <a:solidFill>
                  <a:schemeClr val="accent6"/>
                </a:solidFill>
              </a:rPr>
              <a:t>Voice and art optional</a:t>
            </a:r>
            <a:endParaRPr lang="en-US" sz="1800" dirty="0"/>
          </a:p>
        </p:txBody>
      </p:sp>
      <p:sp>
        <p:nvSpPr>
          <p:cNvPr id="14" name="f-0"/>
          <p:cNvSpPr/>
          <p:nvPr/>
        </p:nvSpPr>
        <p:spPr>
          <a:xfrm>
            <a:off x="594360" y="3822192"/>
            <a:ext cx="292608" cy="292608"/>
          </a:xfrm>
          <a:prstGeom prst="ellipse">
            <a:avLst/>
          </a:prstGeom>
          <a:solidFill>
            <a:schemeClr val="accent2"/>
          </a:solidFill>
          <a:ln/>
        </p:spPr>
      </p:sp>
      <p:sp>
        <p:nvSpPr>
          <p:cNvPr id="15" name="Text 13"/>
          <p:cNvSpPr txBox="1"/>
          <p:nvPr/>
        </p:nvSpPr>
        <p:spPr>
          <a:xfrm>
            <a:off x="1051560" y="3657600"/>
            <a:ext cx="10515600" cy="640080"/>
          </a:xfrm>
          <a:prstGeom prst="rect">
            <a:avLst/>
          </a:prstGeom>
          <a:noFill/>
          <a:ln/>
        </p:spPr>
        <p:txBody>
          <a:bodyPr wrap="square" lIns="0" tIns="0" rIns="0" bIns="0" rtlCol="0" anchor="ctr"/>
          <a:lstStyle/>
          <a:p>
            <a:pPr indent="0" marL="0">
              <a:buNone/>
            </a:pPr>
            <a:r>
              <a:rPr lang="en-US" sz="2000" dirty="0">
                <a:solidFill>
                  <a:schemeClr val="tx1"/>
                </a:solidFill>
              </a:rPr>
              <a:t>Facts and routes come from tools, not the model.</a:t>
            </a:r>
            <a:endParaRPr lang="en-US" sz="2000" dirty="0"/>
          </a:p>
        </p:txBody>
      </p:sp>
      <p:sp>
        <p:nvSpPr>
          <p:cNvPr id="16" name="f-1"/>
          <p:cNvSpPr/>
          <p:nvPr/>
        </p:nvSpPr>
        <p:spPr>
          <a:xfrm>
            <a:off x="594360" y="4599432"/>
            <a:ext cx="292608" cy="292608"/>
          </a:xfrm>
          <a:prstGeom prst="ellipse">
            <a:avLst/>
          </a:prstGeom>
          <a:solidFill>
            <a:schemeClr val="accent2"/>
          </a:solidFill>
          <a:ln/>
        </p:spPr>
      </p:sp>
      <p:sp>
        <p:nvSpPr>
          <p:cNvPr id="17" name="Text 15"/>
          <p:cNvSpPr txBox="1"/>
          <p:nvPr/>
        </p:nvSpPr>
        <p:spPr>
          <a:xfrm>
            <a:off x="1051560" y="4434840"/>
            <a:ext cx="10515600" cy="640080"/>
          </a:xfrm>
          <a:prstGeom prst="rect">
            <a:avLst/>
          </a:prstGeom>
          <a:noFill/>
          <a:ln/>
        </p:spPr>
        <p:txBody>
          <a:bodyPr wrap="square" lIns="0" tIns="0" rIns="0" bIns="0" rtlCol="0" anchor="ctr"/>
          <a:lstStyle/>
          <a:p>
            <a:pPr indent="0" marL="0">
              <a:buNone/>
            </a:pPr>
            <a:r>
              <a:rPr lang="en-US" sz="2000" dirty="0">
                <a:solidFill>
                  <a:schemeClr val="tx1"/>
                </a:solidFill>
              </a:rPr>
              <a:t>Photon carries the same squad into iMessage.</a:t>
            </a:r>
            <a:endParaRPr lang="en-US" sz="2000" dirty="0"/>
          </a:p>
        </p:txBody>
      </p:sp>
      <p:sp>
        <p:nvSpPr>
          <p:cNvPr id="18" name="f-2"/>
          <p:cNvSpPr/>
          <p:nvPr/>
        </p:nvSpPr>
        <p:spPr>
          <a:xfrm>
            <a:off x="594360" y="5376672"/>
            <a:ext cx="292608" cy="292608"/>
          </a:xfrm>
          <a:prstGeom prst="ellipse">
            <a:avLst/>
          </a:prstGeom>
          <a:solidFill>
            <a:schemeClr val="accent2"/>
          </a:solidFill>
          <a:ln/>
        </p:spPr>
      </p:sp>
      <p:sp>
        <p:nvSpPr>
          <p:cNvPr id="19" name="Text 17"/>
          <p:cNvSpPr txBox="1"/>
          <p:nvPr/>
        </p:nvSpPr>
        <p:spPr>
          <a:xfrm>
            <a:off x="1051560" y="5212080"/>
            <a:ext cx="10515600" cy="640080"/>
          </a:xfrm>
          <a:prstGeom prst="rect">
            <a:avLst/>
          </a:prstGeom>
          <a:noFill/>
          <a:ln/>
        </p:spPr>
        <p:txBody>
          <a:bodyPr wrap="square" lIns="0" tIns="0" rIns="0" bIns="0" rtlCol="0" anchor="ctr"/>
          <a:lstStyle/>
          <a:p>
            <a:pPr indent="0" marL="0">
              <a:buNone/>
            </a:pPr>
            <a:r>
              <a:rPr lang="en-US" sz="2000" dirty="0">
                <a:solidFill>
                  <a:schemeClr val="tx1"/>
                </a:solidFill>
              </a:rPr>
              <a:t>Designed and iterated in Cursor.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Walking earns creatures and landmarks</a:t>
            </a:r>
            <a:endParaRPr lang="en-US" sz="3000" dirty="0"/>
          </a:p>
        </p:txBody>
      </p:sp>
      <p:pic>
        <p:nvPicPr>
          <p:cNvPr id="3" name="egg" descr="G:\broswer download\big-red-hacks2026\docs\presentation\app_images\C2EA70B0-0CD6-4D92-AAFE-8EC1C33A2133.jpg">    </p:cNvPr>
          <p:cNvPicPr>
            <a:picLocks noChangeAspect="1"/>
          </p:cNvPicPr>
          <p:nvPr/>
        </p:nvPicPr>
        <p:blipFill>
          <a:blip r:embed="rId1"/>
          <a:stretch>
            <a:fillRect/>
          </a:stretch>
        </p:blipFill>
        <p:spPr>
          <a:xfrm>
            <a:off x="411480" y="960120"/>
            <a:ext cx="3246120" cy="2877365"/>
          </a:xfrm>
          <a:prstGeom prst="rect">
            <a:avLst/>
          </a:prstGeom>
        </p:spPr>
      </p:pic>
      <p:pic>
        <p:nvPicPr>
          <p:cNvPr id="4" name="mochi" descr="G:\broswer download\big-red-hacks2026\docs\presentation\app_images\0B82DD1F-6522-46CD-8774-F7C4336505D4.jpg">    </p:cNvPr>
          <p:cNvPicPr>
            <a:picLocks noChangeAspect="1"/>
          </p:cNvPicPr>
          <p:nvPr/>
        </p:nvPicPr>
        <p:blipFill>
          <a:blip r:embed="rId2"/>
          <a:stretch>
            <a:fillRect/>
          </a:stretch>
        </p:blipFill>
        <p:spPr>
          <a:xfrm>
            <a:off x="3794760" y="960120"/>
            <a:ext cx="3063240" cy="3807460"/>
          </a:xfrm>
          <a:prstGeom prst="rect">
            <a:avLst/>
          </a:prstGeom>
        </p:spPr>
      </p:pic>
      <p:sp>
        <p:nvSpPr>
          <p:cNvPr id="5" name="captured-frame"/>
          <p:cNvSpPr/>
          <p:nvPr/>
        </p:nvSpPr>
        <p:spPr>
          <a:xfrm>
            <a:off x="6967728" y="886968"/>
            <a:ext cx="2420049" cy="4352544"/>
          </a:xfrm>
          <a:prstGeom prst="roundRect">
            <a:avLst>
              <a:gd name="adj" fmla="val 6801"/>
            </a:avLst>
          </a:prstGeom>
          <a:solidFill>
            <a:srgbClr val="0B1F3A"/>
          </a:solidFill>
          <a:ln/>
        </p:spPr>
      </p:sp>
      <p:pic>
        <p:nvPicPr>
          <p:cNvPr id="6" name="captured" descr="G:\broswer download\big-red-hacks2026\docs\presentation\app_images\D8BE4252-56A8-4B93-B944-9D82B404BB87.jpg">    </p:cNvPr>
          <p:cNvPicPr>
            <a:picLocks noChangeAspect="1"/>
          </p:cNvPicPr>
          <p:nvPr/>
        </p:nvPicPr>
        <p:blipFill>
          <a:blip r:embed="rId3"/>
          <a:stretch>
            <a:fillRect/>
          </a:stretch>
        </p:blipFill>
        <p:spPr>
          <a:xfrm>
            <a:off x="7040880" y="960120"/>
            <a:ext cx="2273745" cy="4206240"/>
          </a:xfrm>
          <a:prstGeom prst="rect">
            <a:avLst/>
          </a:prstGeom>
        </p:spPr>
      </p:pic>
      <p:sp>
        <p:nvSpPr>
          <p:cNvPr id="7" name="egg-c"/>
          <p:cNvSpPr/>
          <p:nvPr/>
        </p:nvSpPr>
        <p:spPr>
          <a:xfrm>
            <a:off x="411480" y="3947213"/>
            <a:ext cx="3246120" cy="1051560"/>
          </a:xfrm>
          <a:prstGeom prst="roundRect">
            <a:avLst>
              <a:gd name="adj" fmla="val 12174"/>
            </a:avLst>
          </a:prstGeom>
          <a:solidFill>
            <a:srgbClr val="FFFFFF"/>
          </a:solidFill>
          <a:ln/>
          <a:effectLst>
            <a:outerShdw sx="100000" sy="100000" kx="0" ky="0" algn="bl" rotWithShape="0" blurRad="101600" dist="25400" dir="5400000">
              <a:srgbClr val="0B1F3A">
                <a:alpha val="10000"/>
              </a:srgbClr>
            </a:outerShdw>
          </a:effectLst>
        </p:spPr>
      </p:sp>
      <p:sp>
        <p:nvSpPr>
          <p:cNvPr id="8" name="Text 3"/>
          <p:cNvSpPr txBox="1"/>
          <p:nvPr/>
        </p:nvSpPr>
        <p:spPr>
          <a:xfrm>
            <a:off x="539496" y="4020365"/>
            <a:ext cx="2990088" cy="905256"/>
          </a:xfrm>
          <a:prstGeom prst="rect">
            <a:avLst/>
          </a:prstGeom>
          <a:noFill/>
          <a:ln/>
        </p:spPr>
        <p:txBody>
          <a:bodyPr wrap="square" lIns="0" tIns="0" rIns="0" bIns="0" rtlCol="0" anchor="ctr"/>
          <a:lstStyle/>
          <a:p>
            <a:pPr indent="0" marL="0">
              <a:buNone/>
            </a:pPr>
            <a:r>
              <a:rPr lang="en-US" sz="1400" dirty="0">
                <a:solidFill>
                  <a:schemeClr val="tx1"/>
                </a:solidFill>
              </a:rPr>
              <a:t>An egg fills as you walk. Demo walks on.</a:t>
            </a:r>
            <a:endParaRPr lang="en-US" sz="1400" dirty="0"/>
          </a:p>
        </p:txBody>
      </p:sp>
      <p:sp>
        <p:nvSpPr>
          <p:cNvPr id="9" name="mochi-c"/>
          <p:cNvSpPr/>
          <p:nvPr/>
        </p:nvSpPr>
        <p:spPr>
          <a:xfrm>
            <a:off x="3794760" y="4877308"/>
            <a:ext cx="3063240" cy="1051560"/>
          </a:xfrm>
          <a:prstGeom prst="roundRect">
            <a:avLst>
              <a:gd name="adj" fmla="val 12174"/>
            </a:avLst>
          </a:prstGeom>
          <a:solidFill>
            <a:srgbClr val="FFFFFF"/>
          </a:solidFill>
          <a:ln/>
          <a:effectLst>
            <a:outerShdw sx="100000" sy="100000" kx="0" ky="0" algn="bl" rotWithShape="0" blurRad="101600" dist="25400" dir="5400000">
              <a:srgbClr val="0B1F3A">
                <a:alpha val="10000"/>
              </a:srgbClr>
            </a:outerShdw>
          </a:effectLst>
        </p:spPr>
      </p:sp>
      <p:sp>
        <p:nvSpPr>
          <p:cNvPr id="10" name="Text 5"/>
          <p:cNvSpPr txBox="1"/>
          <p:nvPr/>
        </p:nvSpPr>
        <p:spPr>
          <a:xfrm>
            <a:off x="3922776" y="4950460"/>
            <a:ext cx="2807208" cy="905256"/>
          </a:xfrm>
          <a:prstGeom prst="rect">
            <a:avLst/>
          </a:prstGeom>
          <a:noFill/>
          <a:ln/>
        </p:spPr>
        <p:txBody>
          <a:bodyPr wrap="square" lIns="0" tIns="0" rIns="0" bIns="0" rtlCol="0" anchor="ctr"/>
          <a:lstStyle/>
          <a:p>
            <a:pPr indent="0" marL="0">
              <a:buNone/>
            </a:pPr>
            <a:r>
              <a:rPr lang="en-US" sz="1400" dirty="0">
                <a:solidFill>
                  <a:schemeClr val="tx1"/>
                </a:solidFill>
              </a:rPr>
              <a:t>Meet Mochi — a rare Storyteller from a hatch.</a:t>
            </a:r>
            <a:endParaRPr lang="en-US" sz="1400" dirty="0"/>
          </a:p>
        </p:txBody>
      </p:sp>
      <p:sp>
        <p:nvSpPr>
          <p:cNvPr id="11" name="cap-c"/>
          <p:cNvSpPr/>
          <p:nvPr/>
        </p:nvSpPr>
        <p:spPr>
          <a:xfrm>
            <a:off x="7040880" y="5276088"/>
            <a:ext cx="4663440" cy="640080"/>
          </a:xfrm>
          <a:prstGeom prst="roundRect">
            <a:avLst>
              <a:gd name="adj" fmla="val 20000"/>
            </a:avLst>
          </a:prstGeom>
          <a:solidFill>
            <a:srgbClr val="FFFFFF"/>
          </a:solidFill>
          <a:ln/>
          <a:effectLst>
            <a:outerShdw sx="100000" sy="100000" kx="0" ky="0" algn="bl" rotWithShape="0" blurRad="101600" dist="25400" dir="5400000">
              <a:srgbClr val="0B1F3A">
                <a:alpha val="10000"/>
              </a:srgbClr>
            </a:outerShdw>
          </a:effectLst>
        </p:spPr>
      </p:sp>
      <p:sp>
        <p:nvSpPr>
          <p:cNvPr id="12" name="Text 7"/>
          <p:cNvSpPr txBox="1"/>
          <p:nvPr/>
        </p:nvSpPr>
        <p:spPr>
          <a:xfrm>
            <a:off x="7168896" y="5349240"/>
            <a:ext cx="4407408" cy="493776"/>
          </a:xfrm>
          <a:prstGeom prst="rect">
            <a:avLst/>
          </a:prstGeom>
          <a:noFill/>
          <a:ln/>
        </p:spPr>
        <p:txBody>
          <a:bodyPr wrap="square" lIns="0" tIns="0" rIns="0" bIns="0" rtlCol="0" anchor="ctr"/>
          <a:lstStyle/>
          <a:p>
            <a:pPr indent="0" marL="0">
              <a:buNone/>
            </a:pPr>
            <a:r>
              <a:rPr lang="en-US" sz="1400" dirty="0">
                <a:solidFill>
                  <a:schemeClr val="tx1"/>
                </a:solidFill>
              </a:rPr>
              <a:t>Nova holds Bailey Hall.</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Everyday walks. Extraordinary company.</a:t>
            </a:r>
            <a:endParaRPr lang="en-US" sz="3000" dirty="0"/>
          </a:p>
        </p:txBody>
      </p:sp>
      <p:sp>
        <p:nvSpPr>
          <p:cNvPr id="3" name="Text 1"/>
          <p:cNvSpPr txBox="1"/>
          <p:nvPr/>
        </p:nvSpPr>
        <p:spPr>
          <a:xfrm>
            <a:off x="457200" y="914400"/>
            <a:ext cx="11247120" cy="365760"/>
          </a:xfrm>
          <a:prstGeom prst="rect">
            <a:avLst/>
          </a:prstGeom>
          <a:noFill/>
          <a:ln/>
        </p:spPr>
        <p:txBody>
          <a:bodyPr wrap="square" lIns="0" tIns="0" rIns="0" bIns="0" rtlCol="0" anchor="ctr"/>
          <a:lstStyle/>
          <a:p>
            <a:pPr indent="0" marL="0">
              <a:buNone/>
            </a:pPr>
            <a:r>
              <a:rPr lang="en-US" sz="1800" dirty="0">
                <a:solidFill>
                  <a:schemeClr val="accent5"/>
                </a:solidFill>
              </a:rPr>
              <a:t>Campus, hometown blocks, the path between classes — same loop.</a:t>
            </a:r>
            <a:endParaRPr lang="en-US" sz="1800" dirty="0"/>
          </a:p>
        </p:txBody>
      </p:sp>
      <p:sp>
        <p:nvSpPr>
          <p:cNvPr id="4" name="Text 2"/>
          <p:cNvSpPr txBox="1"/>
          <p:nvPr/>
        </p:nvSpPr>
        <p:spPr>
          <a:xfrm>
            <a:off x="457200" y="1417320"/>
            <a:ext cx="11247120" cy="320040"/>
          </a:xfrm>
          <a:prstGeom prst="rect">
            <a:avLst/>
          </a:prstGeom>
          <a:noFill/>
          <a:ln/>
        </p:spPr>
        <p:txBody>
          <a:bodyPr wrap="square" lIns="0" tIns="0" rIns="0" bIns="0" rtlCol="0" anchor="ctr"/>
          <a:lstStyle/>
          <a:p>
            <a:pPr indent="0" marL="0">
              <a:buNone/>
            </a:pPr>
            <a:r>
              <a:rPr lang="en-US" sz="1600" b="1" dirty="0">
                <a:solidFill>
                  <a:schemeClr val="accent1"/>
                </a:solidFill>
              </a:rPr>
              <a:t>Planned next — not shipped</a:t>
            </a:r>
            <a:endParaRPr lang="en-US" sz="1600" dirty="0"/>
          </a:p>
        </p:txBody>
      </p:sp>
      <p:sp>
        <p:nvSpPr>
          <p:cNvPr id="5" name="next-0"/>
          <p:cNvSpPr/>
          <p:nvPr/>
        </p:nvSpPr>
        <p:spPr>
          <a:xfrm>
            <a:off x="457200" y="1874520"/>
            <a:ext cx="3657600" cy="2057400"/>
          </a:xfrm>
          <a:prstGeom prst="roundRect">
            <a:avLst>
              <a:gd name="adj" fmla="val 6222"/>
            </a:avLst>
          </a:prstGeom>
          <a:solidFill>
            <a:srgbClr val="FFFFFF"/>
          </a:solidFill>
          <a:ln/>
          <a:effectLst>
            <a:outerShdw sx="100000" sy="100000" kx="0" ky="0" algn="bl" rotWithShape="0" blurRad="101600" dist="25400" dir="5400000">
              <a:srgbClr val="0B1F3A">
                <a:alpha val="10000"/>
              </a:srgbClr>
            </a:outerShdw>
          </a:effectLst>
        </p:spPr>
      </p:sp>
      <p:sp>
        <p:nvSpPr>
          <p:cNvPr id="6" name="Text 4"/>
          <p:cNvSpPr txBox="1"/>
          <p:nvPr/>
        </p:nvSpPr>
        <p:spPr>
          <a:xfrm>
            <a:off x="658368" y="2057400"/>
            <a:ext cx="3246120" cy="777240"/>
          </a:xfrm>
          <a:prstGeom prst="rect">
            <a:avLst/>
          </a:prstGeom>
          <a:noFill/>
          <a:ln/>
        </p:spPr>
        <p:txBody>
          <a:bodyPr wrap="square" lIns="0" tIns="0" rIns="0" bIns="0" rtlCol="0" anchor="ctr"/>
          <a:lstStyle/>
          <a:p>
            <a:pPr indent="0" marL="0">
              <a:buNone/>
            </a:pPr>
            <a:r>
              <a:rPr lang="en-US" sz="2000" b="1" dirty="0">
                <a:solidFill>
                  <a:schemeClr val="tx1"/>
                </a:solidFill>
              </a:rPr>
              <a:t>Background tracking</a:t>
            </a:r>
            <a:endParaRPr lang="en-US" sz="2000" dirty="0"/>
          </a:p>
        </p:txBody>
      </p:sp>
      <p:sp>
        <p:nvSpPr>
          <p:cNvPr id="7" name="Text 5"/>
          <p:cNvSpPr txBox="1"/>
          <p:nvPr/>
        </p:nvSpPr>
        <p:spPr>
          <a:xfrm>
            <a:off x="658368" y="2880360"/>
            <a:ext cx="3246120" cy="777240"/>
          </a:xfrm>
          <a:prstGeom prst="rect">
            <a:avLst/>
          </a:prstGeom>
          <a:noFill/>
          <a:ln/>
        </p:spPr>
        <p:txBody>
          <a:bodyPr wrap="square" lIns="0" tIns="0" rIns="0" bIns="0" rtlCol="0" anchor="ctr"/>
          <a:lstStyle/>
          <a:p>
            <a:pPr indent="0" marL="0">
              <a:buNone/>
            </a:pPr>
            <a:r>
              <a:rPr lang="en-US" sz="1600" dirty="0">
                <a:solidFill>
                  <a:schemeClr val="accent6"/>
                </a:solidFill>
              </a:rPr>
              <a:t>Honest walks with the phone in a pocket.</a:t>
            </a:r>
            <a:endParaRPr lang="en-US" sz="1600" dirty="0"/>
          </a:p>
        </p:txBody>
      </p:sp>
      <p:sp>
        <p:nvSpPr>
          <p:cNvPr id="8" name="next-1"/>
          <p:cNvSpPr/>
          <p:nvPr/>
        </p:nvSpPr>
        <p:spPr>
          <a:xfrm>
            <a:off x="4297680" y="1874520"/>
            <a:ext cx="3657600" cy="2057400"/>
          </a:xfrm>
          <a:prstGeom prst="roundRect">
            <a:avLst>
              <a:gd name="adj" fmla="val 6222"/>
            </a:avLst>
          </a:prstGeom>
          <a:solidFill>
            <a:srgbClr val="FFFFFF"/>
          </a:solidFill>
          <a:ln/>
          <a:effectLst>
            <a:outerShdw sx="100000" sy="100000" kx="0" ky="0" algn="bl" rotWithShape="0" blurRad="101600" dist="25400" dir="5400000">
              <a:srgbClr val="0B1F3A">
                <a:alpha val="10000"/>
              </a:srgbClr>
            </a:outerShdw>
          </a:effectLst>
        </p:spPr>
      </p:sp>
      <p:sp>
        <p:nvSpPr>
          <p:cNvPr id="9" name="Text 7"/>
          <p:cNvSpPr txBox="1"/>
          <p:nvPr/>
        </p:nvSpPr>
        <p:spPr>
          <a:xfrm>
            <a:off x="4498848" y="2057400"/>
            <a:ext cx="3246120" cy="777240"/>
          </a:xfrm>
          <a:prstGeom prst="rect">
            <a:avLst/>
          </a:prstGeom>
          <a:noFill/>
          <a:ln/>
        </p:spPr>
        <p:txBody>
          <a:bodyPr wrap="square" lIns="0" tIns="0" rIns="0" bIns="0" rtlCol="0" anchor="ctr"/>
          <a:lstStyle/>
          <a:p>
            <a:pPr indent="0" marL="0">
              <a:buNone/>
            </a:pPr>
            <a:r>
              <a:rPr lang="en-US" sz="2000" b="1" dirty="0">
                <a:solidFill>
                  <a:schemeClr val="tx1"/>
                </a:solidFill>
              </a:rPr>
              <a:t>A deploy that stays awake</a:t>
            </a:r>
            <a:endParaRPr lang="en-US" sz="2000" dirty="0"/>
          </a:p>
        </p:txBody>
      </p:sp>
      <p:sp>
        <p:nvSpPr>
          <p:cNvPr id="10" name="Text 8"/>
          <p:cNvSpPr txBox="1"/>
          <p:nvPr/>
        </p:nvSpPr>
        <p:spPr>
          <a:xfrm>
            <a:off x="4498848" y="2880360"/>
            <a:ext cx="3246120" cy="777240"/>
          </a:xfrm>
          <a:prstGeom prst="rect">
            <a:avLst/>
          </a:prstGeom>
          <a:noFill/>
          <a:ln/>
        </p:spPr>
        <p:txBody>
          <a:bodyPr wrap="square" lIns="0" tIns="0" rIns="0" bIns="0" rtlCol="0" anchor="ctr"/>
          <a:lstStyle/>
          <a:p>
            <a:pPr indent="0" marL="0">
              <a:buNone/>
            </a:pPr>
            <a:r>
              <a:rPr lang="en-US" sz="1600" dirty="0">
                <a:solidFill>
                  <a:schemeClr val="accent6"/>
                </a:solidFill>
              </a:rPr>
              <a:t>Grok and turf up for a whole event.</a:t>
            </a:r>
            <a:endParaRPr lang="en-US" sz="1600" dirty="0"/>
          </a:p>
        </p:txBody>
      </p:sp>
      <p:sp>
        <p:nvSpPr>
          <p:cNvPr id="11" name="next-2"/>
          <p:cNvSpPr/>
          <p:nvPr/>
        </p:nvSpPr>
        <p:spPr>
          <a:xfrm>
            <a:off x="8138160" y="1874520"/>
            <a:ext cx="3657600" cy="2057400"/>
          </a:xfrm>
          <a:prstGeom prst="roundRect">
            <a:avLst>
              <a:gd name="adj" fmla="val 6222"/>
            </a:avLst>
          </a:prstGeom>
          <a:solidFill>
            <a:srgbClr val="FFFFFF"/>
          </a:solidFill>
          <a:ln/>
          <a:effectLst>
            <a:outerShdw sx="100000" sy="100000" kx="0" ky="0" algn="bl" rotWithShape="0" blurRad="101600" dist="25400" dir="5400000">
              <a:srgbClr val="0B1F3A">
                <a:alpha val="10000"/>
              </a:srgbClr>
            </a:outerShdw>
          </a:effectLst>
        </p:spPr>
      </p:sp>
      <p:sp>
        <p:nvSpPr>
          <p:cNvPr id="12" name="Text 10"/>
          <p:cNvSpPr txBox="1"/>
          <p:nvPr/>
        </p:nvSpPr>
        <p:spPr>
          <a:xfrm>
            <a:off x="8339328" y="2057400"/>
            <a:ext cx="3246120" cy="777240"/>
          </a:xfrm>
          <a:prstGeom prst="rect">
            <a:avLst/>
          </a:prstGeom>
          <a:noFill/>
          <a:ln/>
        </p:spPr>
        <p:txBody>
          <a:bodyPr wrap="square" lIns="0" tIns="0" rIns="0" bIns="0" rtlCol="0" anchor="ctr"/>
          <a:lstStyle/>
          <a:p>
            <a:pPr indent="0" marL="0">
              <a:buNone/>
            </a:pPr>
            <a:r>
              <a:rPr lang="en-US" sz="2000" b="1" dirty="0">
                <a:solidFill>
                  <a:schemeClr val="tx1"/>
                </a:solidFill>
              </a:rPr>
              <a:t>Richer social exploration</a:t>
            </a:r>
            <a:endParaRPr lang="en-US" sz="2000" dirty="0"/>
          </a:p>
        </p:txBody>
      </p:sp>
      <p:sp>
        <p:nvSpPr>
          <p:cNvPr id="13" name="Text 11"/>
          <p:cNvSpPr txBox="1"/>
          <p:nvPr/>
        </p:nvSpPr>
        <p:spPr>
          <a:xfrm>
            <a:off x="8339328" y="2880360"/>
            <a:ext cx="3246120" cy="777240"/>
          </a:xfrm>
          <a:prstGeom prst="rect">
            <a:avLst/>
          </a:prstGeom>
          <a:noFill/>
          <a:ln/>
        </p:spPr>
        <p:txBody>
          <a:bodyPr wrap="square" lIns="0" tIns="0" rIns="0" bIns="0" rtlCol="0" anchor="ctr"/>
          <a:lstStyle/>
          <a:p>
            <a:pPr indent="0" marL="0">
              <a:buNone/>
            </a:pPr>
            <a:r>
              <a:rPr lang="en-US" sz="1600" dirty="0">
                <a:solidFill>
                  <a:schemeClr val="accent6"/>
                </a:solidFill>
              </a:rPr>
              <a:t>Shared landmarks without a grind.</a:t>
            </a:r>
            <a:endParaRPr lang="en-US" sz="1600" dirty="0"/>
          </a:p>
        </p:txBody>
      </p:sp>
      <p:pic>
        <p:nvPicPr>
          <p:cNvPr id="14" name="close-mascot" descr="G:\broswer download\big-red-hacks2026\mobile\assets\splash-icon.png">    </p:cNvPr>
          <p:cNvPicPr>
            <a:picLocks noChangeAspect="1"/>
          </p:cNvPicPr>
          <p:nvPr/>
        </p:nvPicPr>
        <p:blipFill>
          <a:blip r:embed="rId1"/>
          <a:stretch>
            <a:fillRect/>
          </a:stretch>
        </p:blipFill>
        <p:spPr>
          <a:xfrm>
            <a:off x="502920" y="4251960"/>
            <a:ext cx="1143000" cy="1143000"/>
          </a:xfrm>
          <a:prstGeom prst="rect">
            <a:avLst/>
          </a:prstGeom>
        </p:spPr>
      </p:pic>
      <p:sp>
        <p:nvSpPr>
          <p:cNvPr id="15" name="Text 12"/>
          <p:cNvSpPr txBox="1"/>
          <p:nvPr/>
        </p:nvSpPr>
        <p:spPr>
          <a:xfrm>
            <a:off x="1874520" y="4389120"/>
            <a:ext cx="9692640" cy="457200"/>
          </a:xfrm>
          <a:prstGeom prst="rect">
            <a:avLst/>
          </a:prstGeom>
          <a:noFill/>
          <a:ln/>
        </p:spPr>
        <p:txBody>
          <a:bodyPr wrap="square" lIns="0" tIns="0" rIns="0" bIns="0" rtlCol="0" anchor="ctr"/>
          <a:lstStyle/>
          <a:p>
            <a:pPr indent="0" marL="0">
              <a:buNone/>
            </a:pPr>
            <a:r>
              <a:rPr lang="en-US" sz="2400" b="1" dirty="0">
                <a:solidFill>
                  <a:schemeClr val="tx1"/>
                </a:solidFill>
              </a:rPr>
              <a:t>Try it on the phone. Ask us anything.</a:t>
            </a:r>
            <a:endParaRPr lang="en-US" sz="2400" dirty="0"/>
          </a:p>
        </p:txBody>
      </p:sp>
      <p:sp>
        <p:nvSpPr>
          <p:cNvPr id="16" name="Text 13"/>
          <p:cNvSpPr txBox="1"/>
          <p:nvPr/>
        </p:nvSpPr>
        <p:spPr>
          <a:xfrm>
            <a:off x="1874520" y="4892040"/>
            <a:ext cx="9692640" cy="365760"/>
          </a:xfrm>
          <a:prstGeom prst="rect">
            <a:avLst/>
          </a:prstGeom>
          <a:noFill/>
          <a:ln/>
        </p:spPr>
        <p:txBody>
          <a:bodyPr wrap="square" lIns="0" tIns="0" rIns="0" bIns="0" rtlCol="0" anchor="ctr"/>
          <a:lstStyle/>
          <a:p>
            <a:pPr indent="0" marL="0">
              <a:buNone/>
            </a:pPr>
            <a:r>
              <a:rPr lang="en-US" sz="1600" dirty="0">
                <a:solidFill>
                  <a:schemeClr val="accent6"/>
                </a:solidFill>
              </a:rPr>
              <a:t>Luis Mendez  ·  Abdullah Rashid</a:t>
            </a:r>
            <a:endParaRPr lang="en-US" sz="1600" dirty="0"/>
          </a:p>
        </p:txBody>
      </p:sp>
    </p:spTree>
  </p:cSld>
  <p:clrMapOvr>
    <a:masterClrMapping/>
  </p:clrMapOvr>
</p:sld>
</file>

<file path=ppt/theme/theme1.xml><?xml version="1.0" encoding="utf-8"?>
<a:theme xmlns:a="http://schemas.openxmlformats.org/drawingml/2006/main" name="HuskiesPaws">
  <a:themeElements>
    <a:clrScheme name="HuskiesPaws">
      <a:dk1>
        <a:srgbClr val="163528"/>
      </a:dk1>
      <a:lt1>
        <a:srgbClr val="F6F1E4"/>
      </a:lt1>
      <a:dk2>
        <a:srgbClr val="0B1F3A"/>
      </a:dk2>
      <a:lt2>
        <a:srgbClr val="E6F4EA"/>
      </a:lt2>
      <a:accent1>
        <a:srgbClr val="2E9D4F"/>
      </a:accent1>
      <a:accent2>
        <a:srgbClr val="6EC6FF"/>
      </a:accent2>
      <a:accent3>
        <a:srgbClr val="E8A317"/>
      </a:accent3>
      <a:accent4>
        <a:srgbClr val="FF7A59"/>
      </a:accent4>
      <a:accent5>
        <a:srgbClr val="237A3D"/>
      </a:accent5>
      <a:accent6>
        <a:srgbClr val="5B6B82"/>
      </a:accent6>
      <a:hlink>
        <a:srgbClr val="6EC6FF"/>
      </a:hlink>
      <a:folHlink>
        <a:srgbClr val="2E9D4F"/>
      </a:folHlink>
    </a:clrScheme>
    <a:fontScheme name="HuskiesPaw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HuskiesPaws — BigRed//Hacks 2026</dc:title>
  <dc:subject>Navigation-themed demo deck</dc:subject>
  <dc:creator>Luis Mendez, Abdullah Rashid</dc:creator>
  <cp:lastModifiedBy>Luis Mendez, Abdullah Rashid</cp:lastModifiedBy>
  <cp:revision>1</cp:revision>
  <dcterms:created xsi:type="dcterms:W3CDTF">2026-10-04T04:56:41Z</dcterms:created>
  <dcterms:modified xsi:type="dcterms:W3CDTF">2026-10-04T04:56:41Z</dcterms:modified>
</cp:coreProperties>
</file>