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We are HuskiesPaws. Ordinary walks become a creature-collecting adventure. Team is Luis Mendez and Abdullah Rashid, BigRed Hacks 2026, Navigation. The product is the phone app. Invite them to watch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Do not invent numbers. Typical maps optimize for arrival. People miss buildings and corners they walk past every day. Walking already happens; discovery and progress do not. That is the gap on campus.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Loop: Explore, Walk, Discover, Collect. Pip scouts with Wikipedia and OpenStreetMap. Fern starts the walk. Moss tells the story from those facts. Capture and eggs reward the walk. Then go to the live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visible. Hand the phone over if they want it. Demo Walk ON — say walks are simulated. Sequence: Squad, Pip, Explore. Pick the postcard. Start walk. Watch the blooming trail. Capture. If Grok is slow, keep going. Hide the Expo tools button. Do not claim a live server unless /api/health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Phone talks to our Node API. Secrets never ship in the app. Wikipedia and OSM ground the adventure. Speech and Imagine are optional. Shared core keeps pets, ranks, and walks consistent. Photon is iMessage. Built in Cursor. Do not say Render is live unless health is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Three things they saw: navigation is play; walking earns creatures; the squad can live in iMessage. ISS rare-hatch boost is in shared logic. Be honest about Grok keys, deploy, and background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on campus exploration — not inflated stats. Next is planned: background tracking, accessibility, a deploy that stays awake, richer social play. Line: Everyday walks. Extraordinary company. Hand them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1E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566928"/>
          </a:xfrm>
          <a:prstGeom prst="rect">
            <a:avLst/>
          </a:prstGeom>
          <a:noFill/>
          <a:ln/>
        </p:spPr>
        <p:txBody>
          <a:bodyPr wrap="square" rtlCol="0"/>
          <a:lstStyle>
            <a:lvl1pPr algn="l" indent="0" marL="0">
              <a:buNone/>
              <a:defRPr lang="en-US" sz="3200" b="1" dirty="0">
                <a:solidFill>
                  <a:srgbClr val="0B1F3A"/>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02920" y="6528816"/>
            <a:ext cx="11155680" cy="201168"/>
          </a:xfrm>
          <a:prstGeom prst="rect">
            <a:avLst/>
          </a:prstGeom>
          <a:noFill/>
          <a:ln/>
        </p:spPr>
        <p:txBody>
          <a:bodyPr wrap="square" lIns="0" tIns="0" rIns="0" bIns="0" rtlCol="0" anchor="ctr"/>
          <a:lstStyle/>
          <a:p>
            <a:pPr indent="0" marL="0">
              <a:buNone/>
            </a:pPr>
            <a:r>
              <a:rPr lang="en-US" sz="1100" dirty="0">
                <a:solidFill>
                  <a:srgbClr val="4A6358"/>
                </a:solidFill>
                <a:latin typeface="Calibri" pitchFamily="34" charset="0"/>
                <a:ea typeface="Calibri" pitchFamily="34" charset="-122"/>
                <a:cs typeface="Calibri" pitchFamily="34" charset="-120"/>
              </a:rPr>
              <a:t>HuskiesPaws  ·  BigRed//Hacks 2026</a:t>
            </a: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23252"/>
          </a:solidFill>
          <a:ln/>
        </p:spPr>
      </p:sp>
      <p:sp>
        <p:nvSpPr>
          <p:cNvPr id="3" name="Shape 1"/>
          <p:cNvSpPr/>
          <p:nvPr/>
        </p:nvSpPr>
        <p:spPr>
          <a:xfrm>
            <a:off x="-1463040" y="4937760"/>
            <a:ext cx="3474720" cy="3474720"/>
          </a:xfrm>
          <a:prstGeom prst="ellipse">
            <a:avLst/>
          </a:prstGeom>
          <a:solidFill>
            <a:srgbClr val="123252"/>
          </a:solidFill>
          <a:ln/>
        </p:spPr>
      </p:sp>
      <p:pic>
        <p:nvPicPr>
          <p:cNvPr id="4" name="Image 0" descr="G:\broswer download\big-red-hacks2026\mobile\assets\splash-icon.png">    </p:cNvPr>
          <p:cNvPicPr>
            <a:picLocks noChangeAspect="1"/>
          </p:cNvPicPr>
          <p:nvPr/>
        </p:nvPicPr>
        <p:blipFill>
          <a:blip r:embed="rId1"/>
          <a:stretch>
            <a:fillRect/>
          </a:stretch>
        </p:blipFill>
        <p:spPr>
          <a:xfrm>
            <a:off x="8549640" y="1874520"/>
            <a:ext cx="2880360" cy="2880360"/>
          </a:xfrm>
          <a:prstGeom prst="rect">
            <a:avLst/>
          </a:prstGeom>
        </p:spPr>
      </p:pic>
      <p:pic>
        <p:nvPicPr>
          <p:cNvPr id="5" name="Image 1" descr="G:\broswer download\big-red-hacks2026\mobile\assets\icon.png">    </p:cNvPr>
          <p:cNvPicPr>
            <a:picLocks noChangeAspect="1"/>
          </p:cNvPicPr>
          <p:nvPr/>
        </p:nvPicPr>
        <p:blipFill>
          <a:blip r:embed="rId2"/>
          <a:stretch>
            <a:fillRect/>
          </a:stretch>
        </p:blipFill>
        <p:spPr>
          <a:xfrm>
            <a:off x="640080" y="1691640"/>
            <a:ext cx="1051560" cy="1051560"/>
          </a:xfrm>
          <a:prstGeom prst="rect">
            <a:avLst/>
          </a:prstGeom>
        </p:spPr>
      </p:pic>
      <p:sp>
        <p:nvSpPr>
          <p:cNvPr id="6" name="Text 2"/>
          <p:cNvSpPr txBox="1"/>
          <p:nvPr/>
        </p:nvSpPr>
        <p:spPr>
          <a:xfrm>
            <a:off x="1874520" y="1691640"/>
            <a:ext cx="6400800" cy="6400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HuskiesPaws</a:t>
            </a:r>
            <a:endParaRPr lang="en-US" sz="4400" dirty="0"/>
          </a:p>
        </p:txBody>
      </p:sp>
      <p:sp>
        <p:nvSpPr>
          <p:cNvPr id="7" name="Text 3"/>
          <p:cNvSpPr txBox="1"/>
          <p:nvPr/>
        </p:nvSpPr>
        <p:spPr>
          <a:xfrm>
            <a:off x="1874520" y="2331720"/>
            <a:ext cx="6492240" cy="457200"/>
          </a:xfrm>
          <a:prstGeom prst="rect">
            <a:avLst/>
          </a:prstGeom>
          <a:noFill/>
          <a:ln/>
        </p:spPr>
        <p:txBody>
          <a:bodyPr wrap="square" lIns="0" tIns="0" rIns="0" bIns="0" rtlCol="0" anchor="ctr"/>
          <a:lstStyle/>
          <a:p>
            <a:pPr indent="0" marL="0">
              <a:buNone/>
            </a:pPr>
            <a:r>
              <a:rPr lang="en-US" sz="1800" i="1" dirty="0">
                <a:solidFill>
                  <a:srgbClr val="6EC6FF"/>
                </a:solidFill>
                <a:latin typeface="Calibri" pitchFamily="34" charset="0"/>
                <a:ea typeface="Calibri" pitchFamily="34" charset="-122"/>
                <a:cs typeface="Calibri" pitchFamily="34" charset="-120"/>
              </a:rPr>
              <a:t>Turn everyday walks into a creature-collecting adventure.</a:t>
            </a:r>
            <a:endParaRPr lang="en-US" sz="1800" dirty="0"/>
          </a:p>
        </p:txBody>
      </p:sp>
      <p:sp>
        <p:nvSpPr>
          <p:cNvPr id="8" name="Shape 4"/>
          <p:cNvSpPr/>
          <p:nvPr/>
        </p:nvSpPr>
        <p:spPr>
          <a:xfrm>
            <a:off x="640080" y="3520440"/>
            <a:ext cx="7040880" cy="1965960"/>
          </a:xfrm>
          <a:prstGeom prst="roundRect">
            <a:avLst>
              <a:gd name="adj" fmla="val 5581"/>
            </a:avLst>
          </a:prstGeom>
          <a:solidFill>
            <a:srgbClr val="123252"/>
          </a:solidFill>
          <a:ln/>
          <a:effectLst>
            <a:outerShdw sx="100000" sy="100000" kx="0" ky="0" algn="bl" rotWithShape="0" blurRad="101600" dist="25400" dir="5400000">
              <a:srgbClr val="0B1F3A">
                <a:alpha val="10000"/>
              </a:srgbClr>
            </a:outerShdw>
          </a:effectLst>
        </p:spPr>
      </p:sp>
      <p:sp>
        <p:nvSpPr>
          <p:cNvPr id="9" name="Text 5"/>
          <p:cNvSpPr txBox="1"/>
          <p:nvPr/>
        </p:nvSpPr>
        <p:spPr>
          <a:xfrm>
            <a:off x="868680" y="3703320"/>
            <a:ext cx="6583680" cy="365760"/>
          </a:xfrm>
          <a:prstGeom prst="rect">
            <a:avLst/>
          </a:prstGeom>
          <a:noFill/>
          <a:ln/>
        </p:spPr>
        <p:txBody>
          <a:bodyPr wrap="square" lIns="0" tIns="0" rIns="0" bIns="0" rtlCol="0" anchor="ctr"/>
          <a:lstStyle/>
          <a:p>
            <a:pPr indent="0" marL="0">
              <a:buNone/>
            </a:pPr>
            <a:r>
              <a:rPr lang="en-US" sz="1800" dirty="0">
                <a:solidFill>
                  <a:srgbClr val="E8A317"/>
                </a:solidFill>
                <a:latin typeface="Calibri" pitchFamily="34" charset="0"/>
                <a:ea typeface="Calibri" pitchFamily="34" charset="-122"/>
                <a:cs typeface="Calibri" pitchFamily="34" charset="-120"/>
              </a:rPr>
              <a:t>BigRed//Hacks 2026  ·  Theme: Navigation</a:t>
            </a:r>
            <a:endParaRPr lang="en-US" sz="1800" dirty="0"/>
          </a:p>
        </p:txBody>
      </p:sp>
      <p:sp>
        <p:nvSpPr>
          <p:cNvPr id="10" name="Text 6"/>
          <p:cNvSpPr txBox="1"/>
          <p:nvPr/>
        </p:nvSpPr>
        <p:spPr>
          <a:xfrm>
            <a:off x="868680" y="4114800"/>
            <a:ext cx="658368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Luis Mendez  ·  Abdullah Rashid</a:t>
            </a:r>
            <a:endParaRPr lang="en-US" sz="2200" dirty="0"/>
          </a:p>
        </p:txBody>
      </p:sp>
      <p:sp>
        <p:nvSpPr>
          <p:cNvPr id="11" name="Text 7"/>
          <p:cNvSpPr txBox="1"/>
          <p:nvPr/>
        </p:nvSpPr>
        <p:spPr>
          <a:xfrm>
            <a:off x="868680" y="4617720"/>
            <a:ext cx="6583680" cy="320040"/>
          </a:xfrm>
          <a:prstGeom prst="rect">
            <a:avLst/>
          </a:prstGeom>
          <a:noFill/>
          <a:ln/>
        </p:spPr>
        <p:txBody>
          <a:bodyPr wrap="square" lIns="0" tIns="0" rIns="0" bIns="0" rtlCol="0" anchor="ctr"/>
          <a:lstStyle/>
          <a:p>
            <a:pPr indent="0" marL="0">
              <a:buNone/>
            </a:pPr>
            <a:r>
              <a:rPr lang="en-US" sz="1600" dirty="0">
                <a:solidFill>
                  <a:srgbClr val="6EC6FF"/>
                </a:solidFill>
                <a:latin typeface="Calibri" pitchFamily="34" charset="0"/>
                <a:ea typeface="Calibri" pitchFamily="34" charset="-122"/>
                <a:cs typeface="Calibri" pitchFamily="34" charset="-120"/>
              </a:rPr>
              <a:t>Phone app  ·  Expo Go  ·  Built with Cursor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56032"/>
            <a:ext cx="11155680" cy="566928"/>
          </a:xfrm>
          <a:prstGeom prst="rect">
            <a:avLst/>
          </a:prstGeom>
          <a:noFill/>
          <a:ln/>
        </p:spPr>
        <p:txBody>
          <a:bodyPr wrap="square" lIns="0" tIns="0" rIns="0" bIns="0" rtlCol="0" anchor="ctr"/>
          <a:lstStyle/>
          <a:p>
            <a:pPr algn="l" indent="0" marL="0">
              <a:buNone/>
            </a:pPr>
            <a:r>
              <a:rPr lang="en-US" sz="3200" b="1" dirty="0">
                <a:solidFill>
                  <a:srgbClr val="0B1F3A"/>
                </a:solidFill>
                <a:latin typeface="Calibri" pitchFamily="34" charset="0"/>
                <a:ea typeface="Calibri" pitchFamily="34" charset="-122"/>
                <a:cs typeface="Calibri" pitchFamily="34" charset="-120"/>
              </a:rPr>
              <a:t>People walk past the interesting places</a:t>
            </a:r>
            <a:endParaRPr lang="en-US" sz="3200" dirty="0"/>
          </a:p>
        </p:txBody>
      </p:sp>
      <p:sp>
        <p:nvSpPr>
          <p:cNvPr id="3" name="Text 1"/>
          <p:cNvSpPr txBox="1"/>
          <p:nvPr/>
        </p:nvSpPr>
        <p:spPr>
          <a:xfrm>
            <a:off x="502920" y="932688"/>
            <a:ext cx="5349240" cy="292608"/>
          </a:xfrm>
          <a:prstGeom prst="rect">
            <a:avLst/>
          </a:prstGeom>
          <a:noFill/>
          <a:ln/>
        </p:spPr>
        <p:txBody>
          <a:bodyPr wrap="square" lIns="0" tIns="0" rIns="0" bIns="0" rtlCol="0" anchor="ctr"/>
          <a:lstStyle/>
          <a:p>
            <a:pPr indent="0" marL="0">
              <a:buNone/>
            </a:pPr>
            <a:r>
              <a:rPr lang="en-US" sz="1600" b="1" dirty="0">
                <a:solidFill>
                  <a:srgbClr val="FF7A59"/>
                </a:solidFill>
                <a:latin typeface="Calibri" pitchFamily="34" charset="0"/>
                <a:ea typeface="Calibri" pitchFamily="34" charset="-122"/>
                <a:cs typeface="Calibri" pitchFamily="34" charset="-120"/>
              </a:rPr>
              <a:t>Typical navigation</a:t>
            </a:r>
            <a:endParaRPr lang="en-US" sz="1600" dirty="0"/>
          </a:p>
        </p:txBody>
      </p:sp>
      <p:sp>
        <p:nvSpPr>
          <p:cNvPr id="4" name="Text 2"/>
          <p:cNvSpPr txBox="1"/>
          <p:nvPr/>
        </p:nvSpPr>
        <p:spPr>
          <a:xfrm>
            <a:off x="6355080" y="932688"/>
            <a:ext cx="5349240" cy="292608"/>
          </a:xfrm>
          <a:prstGeom prst="rect">
            <a:avLst/>
          </a:prstGeom>
          <a:noFill/>
          <a:ln/>
        </p:spPr>
        <p:txBody>
          <a:bodyPr wrap="square" lIns="0" tIns="0" rIns="0" bIns="0" rtlCol="0" anchor="ctr"/>
          <a:lstStyle/>
          <a:p>
            <a:pPr indent="0" marL="0">
              <a:buNone/>
            </a:pPr>
            <a:r>
              <a:rPr lang="en-US" sz="1600" b="1" dirty="0">
                <a:solidFill>
                  <a:srgbClr val="1F6B45"/>
                </a:solidFill>
                <a:latin typeface="Calibri" pitchFamily="34" charset="0"/>
                <a:ea typeface="Calibri" pitchFamily="34" charset="-122"/>
                <a:cs typeface="Calibri" pitchFamily="34" charset="-120"/>
              </a:rPr>
              <a:t>What walking could be</a:t>
            </a:r>
            <a:endParaRPr lang="en-US" sz="1600" dirty="0"/>
          </a:p>
        </p:txBody>
      </p:sp>
      <p:sp>
        <p:nvSpPr>
          <p:cNvPr id="5" name="Shape 3"/>
          <p:cNvSpPr/>
          <p:nvPr/>
        </p:nvSpPr>
        <p:spPr>
          <a:xfrm>
            <a:off x="502920" y="1280160"/>
            <a:ext cx="534924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6" name="Text 4"/>
          <p:cNvSpPr txBox="1"/>
          <p:nvPr/>
        </p:nvSpPr>
        <p:spPr>
          <a:xfrm>
            <a:off x="731520" y="1600200"/>
            <a:ext cx="4892040" cy="86868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Get there as fast as possible</a:t>
            </a:r>
            <a:endParaRPr lang="en-US" sz="2200" dirty="0"/>
          </a:p>
        </p:txBody>
      </p:sp>
      <p:sp>
        <p:nvSpPr>
          <p:cNvPr id="7" name="Text 5"/>
          <p:cNvSpPr txBox="1"/>
          <p:nvPr/>
        </p:nvSpPr>
        <p:spPr>
          <a:xfrm>
            <a:off x="5852160" y="1737360"/>
            <a:ext cx="457200" cy="502920"/>
          </a:xfrm>
          <a:prstGeom prst="rect">
            <a:avLst/>
          </a:prstGeom>
          <a:noFill/>
          <a:ln/>
        </p:spPr>
        <p:txBody>
          <a:bodyPr wrap="square" lIns="0" tIns="0" rIns="0" bIns="0" rtlCol="0" anchor="ctr"/>
          <a:lstStyle/>
          <a:p>
            <a:pPr algn="ctr" indent="0" marL="0">
              <a:buNone/>
            </a:pPr>
            <a:r>
              <a:rPr lang="en-US" sz="2400" b="1" dirty="0">
                <a:solidFill>
                  <a:srgbClr val="2E9D4F"/>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6355080" y="1280160"/>
            <a:ext cx="5349240" cy="1508760"/>
          </a:xfrm>
          <a:prstGeom prst="roundRect">
            <a:avLst>
              <a:gd name="adj" fmla="val 7273"/>
            </a:avLst>
          </a:prstGeom>
          <a:solidFill>
            <a:srgbClr val="E7F3E4"/>
          </a:solidFill>
          <a:ln/>
          <a:effectLst>
            <a:outerShdw sx="100000" sy="100000" kx="0" ky="0" algn="bl" rotWithShape="0" blurRad="101600" dist="25400" dir="5400000">
              <a:srgbClr val="0B1F3A">
                <a:alpha val="10000"/>
              </a:srgbClr>
            </a:outerShdw>
          </a:effectLst>
        </p:spPr>
      </p:sp>
      <p:sp>
        <p:nvSpPr>
          <p:cNvPr id="9" name="Text 7"/>
          <p:cNvSpPr txBox="1"/>
          <p:nvPr/>
        </p:nvSpPr>
        <p:spPr>
          <a:xfrm>
            <a:off x="6583680" y="1600200"/>
            <a:ext cx="4892040" cy="868680"/>
          </a:xfrm>
          <a:prstGeom prst="rect">
            <a:avLst/>
          </a:prstGeom>
          <a:noFill/>
          <a:ln/>
        </p:spPr>
        <p:txBody>
          <a:bodyPr wrap="square" lIns="0" tIns="0" rIns="0" bIns="0" rtlCol="0" anchor="ctr"/>
          <a:lstStyle/>
          <a:p>
            <a:pPr indent="0" marL="0">
              <a:buNone/>
            </a:pPr>
            <a:r>
              <a:rPr lang="en-US" sz="2200" b="1" dirty="0">
                <a:solidFill>
                  <a:srgbClr val="163528"/>
                </a:solidFill>
                <a:latin typeface="Calibri" pitchFamily="34" charset="0"/>
                <a:ea typeface="Calibri" pitchFamily="34" charset="-122"/>
                <a:cs typeface="Calibri" pitchFamily="34" charset="-120"/>
              </a:rPr>
              <a:t>Notice the route, not only the pin</a:t>
            </a:r>
            <a:endParaRPr lang="en-US" sz="2200" dirty="0"/>
          </a:p>
        </p:txBody>
      </p:sp>
      <p:sp>
        <p:nvSpPr>
          <p:cNvPr id="10" name="Shape 8"/>
          <p:cNvSpPr/>
          <p:nvPr/>
        </p:nvSpPr>
        <p:spPr>
          <a:xfrm>
            <a:off x="502920" y="2971800"/>
            <a:ext cx="534924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11" name="Text 9"/>
          <p:cNvSpPr txBox="1"/>
          <p:nvPr/>
        </p:nvSpPr>
        <p:spPr>
          <a:xfrm>
            <a:off x="731520" y="3291840"/>
            <a:ext cx="4892040" cy="86868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Stay on the shortest path</a:t>
            </a:r>
            <a:endParaRPr lang="en-US" sz="2200" dirty="0"/>
          </a:p>
        </p:txBody>
      </p:sp>
      <p:sp>
        <p:nvSpPr>
          <p:cNvPr id="12" name="Text 10"/>
          <p:cNvSpPr txBox="1"/>
          <p:nvPr/>
        </p:nvSpPr>
        <p:spPr>
          <a:xfrm>
            <a:off x="5852160" y="3429000"/>
            <a:ext cx="457200" cy="502920"/>
          </a:xfrm>
          <a:prstGeom prst="rect">
            <a:avLst/>
          </a:prstGeom>
          <a:noFill/>
          <a:ln/>
        </p:spPr>
        <p:txBody>
          <a:bodyPr wrap="square" lIns="0" tIns="0" rIns="0" bIns="0" rtlCol="0" anchor="ctr"/>
          <a:lstStyle/>
          <a:p>
            <a:pPr algn="ctr" indent="0" marL="0">
              <a:buNone/>
            </a:pPr>
            <a:r>
              <a:rPr lang="en-US" sz="2400" b="1" dirty="0">
                <a:solidFill>
                  <a:srgbClr val="2E9D4F"/>
                </a:solidFill>
                <a:latin typeface="Calibri" pitchFamily="34" charset="0"/>
                <a:ea typeface="Calibri" pitchFamily="34" charset="-122"/>
                <a:cs typeface="Calibri" pitchFamily="34" charset="-120"/>
              </a:rPr>
              <a:t>→</a:t>
            </a:r>
            <a:endParaRPr lang="en-US" sz="2400" dirty="0"/>
          </a:p>
        </p:txBody>
      </p:sp>
      <p:sp>
        <p:nvSpPr>
          <p:cNvPr id="13" name="Shape 11"/>
          <p:cNvSpPr/>
          <p:nvPr/>
        </p:nvSpPr>
        <p:spPr>
          <a:xfrm>
            <a:off x="6355080" y="2971800"/>
            <a:ext cx="5349240" cy="1508760"/>
          </a:xfrm>
          <a:prstGeom prst="roundRect">
            <a:avLst>
              <a:gd name="adj" fmla="val 7273"/>
            </a:avLst>
          </a:prstGeom>
          <a:solidFill>
            <a:srgbClr val="E7F3E4"/>
          </a:solidFill>
          <a:ln/>
          <a:effectLst>
            <a:outerShdw sx="100000" sy="100000" kx="0" ky="0" algn="bl" rotWithShape="0" blurRad="101600" dist="25400" dir="5400000">
              <a:srgbClr val="0B1F3A">
                <a:alpha val="10000"/>
              </a:srgbClr>
            </a:outerShdw>
          </a:effectLst>
        </p:spPr>
      </p:sp>
      <p:sp>
        <p:nvSpPr>
          <p:cNvPr id="14" name="Text 12"/>
          <p:cNvSpPr txBox="1"/>
          <p:nvPr/>
        </p:nvSpPr>
        <p:spPr>
          <a:xfrm>
            <a:off x="6583680" y="3291840"/>
            <a:ext cx="4892040" cy="868680"/>
          </a:xfrm>
          <a:prstGeom prst="rect">
            <a:avLst/>
          </a:prstGeom>
          <a:noFill/>
          <a:ln/>
        </p:spPr>
        <p:txBody>
          <a:bodyPr wrap="square" lIns="0" tIns="0" rIns="0" bIns="0" rtlCol="0" anchor="ctr"/>
          <a:lstStyle/>
          <a:p>
            <a:pPr indent="0" marL="0">
              <a:buNone/>
            </a:pPr>
            <a:r>
              <a:rPr lang="en-US" sz="2200" b="1" dirty="0">
                <a:solidFill>
                  <a:srgbClr val="163528"/>
                </a:solidFill>
                <a:latin typeface="Calibri" pitchFamily="34" charset="0"/>
                <a:ea typeface="Calibri" pitchFamily="34" charset="-122"/>
                <a:cs typeface="Calibri" pitchFamily="34" charset="-120"/>
              </a:rPr>
              <a:t>Named places with real stories</a:t>
            </a:r>
            <a:endParaRPr lang="en-US" sz="2200" dirty="0"/>
          </a:p>
        </p:txBody>
      </p:sp>
      <p:sp>
        <p:nvSpPr>
          <p:cNvPr id="15" name="Shape 13"/>
          <p:cNvSpPr/>
          <p:nvPr/>
        </p:nvSpPr>
        <p:spPr>
          <a:xfrm>
            <a:off x="502920" y="4663440"/>
            <a:ext cx="534924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16" name="Text 14"/>
          <p:cNvSpPr txBox="1"/>
          <p:nvPr/>
        </p:nvSpPr>
        <p:spPr>
          <a:xfrm>
            <a:off x="731520" y="4983480"/>
            <a:ext cx="4892040" cy="86868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Put the phone away at the door</a:t>
            </a:r>
            <a:endParaRPr lang="en-US" sz="2200" dirty="0"/>
          </a:p>
        </p:txBody>
      </p:sp>
      <p:sp>
        <p:nvSpPr>
          <p:cNvPr id="17" name="Text 15"/>
          <p:cNvSpPr txBox="1"/>
          <p:nvPr/>
        </p:nvSpPr>
        <p:spPr>
          <a:xfrm>
            <a:off x="5852160" y="5120640"/>
            <a:ext cx="457200" cy="502920"/>
          </a:xfrm>
          <a:prstGeom prst="rect">
            <a:avLst/>
          </a:prstGeom>
          <a:noFill/>
          <a:ln/>
        </p:spPr>
        <p:txBody>
          <a:bodyPr wrap="square" lIns="0" tIns="0" rIns="0" bIns="0" rtlCol="0" anchor="ctr"/>
          <a:lstStyle/>
          <a:p>
            <a:pPr algn="ctr" indent="0" marL="0">
              <a:buNone/>
            </a:pPr>
            <a:r>
              <a:rPr lang="en-US" sz="2400" b="1" dirty="0">
                <a:solidFill>
                  <a:srgbClr val="2E9D4F"/>
                </a:solidFill>
                <a:latin typeface="Calibri" pitchFamily="34" charset="0"/>
                <a:ea typeface="Calibri" pitchFamily="34" charset="-122"/>
                <a:cs typeface="Calibri" pitchFamily="34" charset="-120"/>
              </a:rPr>
              <a:t>→</a:t>
            </a:r>
            <a:endParaRPr lang="en-US" sz="2400" dirty="0"/>
          </a:p>
        </p:txBody>
      </p:sp>
      <p:sp>
        <p:nvSpPr>
          <p:cNvPr id="18" name="Shape 16"/>
          <p:cNvSpPr/>
          <p:nvPr/>
        </p:nvSpPr>
        <p:spPr>
          <a:xfrm>
            <a:off x="6355080" y="4663440"/>
            <a:ext cx="5349240" cy="1508760"/>
          </a:xfrm>
          <a:prstGeom prst="roundRect">
            <a:avLst>
              <a:gd name="adj" fmla="val 7273"/>
            </a:avLst>
          </a:prstGeom>
          <a:solidFill>
            <a:srgbClr val="E7F3E4"/>
          </a:solidFill>
          <a:ln/>
          <a:effectLst>
            <a:outerShdw sx="100000" sy="100000" kx="0" ky="0" algn="bl" rotWithShape="0" blurRad="101600" dist="25400" dir="5400000">
              <a:srgbClr val="0B1F3A">
                <a:alpha val="10000"/>
              </a:srgbClr>
            </a:outerShdw>
          </a:effectLst>
        </p:spPr>
      </p:sp>
      <p:sp>
        <p:nvSpPr>
          <p:cNvPr id="19" name="Text 17"/>
          <p:cNvSpPr txBox="1"/>
          <p:nvPr/>
        </p:nvSpPr>
        <p:spPr>
          <a:xfrm>
            <a:off x="6583680" y="4983480"/>
            <a:ext cx="4892040" cy="868680"/>
          </a:xfrm>
          <a:prstGeom prst="rect">
            <a:avLst/>
          </a:prstGeom>
          <a:noFill/>
          <a:ln/>
        </p:spPr>
        <p:txBody>
          <a:bodyPr wrap="square" lIns="0" tIns="0" rIns="0" bIns="0" rtlCol="0" anchor="ctr"/>
          <a:lstStyle/>
          <a:p>
            <a:pPr indent="0" marL="0">
              <a:buNone/>
            </a:pPr>
            <a:r>
              <a:rPr lang="en-US" sz="2200" b="1" dirty="0">
                <a:solidFill>
                  <a:srgbClr val="163528"/>
                </a:solidFill>
                <a:latin typeface="Calibri" pitchFamily="34" charset="0"/>
                <a:ea typeface="Calibri" pitchFamily="34" charset="-122"/>
                <a:cs typeface="Calibri" pitchFamily="34" charset="-120"/>
              </a:rPr>
              <a:t>Walking earns progress and company</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56032"/>
            <a:ext cx="11155680" cy="566928"/>
          </a:xfrm>
          <a:prstGeom prst="rect">
            <a:avLst/>
          </a:prstGeom>
          <a:noFill/>
          <a:ln/>
        </p:spPr>
        <p:txBody>
          <a:bodyPr wrap="square" lIns="0" tIns="0" rIns="0" bIns="0" rtlCol="0" anchor="ctr"/>
          <a:lstStyle/>
          <a:p>
            <a:pPr algn="l" indent="0" marL="0">
              <a:buNone/>
            </a:pPr>
            <a:r>
              <a:rPr lang="en-US" sz="3200" b="1" dirty="0">
                <a:solidFill>
                  <a:srgbClr val="0B1F3A"/>
                </a:solidFill>
                <a:latin typeface="Calibri" pitchFamily="34" charset="0"/>
                <a:ea typeface="Calibri" pitchFamily="34" charset="-122"/>
                <a:cs typeface="Calibri" pitchFamily="34" charset="-120"/>
              </a:rPr>
              <a:t>Explore  →  Walk  →  Discover  →  Collect</a:t>
            </a:r>
            <a:endParaRPr lang="en-US" sz="3200" dirty="0"/>
          </a:p>
        </p:txBody>
      </p:sp>
      <p:sp>
        <p:nvSpPr>
          <p:cNvPr id="3" name="Shape 1"/>
          <p:cNvSpPr/>
          <p:nvPr/>
        </p:nvSpPr>
        <p:spPr>
          <a:xfrm>
            <a:off x="502920" y="960120"/>
            <a:ext cx="2743200" cy="2468880"/>
          </a:xfrm>
          <a:prstGeom prst="roundRect">
            <a:avLst>
              <a:gd name="adj" fmla="val 4444"/>
            </a:avLst>
          </a:prstGeom>
          <a:solidFill>
            <a:srgbClr val="FFFFFF"/>
          </a:solidFill>
          <a:ln/>
          <a:effectLst>
            <a:outerShdw sx="100000" sy="100000" kx="0" ky="0" algn="bl" rotWithShape="0" blurRad="101600" dist="25400" dir="5400000">
              <a:srgbClr val="0B1F3A">
                <a:alpha val="10000"/>
              </a:srgbClr>
            </a:outerShdw>
          </a:effectLst>
        </p:spPr>
      </p:sp>
      <p:sp>
        <p:nvSpPr>
          <p:cNvPr id="4" name="Shape 2"/>
          <p:cNvSpPr/>
          <p:nvPr/>
        </p:nvSpPr>
        <p:spPr>
          <a:xfrm>
            <a:off x="1527048" y="1115568"/>
            <a:ext cx="658368" cy="658368"/>
          </a:xfrm>
          <a:prstGeom prst="ellipse">
            <a:avLst/>
          </a:prstGeom>
          <a:solidFill>
            <a:srgbClr val="2E9D4F"/>
          </a:solidFill>
          <a:ln/>
        </p:spPr>
      </p:sp>
      <p:sp>
        <p:nvSpPr>
          <p:cNvPr id="5" name="Text 3"/>
          <p:cNvSpPr txBox="1"/>
          <p:nvPr/>
        </p:nvSpPr>
        <p:spPr>
          <a:xfrm>
            <a:off x="1527048" y="1188720"/>
            <a:ext cx="658368" cy="51206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640080" y="1874520"/>
            <a:ext cx="2468880" cy="36576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Explore</a:t>
            </a:r>
            <a:endParaRPr lang="en-US" sz="2200" dirty="0"/>
          </a:p>
        </p:txBody>
      </p:sp>
      <p:sp>
        <p:nvSpPr>
          <p:cNvPr id="7" name="Text 5"/>
          <p:cNvSpPr txBox="1"/>
          <p:nvPr/>
        </p:nvSpPr>
        <p:spPr>
          <a:xfrm>
            <a:off x="667512" y="2286000"/>
            <a:ext cx="2414016" cy="96012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Pip scouts nearby places from Wikipedia and OpenStreetMap.</a:t>
            </a:r>
            <a:endParaRPr lang="en-US" sz="1400" dirty="0"/>
          </a:p>
        </p:txBody>
      </p:sp>
      <p:sp>
        <p:nvSpPr>
          <p:cNvPr id="8" name="Shape 6"/>
          <p:cNvSpPr/>
          <p:nvPr/>
        </p:nvSpPr>
        <p:spPr>
          <a:xfrm>
            <a:off x="3429000" y="960120"/>
            <a:ext cx="2743200" cy="2468880"/>
          </a:xfrm>
          <a:prstGeom prst="roundRect">
            <a:avLst>
              <a:gd name="adj" fmla="val 4444"/>
            </a:avLst>
          </a:prstGeom>
          <a:solidFill>
            <a:srgbClr val="FFFFFF"/>
          </a:solidFill>
          <a:ln/>
          <a:effectLst>
            <a:outerShdw sx="100000" sy="100000" kx="0" ky="0" algn="bl" rotWithShape="0" blurRad="101600" dist="25400" dir="5400000">
              <a:srgbClr val="0B1F3A">
                <a:alpha val="10000"/>
              </a:srgbClr>
            </a:outerShdw>
          </a:effectLst>
        </p:spPr>
      </p:sp>
      <p:sp>
        <p:nvSpPr>
          <p:cNvPr id="9" name="Shape 7"/>
          <p:cNvSpPr/>
          <p:nvPr/>
        </p:nvSpPr>
        <p:spPr>
          <a:xfrm>
            <a:off x="4453128" y="1115568"/>
            <a:ext cx="658368" cy="658368"/>
          </a:xfrm>
          <a:prstGeom prst="ellipse">
            <a:avLst/>
          </a:prstGeom>
          <a:solidFill>
            <a:srgbClr val="2E9D4F"/>
          </a:solidFill>
          <a:ln/>
        </p:spPr>
      </p:sp>
      <p:sp>
        <p:nvSpPr>
          <p:cNvPr id="10" name="Text 8"/>
          <p:cNvSpPr txBox="1"/>
          <p:nvPr/>
        </p:nvSpPr>
        <p:spPr>
          <a:xfrm>
            <a:off x="4453128" y="1188720"/>
            <a:ext cx="658368" cy="51206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1" name="Text 9"/>
          <p:cNvSpPr txBox="1"/>
          <p:nvPr/>
        </p:nvSpPr>
        <p:spPr>
          <a:xfrm>
            <a:off x="3566160" y="1874520"/>
            <a:ext cx="2468880" cy="36576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Walk</a:t>
            </a:r>
            <a:endParaRPr lang="en-US" sz="2200" dirty="0"/>
          </a:p>
        </p:txBody>
      </p:sp>
      <p:sp>
        <p:nvSpPr>
          <p:cNvPr id="12" name="Text 10"/>
          <p:cNvSpPr txBox="1"/>
          <p:nvPr/>
        </p:nvSpPr>
        <p:spPr>
          <a:xfrm>
            <a:off x="3593592" y="2286000"/>
            <a:ext cx="2414016" cy="96012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Fern guides the route. The trail blooms as you move.</a:t>
            </a:r>
            <a:endParaRPr lang="en-US" sz="1400" dirty="0"/>
          </a:p>
        </p:txBody>
      </p:sp>
      <p:sp>
        <p:nvSpPr>
          <p:cNvPr id="13" name="Shape 11"/>
          <p:cNvSpPr/>
          <p:nvPr/>
        </p:nvSpPr>
        <p:spPr>
          <a:xfrm>
            <a:off x="6355080" y="960120"/>
            <a:ext cx="2743200" cy="2468880"/>
          </a:xfrm>
          <a:prstGeom prst="roundRect">
            <a:avLst>
              <a:gd name="adj" fmla="val 4444"/>
            </a:avLst>
          </a:prstGeom>
          <a:solidFill>
            <a:srgbClr val="FFFFFF"/>
          </a:solidFill>
          <a:ln/>
          <a:effectLst>
            <a:outerShdw sx="100000" sy="100000" kx="0" ky="0" algn="bl" rotWithShape="0" blurRad="101600" dist="25400" dir="5400000">
              <a:srgbClr val="0B1F3A">
                <a:alpha val="10000"/>
              </a:srgbClr>
            </a:outerShdw>
          </a:effectLst>
        </p:spPr>
      </p:sp>
      <p:sp>
        <p:nvSpPr>
          <p:cNvPr id="14" name="Shape 12"/>
          <p:cNvSpPr/>
          <p:nvPr/>
        </p:nvSpPr>
        <p:spPr>
          <a:xfrm>
            <a:off x="7379208" y="1115568"/>
            <a:ext cx="658368" cy="658368"/>
          </a:xfrm>
          <a:prstGeom prst="ellipse">
            <a:avLst/>
          </a:prstGeom>
          <a:solidFill>
            <a:srgbClr val="2E9D4F"/>
          </a:solidFill>
          <a:ln/>
        </p:spPr>
      </p:sp>
      <p:sp>
        <p:nvSpPr>
          <p:cNvPr id="15" name="Text 13"/>
          <p:cNvSpPr txBox="1"/>
          <p:nvPr/>
        </p:nvSpPr>
        <p:spPr>
          <a:xfrm>
            <a:off x="7379208" y="1188720"/>
            <a:ext cx="658368" cy="51206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txBox="1"/>
          <p:nvPr/>
        </p:nvSpPr>
        <p:spPr>
          <a:xfrm>
            <a:off x="6492240" y="1874520"/>
            <a:ext cx="2468880" cy="36576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Discover</a:t>
            </a:r>
            <a:endParaRPr lang="en-US" sz="2200" dirty="0"/>
          </a:p>
        </p:txBody>
      </p:sp>
      <p:sp>
        <p:nvSpPr>
          <p:cNvPr id="17" name="Text 15"/>
          <p:cNvSpPr txBox="1"/>
          <p:nvPr/>
        </p:nvSpPr>
        <p:spPr>
          <a:xfrm>
            <a:off x="6519672" y="2286000"/>
            <a:ext cx="2414016" cy="96012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Moss tells the grounded story at a real landmark.</a:t>
            </a:r>
            <a:endParaRPr lang="en-US" sz="1400" dirty="0"/>
          </a:p>
        </p:txBody>
      </p:sp>
      <p:sp>
        <p:nvSpPr>
          <p:cNvPr id="18" name="Shape 16"/>
          <p:cNvSpPr/>
          <p:nvPr/>
        </p:nvSpPr>
        <p:spPr>
          <a:xfrm>
            <a:off x="9281160" y="960120"/>
            <a:ext cx="2743200" cy="2468880"/>
          </a:xfrm>
          <a:prstGeom prst="roundRect">
            <a:avLst>
              <a:gd name="adj" fmla="val 4444"/>
            </a:avLst>
          </a:prstGeom>
          <a:solidFill>
            <a:srgbClr val="FFFFFF"/>
          </a:solidFill>
          <a:ln/>
          <a:effectLst>
            <a:outerShdw sx="100000" sy="100000" kx="0" ky="0" algn="bl" rotWithShape="0" blurRad="101600" dist="25400" dir="5400000">
              <a:srgbClr val="0B1F3A">
                <a:alpha val="10000"/>
              </a:srgbClr>
            </a:outerShdw>
          </a:effectLst>
        </p:spPr>
      </p:sp>
      <p:sp>
        <p:nvSpPr>
          <p:cNvPr id="19" name="Shape 17"/>
          <p:cNvSpPr/>
          <p:nvPr/>
        </p:nvSpPr>
        <p:spPr>
          <a:xfrm>
            <a:off x="10305288" y="1115568"/>
            <a:ext cx="658368" cy="658368"/>
          </a:xfrm>
          <a:prstGeom prst="ellipse">
            <a:avLst/>
          </a:prstGeom>
          <a:solidFill>
            <a:srgbClr val="2E9D4F"/>
          </a:solidFill>
          <a:ln/>
        </p:spPr>
      </p:sp>
      <p:sp>
        <p:nvSpPr>
          <p:cNvPr id="20" name="Text 18"/>
          <p:cNvSpPr txBox="1"/>
          <p:nvPr/>
        </p:nvSpPr>
        <p:spPr>
          <a:xfrm>
            <a:off x="10305288" y="1188720"/>
            <a:ext cx="658368" cy="51206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txBox="1"/>
          <p:nvPr/>
        </p:nvSpPr>
        <p:spPr>
          <a:xfrm>
            <a:off x="9418320" y="1874520"/>
            <a:ext cx="2468880" cy="36576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Collect</a:t>
            </a:r>
            <a:endParaRPr lang="en-US" sz="2200" dirty="0"/>
          </a:p>
        </p:txBody>
      </p:sp>
      <p:sp>
        <p:nvSpPr>
          <p:cNvPr id="22" name="Text 20"/>
          <p:cNvSpPr txBox="1"/>
          <p:nvPr/>
        </p:nvSpPr>
        <p:spPr>
          <a:xfrm>
            <a:off x="9445752" y="2286000"/>
            <a:ext cx="2414016" cy="960120"/>
          </a:xfrm>
          <a:prstGeom prst="rect">
            <a:avLst/>
          </a:prstGeom>
          <a:noFill/>
          <a:ln/>
        </p:spPr>
        <p:txBody>
          <a:bodyPr wrap="square" lIns="0" tIns="0" rIns="0" bIns="0" rtlCol="0" anchor="ctr"/>
          <a:lstStyle/>
          <a:p>
            <a:pPr algn="ctr" indent="0" marL="0">
              <a:buNone/>
            </a:pPr>
            <a:r>
              <a:rPr lang="en-US" sz="1400" dirty="0">
                <a:solidFill>
                  <a:srgbClr val="4A6358"/>
                </a:solidFill>
                <a:latin typeface="Calibri" pitchFamily="34" charset="0"/>
                <a:ea typeface="Calibri" pitchFamily="34" charset="-122"/>
                <a:cs typeface="Calibri" pitchFamily="34" charset="-120"/>
              </a:rPr>
              <a:t>Capture the place. Walking fills eggs and grows the squad.</a:t>
            </a:r>
            <a:endParaRPr lang="en-US" sz="1400" dirty="0"/>
          </a:p>
        </p:txBody>
      </p:sp>
      <p:sp>
        <p:nvSpPr>
          <p:cNvPr id="23" name="Shape 21"/>
          <p:cNvSpPr/>
          <p:nvPr/>
        </p:nvSpPr>
        <p:spPr>
          <a:xfrm>
            <a:off x="502920" y="3611880"/>
            <a:ext cx="11201400" cy="2651760"/>
          </a:xfrm>
          <a:prstGeom prst="roundRect">
            <a:avLst>
              <a:gd name="adj" fmla="val 4138"/>
            </a:avLst>
          </a:prstGeom>
          <a:solidFill>
            <a:srgbClr val="0B1F3A"/>
          </a:solidFill>
          <a:ln/>
          <a:effectLst>
            <a:outerShdw sx="100000" sy="100000" kx="0" ky="0" algn="bl" rotWithShape="0" blurRad="101600" dist="25400" dir="5400000">
              <a:srgbClr val="0B1F3A">
                <a:alpha val="10000"/>
              </a:srgbClr>
            </a:outerShdw>
          </a:effectLst>
        </p:spPr>
      </p:sp>
      <p:sp>
        <p:nvSpPr>
          <p:cNvPr id="24" name="Text 22"/>
          <p:cNvSpPr txBox="1"/>
          <p:nvPr/>
        </p:nvSpPr>
        <p:spPr>
          <a:xfrm>
            <a:off x="777240" y="3840480"/>
            <a:ext cx="3383280" cy="384048"/>
          </a:xfrm>
          <a:prstGeom prst="rect">
            <a:avLst/>
          </a:prstGeom>
          <a:noFill/>
          <a:ln/>
        </p:spPr>
        <p:txBody>
          <a:bodyPr wrap="square" lIns="0" tIns="0" rIns="0" bIns="0" rtlCol="0" anchor="ctr"/>
          <a:lstStyle/>
          <a:p>
            <a:pPr indent="0" marL="0">
              <a:buNone/>
            </a:pPr>
            <a:r>
              <a:rPr lang="en-US" sz="2400" b="1" dirty="0">
                <a:solidFill>
                  <a:srgbClr val="E8A317"/>
                </a:solidFill>
                <a:latin typeface="Calibri" pitchFamily="34" charset="0"/>
                <a:ea typeface="Calibri" pitchFamily="34" charset="-122"/>
                <a:cs typeface="Calibri" pitchFamily="34" charset="-120"/>
              </a:rPr>
              <a:t>Pip</a:t>
            </a:r>
            <a:endParaRPr lang="en-US" sz="2400" dirty="0"/>
          </a:p>
        </p:txBody>
      </p:sp>
      <p:sp>
        <p:nvSpPr>
          <p:cNvPr id="25" name="Text 23"/>
          <p:cNvSpPr txBox="1"/>
          <p:nvPr/>
        </p:nvSpPr>
        <p:spPr>
          <a:xfrm>
            <a:off x="777240" y="4251960"/>
            <a:ext cx="3383280" cy="292608"/>
          </a:xfrm>
          <a:prstGeom prst="rect">
            <a:avLst/>
          </a:prstGeom>
          <a:noFill/>
          <a:ln/>
        </p:spPr>
        <p:txBody>
          <a:bodyPr wrap="square" lIns="0" tIns="0" rIns="0" bIns="0" rtlCol="0" anchor="ctr"/>
          <a:lstStyle/>
          <a:p>
            <a:pPr indent="0" marL="0">
              <a:buNone/>
            </a:pPr>
            <a:r>
              <a:rPr lang="en-US" sz="1600" dirty="0">
                <a:solidFill>
                  <a:srgbClr val="6EC6FF"/>
                </a:solidFill>
                <a:latin typeface="Calibri" pitchFamily="34" charset="0"/>
                <a:ea typeface="Calibri" pitchFamily="34" charset="-122"/>
                <a:cs typeface="Calibri" pitchFamily="34" charset="-120"/>
              </a:rPr>
              <a:t>Scout</a:t>
            </a:r>
            <a:endParaRPr lang="en-US" sz="1600" dirty="0"/>
          </a:p>
        </p:txBody>
      </p:sp>
      <p:sp>
        <p:nvSpPr>
          <p:cNvPr id="26" name="Text 24"/>
          <p:cNvSpPr txBox="1"/>
          <p:nvPr/>
        </p:nvSpPr>
        <p:spPr>
          <a:xfrm>
            <a:off x="777240" y="4663440"/>
            <a:ext cx="3383280" cy="123444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Finds a nearby place and a fact from tools, not guesswork.</a:t>
            </a:r>
            <a:endParaRPr lang="en-US" sz="1800" dirty="0"/>
          </a:p>
        </p:txBody>
      </p:sp>
      <p:sp>
        <p:nvSpPr>
          <p:cNvPr id="27" name="Text 25"/>
          <p:cNvSpPr txBox="1"/>
          <p:nvPr/>
        </p:nvSpPr>
        <p:spPr>
          <a:xfrm>
            <a:off x="4434840" y="3840480"/>
            <a:ext cx="3383280" cy="384048"/>
          </a:xfrm>
          <a:prstGeom prst="rect">
            <a:avLst/>
          </a:prstGeom>
          <a:noFill/>
          <a:ln/>
        </p:spPr>
        <p:txBody>
          <a:bodyPr wrap="square" lIns="0" tIns="0" rIns="0" bIns="0" rtlCol="0" anchor="ctr"/>
          <a:lstStyle/>
          <a:p>
            <a:pPr indent="0" marL="0">
              <a:buNone/>
            </a:pPr>
            <a:r>
              <a:rPr lang="en-US" sz="2400" b="1" dirty="0">
                <a:solidFill>
                  <a:srgbClr val="E8A317"/>
                </a:solidFill>
                <a:latin typeface="Calibri" pitchFamily="34" charset="0"/>
                <a:ea typeface="Calibri" pitchFamily="34" charset="-122"/>
                <a:cs typeface="Calibri" pitchFamily="34" charset="-120"/>
              </a:rPr>
              <a:t>Moss</a:t>
            </a:r>
            <a:endParaRPr lang="en-US" sz="2400" dirty="0"/>
          </a:p>
        </p:txBody>
      </p:sp>
      <p:sp>
        <p:nvSpPr>
          <p:cNvPr id="28" name="Text 26"/>
          <p:cNvSpPr txBox="1"/>
          <p:nvPr/>
        </p:nvSpPr>
        <p:spPr>
          <a:xfrm>
            <a:off x="4434840" y="4251960"/>
            <a:ext cx="3383280" cy="292608"/>
          </a:xfrm>
          <a:prstGeom prst="rect">
            <a:avLst/>
          </a:prstGeom>
          <a:noFill/>
          <a:ln/>
        </p:spPr>
        <p:txBody>
          <a:bodyPr wrap="square" lIns="0" tIns="0" rIns="0" bIns="0" rtlCol="0" anchor="ctr"/>
          <a:lstStyle/>
          <a:p>
            <a:pPr indent="0" marL="0">
              <a:buNone/>
            </a:pPr>
            <a:r>
              <a:rPr lang="en-US" sz="1600" dirty="0">
                <a:solidFill>
                  <a:srgbClr val="6EC6FF"/>
                </a:solidFill>
                <a:latin typeface="Calibri" pitchFamily="34" charset="0"/>
                <a:ea typeface="Calibri" pitchFamily="34" charset="-122"/>
                <a:cs typeface="Calibri" pitchFamily="34" charset="-120"/>
              </a:rPr>
              <a:t>Storyteller</a:t>
            </a:r>
            <a:endParaRPr lang="en-US" sz="1600" dirty="0"/>
          </a:p>
        </p:txBody>
      </p:sp>
      <p:sp>
        <p:nvSpPr>
          <p:cNvPr id="29" name="Text 27"/>
          <p:cNvSpPr txBox="1"/>
          <p:nvPr/>
        </p:nvSpPr>
        <p:spPr>
          <a:xfrm>
            <a:off x="4434840" y="4663440"/>
            <a:ext cx="3383280" cy="123444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Reads the landmark’s history in a short voice memo.</a:t>
            </a:r>
            <a:endParaRPr lang="en-US" sz="1800" dirty="0"/>
          </a:p>
        </p:txBody>
      </p:sp>
      <p:sp>
        <p:nvSpPr>
          <p:cNvPr id="30" name="Text 28"/>
          <p:cNvSpPr txBox="1"/>
          <p:nvPr/>
        </p:nvSpPr>
        <p:spPr>
          <a:xfrm>
            <a:off x="8092440" y="3840480"/>
            <a:ext cx="3383280" cy="384048"/>
          </a:xfrm>
          <a:prstGeom prst="rect">
            <a:avLst/>
          </a:prstGeom>
          <a:noFill/>
          <a:ln/>
        </p:spPr>
        <p:txBody>
          <a:bodyPr wrap="square" lIns="0" tIns="0" rIns="0" bIns="0" rtlCol="0" anchor="ctr"/>
          <a:lstStyle/>
          <a:p>
            <a:pPr indent="0" marL="0">
              <a:buNone/>
            </a:pPr>
            <a:r>
              <a:rPr lang="en-US" sz="2400" b="1" dirty="0">
                <a:solidFill>
                  <a:srgbClr val="E8A317"/>
                </a:solidFill>
                <a:latin typeface="Calibri" pitchFamily="34" charset="0"/>
                <a:ea typeface="Calibri" pitchFamily="34" charset="-122"/>
                <a:cs typeface="Calibri" pitchFamily="34" charset="-120"/>
              </a:rPr>
              <a:t>Fern</a:t>
            </a:r>
            <a:endParaRPr lang="en-US" sz="2400" dirty="0"/>
          </a:p>
        </p:txBody>
      </p:sp>
      <p:sp>
        <p:nvSpPr>
          <p:cNvPr id="31" name="Text 29"/>
          <p:cNvSpPr txBox="1"/>
          <p:nvPr/>
        </p:nvSpPr>
        <p:spPr>
          <a:xfrm>
            <a:off x="8092440" y="4251960"/>
            <a:ext cx="3383280" cy="292608"/>
          </a:xfrm>
          <a:prstGeom prst="rect">
            <a:avLst/>
          </a:prstGeom>
          <a:noFill/>
          <a:ln/>
        </p:spPr>
        <p:txBody>
          <a:bodyPr wrap="square" lIns="0" tIns="0" rIns="0" bIns="0" rtlCol="0" anchor="ctr"/>
          <a:lstStyle/>
          <a:p>
            <a:pPr indent="0" marL="0">
              <a:buNone/>
            </a:pPr>
            <a:r>
              <a:rPr lang="en-US" sz="1600" dirty="0">
                <a:solidFill>
                  <a:srgbClr val="6EC6FF"/>
                </a:solidFill>
                <a:latin typeface="Calibri" pitchFamily="34" charset="0"/>
                <a:ea typeface="Calibri" pitchFamily="34" charset="-122"/>
                <a:cs typeface="Calibri" pitchFamily="34" charset="-120"/>
              </a:rPr>
              <a:t>Pathfinder</a:t>
            </a:r>
            <a:endParaRPr lang="en-US" sz="1600" dirty="0"/>
          </a:p>
        </p:txBody>
      </p:sp>
      <p:sp>
        <p:nvSpPr>
          <p:cNvPr id="32" name="Text 30"/>
          <p:cNvSpPr txBox="1"/>
          <p:nvPr/>
        </p:nvSpPr>
        <p:spPr>
          <a:xfrm>
            <a:off x="8092440" y="4663440"/>
            <a:ext cx="3383280" cy="123444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Turns that place into a walk you can follow.</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56032"/>
            <a:ext cx="11155680" cy="566928"/>
          </a:xfrm>
          <a:prstGeom prst="rect">
            <a:avLst/>
          </a:prstGeom>
          <a:noFill/>
          <a:ln/>
        </p:spPr>
        <p:txBody>
          <a:bodyPr wrap="square" lIns="0" tIns="0" rIns="0" bIns="0" rtlCol="0" anchor="ctr"/>
          <a:lstStyle/>
          <a:p>
            <a:pPr algn="l" indent="0" marL="0">
              <a:buNone/>
            </a:pPr>
            <a:r>
              <a:rPr lang="en-US" sz="3200" b="1" dirty="0">
                <a:solidFill>
                  <a:srgbClr val="0B1F3A"/>
                </a:solidFill>
                <a:latin typeface="Calibri" pitchFamily="34" charset="0"/>
                <a:ea typeface="Calibri" pitchFamily="34" charset="-122"/>
                <a:cs typeface="Calibri" pitchFamily="34" charset="-120"/>
              </a:rPr>
              <a:t>Live demo  —  keep this slide up</a:t>
            </a:r>
            <a:endParaRPr lang="en-US" sz="3200" dirty="0"/>
          </a:p>
        </p:txBody>
      </p:sp>
      <p:sp>
        <p:nvSpPr>
          <p:cNvPr id="3" name="Shape 1"/>
          <p:cNvSpPr/>
          <p:nvPr/>
        </p:nvSpPr>
        <p:spPr>
          <a:xfrm>
            <a:off x="502920" y="932688"/>
            <a:ext cx="11201400" cy="640080"/>
          </a:xfrm>
          <a:prstGeom prst="roundRect">
            <a:avLst>
              <a:gd name="adj" fmla="val 17143"/>
            </a:avLst>
          </a:prstGeom>
          <a:solidFill>
            <a:srgbClr val="0B1F3A"/>
          </a:solidFill>
          <a:ln/>
          <a:effectLst>
            <a:outerShdw sx="100000" sy="100000" kx="0" ky="0" algn="bl" rotWithShape="0" blurRad="101600" dist="25400" dir="5400000">
              <a:srgbClr val="0B1F3A">
                <a:alpha val="10000"/>
              </a:srgbClr>
            </a:outerShdw>
          </a:effectLst>
        </p:spPr>
      </p:sp>
      <p:sp>
        <p:nvSpPr>
          <p:cNvPr id="4" name="Text 2"/>
          <p:cNvSpPr txBox="1"/>
          <p:nvPr/>
        </p:nvSpPr>
        <p:spPr>
          <a:xfrm>
            <a:off x="685800" y="1024128"/>
            <a:ext cx="10835640" cy="457200"/>
          </a:xfrm>
          <a:prstGeom prst="rect">
            <a:avLst/>
          </a:prstGeom>
          <a:noFill/>
          <a:ln/>
        </p:spPr>
        <p:txBody>
          <a:bodyPr wrap="square" lIns="0" tIns="0" rIns="0" bIns="0" rtlCol="0" anchor="ctr"/>
          <a:lstStyle/>
          <a:p>
            <a:pPr algn="ctr" indent="0" marL="0">
              <a:buNone/>
            </a:pPr>
            <a:r>
              <a:rPr lang="en-US" sz="2000" b="1" dirty="0">
                <a:solidFill>
                  <a:srgbClr val="E8A317"/>
                </a:solidFill>
                <a:latin typeface="Calibri" pitchFamily="34" charset="0"/>
                <a:ea typeface="Calibri" pitchFamily="34" charset="-122"/>
                <a:cs typeface="Calibri" pitchFamily="34" charset="-120"/>
              </a:rPr>
              <a:t>Demo Walk is ON   ·   steps are simulated at the judging table</a:t>
            </a:r>
            <a:endParaRPr lang="en-US" sz="2000" dirty="0"/>
          </a:p>
        </p:txBody>
      </p:sp>
      <p:sp>
        <p:nvSpPr>
          <p:cNvPr id="5" name="Shape 3"/>
          <p:cNvSpPr/>
          <p:nvPr/>
        </p:nvSpPr>
        <p:spPr>
          <a:xfrm>
            <a:off x="502920" y="1783080"/>
            <a:ext cx="2788920" cy="4434840"/>
          </a:xfrm>
          <a:prstGeom prst="roundRect">
            <a:avLst>
              <a:gd name="adj" fmla="val 3934"/>
            </a:avLst>
          </a:prstGeom>
          <a:solidFill>
            <a:srgbClr val="FFFFFF"/>
          </a:solidFill>
          <a:ln/>
          <a:effectLst>
            <a:outerShdw sx="100000" sy="100000" kx="0" ky="0" algn="bl" rotWithShape="0" blurRad="101600" dist="25400" dir="5400000">
              <a:srgbClr val="0B1F3A">
                <a:alpha val="10000"/>
              </a:srgbClr>
            </a:outerShdw>
          </a:effectLst>
        </p:spPr>
      </p:sp>
      <p:sp>
        <p:nvSpPr>
          <p:cNvPr id="6" name="Shape 4"/>
          <p:cNvSpPr/>
          <p:nvPr/>
        </p:nvSpPr>
        <p:spPr>
          <a:xfrm>
            <a:off x="1508760" y="2011680"/>
            <a:ext cx="777240" cy="777240"/>
          </a:xfrm>
          <a:prstGeom prst="ellipse">
            <a:avLst/>
          </a:prstGeom>
          <a:solidFill>
            <a:srgbClr val="2E9D4F"/>
          </a:solidFill>
          <a:ln/>
        </p:spPr>
      </p:sp>
      <p:sp>
        <p:nvSpPr>
          <p:cNvPr id="7" name="Text 5"/>
          <p:cNvSpPr txBox="1"/>
          <p:nvPr/>
        </p:nvSpPr>
        <p:spPr>
          <a:xfrm>
            <a:off x="1508760" y="2103120"/>
            <a:ext cx="777240" cy="5943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8" name="Text 6"/>
          <p:cNvSpPr txBox="1"/>
          <p:nvPr/>
        </p:nvSpPr>
        <p:spPr>
          <a:xfrm>
            <a:off x="667512" y="2926080"/>
            <a:ext cx="2468880" cy="96012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Send Pip exploring</a:t>
            </a:r>
            <a:endParaRPr lang="en-US" sz="2200" dirty="0"/>
          </a:p>
        </p:txBody>
      </p:sp>
      <p:sp>
        <p:nvSpPr>
          <p:cNvPr id="9" name="Text 7"/>
          <p:cNvSpPr txBox="1"/>
          <p:nvPr/>
        </p:nvSpPr>
        <p:spPr>
          <a:xfrm>
            <a:off x="685800" y="3931920"/>
            <a:ext cx="2423160" cy="1965960"/>
          </a:xfrm>
          <a:prstGeom prst="rect">
            <a:avLst/>
          </a:prstGeom>
          <a:noFill/>
          <a:ln/>
        </p:spPr>
        <p:txBody>
          <a:bodyPr wrap="square" lIns="0" tIns="0" rIns="0" bIns="0" rtlCol="0" anchor="ctr"/>
          <a:lstStyle/>
          <a:p>
            <a:pPr algn="ctr" indent="0" marL="0">
              <a:buNone/>
            </a:pPr>
            <a:r>
              <a:rPr lang="en-US" sz="1600" dirty="0">
                <a:solidFill>
                  <a:srgbClr val="4A6358"/>
                </a:solidFill>
                <a:latin typeface="Calibri" pitchFamily="34" charset="0"/>
                <a:ea typeface="Calibri" pitchFamily="34" charset="-122"/>
                <a:cs typeface="Calibri" pitchFamily="34" charset="-120"/>
              </a:rPr>
              <a:t>Squad → Pip → Explore. A nearby place and a fact come back.</a:t>
            </a:r>
            <a:endParaRPr lang="en-US" sz="1600" dirty="0"/>
          </a:p>
        </p:txBody>
      </p:sp>
      <p:sp>
        <p:nvSpPr>
          <p:cNvPr id="10" name="Shape 8"/>
          <p:cNvSpPr/>
          <p:nvPr/>
        </p:nvSpPr>
        <p:spPr>
          <a:xfrm>
            <a:off x="3429000" y="1783080"/>
            <a:ext cx="2788920" cy="4434840"/>
          </a:xfrm>
          <a:prstGeom prst="roundRect">
            <a:avLst>
              <a:gd name="adj" fmla="val 3934"/>
            </a:avLst>
          </a:prstGeom>
          <a:solidFill>
            <a:srgbClr val="FFFFFF"/>
          </a:solidFill>
          <a:ln/>
          <a:effectLst>
            <a:outerShdw sx="100000" sy="100000" kx="0" ky="0" algn="bl" rotWithShape="0" blurRad="101600" dist="25400" dir="5400000">
              <a:srgbClr val="0B1F3A">
                <a:alpha val="10000"/>
              </a:srgbClr>
            </a:outerShdw>
          </a:effectLst>
        </p:spPr>
      </p:sp>
      <p:sp>
        <p:nvSpPr>
          <p:cNvPr id="11" name="Shape 9"/>
          <p:cNvSpPr/>
          <p:nvPr/>
        </p:nvSpPr>
        <p:spPr>
          <a:xfrm>
            <a:off x="4434840" y="2011680"/>
            <a:ext cx="777240" cy="777240"/>
          </a:xfrm>
          <a:prstGeom prst="ellipse">
            <a:avLst/>
          </a:prstGeom>
          <a:solidFill>
            <a:srgbClr val="2E9D4F"/>
          </a:solidFill>
          <a:ln/>
        </p:spPr>
      </p:sp>
      <p:sp>
        <p:nvSpPr>
          <p:cNvPr id="12" name="Text 10"/>
          <p:cNvSpPr txBox="1"/>
          <p:nvPr/>
        </p:nvSpPr>
        <p:spPr>
          <a:xfrm>
            <a:off x="4434840" y="2103120"/>
            <a:ext cx="777240" cy="5943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a:t>
            </a:r>
            <a:endParaRPr lang="en-US" sz="2800" dirty="0"/>
          </a:p>
        </p:txBody>
      </p:sp>
      <p:sp>
        <p:nvSpPr>
          <p:cNvPr id="13" name="Text 11"/>
          <p:cNvSpPr txBox="1"/>
          <p:nvPr/>
        </p:nvSpPr>
        <p:spPr>
          <a:xfrm>
            <a:off x="3593592" y="2926080"/>
            <a:ext cx="2468880" cy="96012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Choose a place</a:t>
            </a:r>
            <a:endParaRPr lang="en-US" sz="2200" dirty="0"/>
          </a:p>
        </p:txBody>
      </p:sp>
      <p:sp>
        <p:nvSpPr>
          <p:cNvPr id="14" name="Text 12"/>
          <p:cNvSpPr txBox="1"/>
          <p:nvPr/>
        </p:nvSpPr>
        <p:spPr>
          <a:xfrm>
            <a:off x="3611880" y="3931920"/>
            <a:ext cx="2423160" cy="1965960"/>
          </a:xfrm>
          <a:prstGeom prst="rect">
            <a:avLst/>
          </a:prstGeom>
          <a:noFill/>
          <a:ln/>
        </p:spPr>
        <p:txBody>
          <a:bodyPr wrap="square" lIns="0" tIns="0" rIns="0" bIns="0" rtlCol="0" anchor="ctr"/>
          <a:lstStyle/>
          <a:p>
            <a:pPr algn="ctr" indent="0" marL="0">
              <a:buNone/>
            </a:pPr>
            <a:r>
              <a:rPr lang="en-US" sz="1600" dirty="0">
                <a:solidFill>
                  <a:srgbClr val="4A6358"/>
                </a:solidFill>
                <a:latin typeface="Calibri" pitchFamily="34" charset="0"/>
                <a:ea typeface="Calibri" pitchFamily="34" charset="-122"/>
                <a:cs typeface="Calibri" pitchFamily="34" charset="-120"/>
              </a:rPr>
              <a:t>Open the postcard. That is the landmark for this walk.</a:t>
            </a:r>
            <a:endParaRPr lang="en-US" sz="1600" dirty="0"/>
          </a:p>
        </p:txBody>
      </p:sp>
      <p:sp>
        <p:nvSpPr>
          <p:cNvPr id="15" name="Shape 13"/>
          <p:cNvSpPr/>
          <p:nvPr/>
        </p:nvSpPr>
        <p:spPr>
          <a:xfrm>
            <a:off x="6355080" y="1783080"/>
            <a:ext cx="2788920" cy="4434840"/>
          </a:xfrm>
          <a:prstGeom prst="roundRect">
            <a:avLst>
              <a:gd name="adj" fmla="val 3934"/>
            </a:avLst>
          </a:prstGeom>
          <a:solidFill>
            <a:srgbClr val="FFFFFF"/>
          </a:solidFill>
          <a:ln/>
          <a:effectLst>
            <a:outerShdw sx="100000" sy="100000" kx="0" ky="0" algn="bl" rotWithShape="0" blurRad="101600" dist="25400" dir="5400000">
              <a:srgbClr val="0B1F3A">
                <a:alpha val="10000"/>
              </a:srgbClr>
            </a:outerShdw>
          </a:effectLst>
        </p:spPr>
      </p:sp>
      <p:sp>
        <p:nvSpPr>
          <p:cNvPr id="16" name="Shape 14"/>
          <p:cNvSpPr/>
          <p:nvPr/>
        </p:nvSpPr>
        <p:spPr>
          <a:xfrm>
            <a:off x="7360920" y="2011680"/>
            <a:ext cx="777240" cy="777240"/>
          </a:xfrm>
          <a:prstGeom prst="ellipse">
            <a:avLst/>
          </a:prstGeom>
          <a:solidFill>
            <a:srgbClr val="2E9D4F"/>
          </a:solidFill>
          <a:ln/>
        </p:spPr>
      </p:sp>
      <p:sp>
        <p:nvSpPr>
          <p:cNvPr id="17" name="Text 15"/>
          <p:cNvSpPr txBox="1"/>
          <p:nvPr/>
        </p:nvSpPr>
        <p:spPr>
          <a:xfrm>
            <a:off x="7360920" y="2103120"/>
            <a:ext cx="777240" cy="5943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18" name="Text 16"/>
          <p:cNvSpPr txBox="1"/>
          <p:nvPr/>
        </p:nvSpPr>
        <p:spPr>
          <a:xfrm>
            <a:off x="6519672" y="2926080"/>
            <a:ext cx="2468880" cy="96012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Start a walk</a:t>
            </a:r>
            <a:endParaRPr lang="en-US" sz="2200" dirty="0"/>
          </a:p>
        </p:txBody>
      </p:sp>
      <p:sp>
        <p:nvSpPr>
          <p:cNvPr id="19" name="Text 17"/>
          <p:cNvSpPr txBox="1"/>
          <p:nvPr/>
        </p:nvSpPr>
        <p:spPr>
          <a:xfrm>
            <a:off x="6537960" y="3931920"/>
            <a:ext cx="2423160" cy="1965960"/>
          </a:xfrm>
          <a:prstGeom prst="rect">
            <a:avLst/>
          </a:prstGeom>
          <a:noFill/>
          <a:ln/>
        </p:spPr>
        <p:txBody>
          <a:bodyPr wrap="square" lIns="0" tIns="0" rIns="0" bIns="0" rtlCol="0" anchor="ctr"/>
          <a:lstStyle/>
          <a:p>
            <a:pPr algn="ctr" indent="0" marL="0">
              <a:buNone/>
            </a:pPr>
            <a:r>
              <a:rPr lang="en-US" sz="1600" dirty="0">
                <a:solidFill>
                  <a:srgbClr val="4A6358"/>
                </a:solidFill>
                <a:latin typeface="Calibri" pitchFamily="34" charset="0"/>
                <a:ea typeface="Calibri" pitchFamily="34" charset="-122"/>
                <a:cs typeface="Calibri" pitchFamily="34" charset="-120"/>
              </a:rPr>
              <a:t>Fern leads. The trail blooms on the map as Demo Walk runs.</a:t>
            </a:r>
            <a:endParaRPr lang="en-US" sz="1600" dirty="0"/>
          </a:p>
        </p:txBody>
      </p:sp>
      <p:sp>
        <p:nvSpPr>
          <p:cNvPr id="20" name="Shape 18"/>
          <p:cNvSpPr/>
          <p:nvPr/>
        </p:nvSpPr>
        <p:spPr>
          <a:xfrm>
            <a:off x="9281160" y="1783080"/>
            <a:ext cx="2788920" cy="4434840"/>
          </a:xfrm>
          <a:prstGeom prst="roundRect">
            <a:avLst>
              <a:gd name="adj" fmla="val 3934"/>
            </a:avLst>
          </a:prstGeom>
          <a:solidFill>
            <a:srgbClr val="FFFFFF"/>
          </a:solidFill>
          <a:ln/>
          <a:effectLst>
            <a:outerShdw sx="100000" sy="100000" kx="0" ky="0" algn="bl" rotWithShape="0" blurRad="101600" dist="25400" dir="5400000">
              <a:srgbClr val="0B1F3A">
                <a:alpha val="10000"/>
              </a:srgbClr>
            </a:outerShdw>
          </a:effectLst>
        </p:spPr>
      </p:sp>
      <p:sp>
        <p:nvSpPr>
          <p:cNvPr id="21" name="Shape 19"/>
          <p:cNvSpPr/>
          <p:nvPr/>
        </p:nvSpPr>
        <p:spPr>
          <a:xfrm>
            <a:off x="10287000" y="2011680"/>
            <a:ext cx="777240" cy="777240"/>
          </a:xfrm>
          <a:prstGeom prst="ellipse">
            <a:avLst/>
          </a:prstGeom>
          <a:solidFill>
            <a:srgbClr val="2E9D4F"/>
          </a:solidFill>
          <a:ln/>
        </p:spPr>
      </p:sp>
      <p:sp>
        <p:nvSpPr>
          <p:cNvPr id="22" name="Text 20"/>
          <p:cNvSpPr txBox="1"/>
          <p:nvPr/>
        </p:nvSpPr>
        <p:spPr>
          <a:xfrm>
            <a:off x="10287000" y="2103120"/>
            <a:ext cx="777240" cy="5943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4</a:t>
            </a:r>
            <a:endParaRPr lang="en-US" sz="2800" dirty="0"/>
          </a:p>
        </p:txBody>
      </p:sp>
      <p:sp>
        <p:nvSpPr>
          <p:cNvPr id="23" name="Text 21"/>
          <p:cNvSpPr txBox="1"/>
          <p:nvPr/>
        </p:nvSpPr>
        <p:spPr>
          <a:xfrm>
            <a:off x="9445752" y="2926080"/>
            <a:ext cx="2468880" cy="960120"/>
          </a:xfrm>
          <a:prstGeom prst="rect">
            <a:avLst/>
          </a:prstGeom>
          <a:noFill/>
          <a:ln/>
        </p:spPr>
        <p:txBody>
          <a:bodyPr wrap="square" lIns="0" tIns="0" rIns="0" bIns="0" rtlCol="0" anchor="ctr"/>
          <a:lstStyle/>
          <a:p>
            <a:pPr algn="ctr" indent="0" marL="0">
              <a:buNone/>
            </a:pPr>
            <a:r>
              <a:rPr lang="en-US" sz="2200" b="1" dirty="0">
                <a:solidFill>
                  <a:srgbClr val="0B1F3A"/>
                </a:solidFill>
                <a:latin typeface="Calibri" pitchFamily="34" charset="0"/>
                <a:ea typeface="Calibri" pitchFamily="34" charset="-122"/>
                <a:cs typeface="Calibri" pitchFamily="34" charset="-120"/>
              </a:rPr>
              <a:t>Capture</a:t>
            </a:r>
            <a:endParaRPr lang="en-US" sz="2200" dirty="0"/>
          </a:p>
        </p:txBody>
      </p:sp>
      <p:sp>
        <p:nvSpPr>
          <p:cNvPr id="24" name="Text 22"/>
          <p:cNvSpPr txBox="1"/>
          <p:nvPr/>
        </p:nvSpPr>
        <p:spPr>
          <a:xfrm>
            <a:off x="9464040" y="3931920"/>
            <a:ext cx="2423160" cy="1965960"/>
          </a:xfrm>
          <a:prstGeom prst="rect">
            <a:avLst/>
          </a:prstGeom>
          <a:noFill/>
          <a:ln/>
        </p:spPr>
        <p:txBody>
          <a:bodyPr wrap="square" lIns="0" tIns="0" rIns="0" bIns="0" rtlCol="0" anchor="ctr"/>
          <a:lstStyle/>
          <a:p>
            <a:pPr algn="ctr" indent="0" marL="0">
              <a:buNone/>
            </a:pPr>
            <a:r>
              <a:rPr lang="en-US" sz="1600" dirty="0">
                <a:solidFill>
                  <a:srgbClr val="4A6358"/>
                </a:solidFill>
                <a:latin typeface="Calibri" pitchFamily="34" charset="0"/>
                <a:ea typeface="Calibri" pitchFamily="34" charset="-122"/>
                <a:cs typeface="Calibri" pitchFamily="34" charset="-120"/>
              </a:rPr>
              <a:t>When you arrive, capture the landmark or hatch from the walk.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56032"/>
            <a:ext cx="11155680" cy="566928"/>
          </a:xfrm>
          <a:prstGeom prst="rect">
            <a:avLst/>
          </a:prstGeom>
          <a:noFill/>
          <a:ln/>
        </p:spPr>
        <p:txBody>
          <a:bodyPr wrap="square" lIns="0" tIns="0" rIns="0" bIns="0" rtlCol="0" anchor="ctr"/>
          <a:lstStyle/>
          <a:p>
            <a:pPr algn="l" indent="0" marL="0">
              <a:buNone/>
            </a:pPr>
            <a:r>
              <a:rPr lang="en-US" sz="3200" b="1" dirty="0">
                <a:solidFill>
                  <a:srgbClr val="0B1F3A"/>
                </a:solidFill>
                <a:latin typeface="Calibri" pitchFamily="34" charset="0"/>
                <a:ea typeface="Calibri" pitchFamily="34" charset="-122"/>
                <a:cs typeface="Calibri" pitchFamily="34" charset="-120"/>
              </a:rPr>
              <a:t>How we built it</a:t>
            </a:r>
            <a:endParaRPr lang="en-US" sz="3200" dirty="0"/>
          </a:p>
        </p:txBody>
      </p:sp>
      <p:sp>
        <p:nvSpPr>
          <p:cNvPr id="3" name="Shape 1"/>
          <p:cNvSpPr/>
          <p:nvPr/>
        </p:nvSpPr>
        <p:spPr>
          <a:xfrm>
            <a:off x="502920" y="960120"/>
            <a:ext cx="3383280" cy="1874520"/>
          </a:xfrm>
          <a:prstGeom prst="roundRect">
            <a:avLst>
              <a:gd name="adj" fmla="val 5854"/>
            </a:avLst>
          </a:prstGeom>
          <a:solidFill>
            <a:srgbClr val="FFFFFF"/>
          </a:solidFill>
          <a:ln/>
          <a:effectLst>
            <a:outerShdw sx="100000" sy="100000" kx="0" ky="0" algn="bl" rotWithShape="0" blurRad="101600" dist="25400" dir="5400000">
              <a:srgbClr val="0B1F3A">
                <a:alpha val="10000"/>
              </a:srgbClr>
            </a:outerShdw>
          </a:effectLst>
        </p:spPr>
      </p:sp>
      <p:sp>
        <p:nvSpPr>
          <p:cNvPr id="4" name="Text 2"/>
          <p:cNvSpPr txBox="1"/>
          <p:nvPr/>
        </p:nvSpPr>
        <p:spPr>
          <a:xfrm>
            <a:off x="731520" y="1097280"/>
            <a:ext cx="2926080" cy="384048"/>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Phone</a:t>
            </a:r>
            <a:endParaRPr lang="en-US" sz="2200" dirty="0"/>
          </a:p>
        </p:txBody>
      </p:sp>
      <p:sp>
        <p:nvSpPr>
          <p:cNvPr id="5" name="Text 3"/>
          <p:cNvSpPr txBox="1"/>
          <p:nvPr/>
        </p:nvSpPr>
        <p:spPr>
          <a:xfrm>
            <a:off x="731520" y="1536192"/>
            <a:ext cx="2926080" cy="1097280"/>
          </a:xfrm>
          <a:prstGeom prst="rect">
            <a:avLst/>
          </a:prstGeom>
          <a:noFill/>
          <a:ln/>
        </p:spPr>
        <p:txBody>
          <a:bodyPr wrap="square" lIns="0" tIns="0" rIns="0" bIns="0" rtlCol="0" anchor="ctr"/>
          <a:lstStyle/>
          <a:p>
            <a:pPr indent="0" marL="0">
              <a:buNone/>
            </a:pPr>
            <a:r>
              <a:rPr lang="en-US" sz="1600" dirty="0">
                <a:solidFill>
                  <a:srgbClr val="4A6358"/>
                </a:solidFill>
                <a:latin typeface="Calibri" pitchFamily="34" charset="0"/>
                <a:ea typeface="Calibri" pitchFamily="34" charset="-122"/>
                <a:cs typeface="Calibri" pitchFamily="34" charset="-120"/>
              </a:rPr>
              <a:t>Expo SDK 57</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React Native</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Expo Router</a:t>
            </a:r>
            <a:endParaRPr lang="en-US" sz="1600" dirty="0"/>
          </a:p>
        </p:txBody>
      </p:sp>
      <p:sp>
        <p:nvSpPr>
          <p:cNvPr id="6" name="Text 4"/>
          <p:cNvSpPr txBox="1"/>
          <p:nvPr/>
        </p:nvSpPr>
        <p:spPr>
          <a:xfrm>
            <a:off x="3886200" y="1554480"/>
            <a:ext cx="640080" cy="457200"/>
          </a:xfrm>
          <a:prstGeom prst="rect">
            <a:avLst/>
          </a:prstGeom>
          <a:noFill/>
          <a:ln/>
        </p:spPr>
        <p:txBody>
          <a:bodyPr wrap="square" lIns="0" tIns="0" rIns="0" bIns="0" rtlCol="0" anchor="ctr"/>
          <a:lstStyle/>
          <a:p>
            <a:pPr algn="ctr" indent="0" marL="0">
              <a:buNone/>
            </a:pPr>
            <a:r>
              <a:rPr lang="en-US" sz="2600" b="1" dirty="0">
                <a:solidFill>
                  <a:srgbClr val="2E9D4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960120"/>
            <a:ext cx="3383280" cy="1874520"/>
          </a:xfrm>
          <a:prstGeom prst="roundRect">
            <a:avLst>
              <a:gd name="adj" fmla="val 5854"/>
            </a:avLst>
          </a:prstGeom>
          <a:solidFill>
            <a:srgbClr val="0B1F3A"/>
          </a:solidFill>
          <a:ln/>
          <a:effectLst>
            <a:outerShdw sx="100000" sy="100000" kx="0" ky="0" algn="bl" rotWithShape="0" blurRad="101600" dist="25400" dir="5400000">
              <a:srgbClr val="0B1F3A">
                <a:alpha val="10000"/>
              </a:srgbClr>
            </a:outerShdw>
          </a:effectLst>
        </p:spPr>
      </p:sp>
      <p:sp>
        <p:nvSpPr>
          <p:cNvPr id="8" name="Text 6"/>
          <p:cNvSpPr txBox="1"/>
          <p:nvPr/>
        </p:nvSpPr>
        <p:spPr>
          <a:xfrm>
            <a:off x="4754880" y="1097280"/>
            <a:ext cx="2926080" cy="384048"/>
          </a:xfrm>
          <a:prstGeom prst="rect">
            <a:avLst/>
          </a:prstGeom>
          <a:noFill/>
          <a:ln/>
        </p:spPr>
        <p:txBody>
          <a:bodyPr wrap="square" lIns="0" tIns="0" rIns="0" bIns="0" rtlCol="0" anchor="ctr"/>
          <a:lstStyle/>
          <a:p>
            <a:pPr indent="0" marL="0">
              <a:buNone/>
            </a:pPr>
            <a:r>
              <a:rPr lang="en-US" sz="2200" b="1" dirty="0">
                <a:solidFill>
                  <a:srgbClr val="E8A317"/>
                </a:solidFill>
                <a:latin typeface="Calibri" pitchFamily="34" charset="0"/>
                <a:ea typeface="Calibri" pitchFamily="34" charset="-122"/>
                <a:cs typeface="Calibri" pitchFamily="34" charset="-120"/>
              </a:rPr>
              <a:t>API</a:t>
            </a:r>
            <a:endParaRPr lang="en-US" sz="2200" dirty="0"/>
          </a:p>
        </p:txBody>
      </p:sp>
      <p:sp>
        <p:nvSpPr>
          <p:cNvPr id="9" name="Text 7"/>
          <p:cNvSpPr txBox="1"/>
          <p:nvPr/>
        </p:nvSpPr>
        <p:spPr>
          <a:xfrm>
            <a:off x="4754880" y="1536192"/>
            <a:ext cx="2926080" cy="10972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Node.js /api</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Secrets stay here</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Turf + voice + art</a:t>
            </a:r>
            <a:endParaRPr lang="en-US" sz="1600" dirty="0"/>
          </a:p>
        </p:txBody>
      </p:sp>
      <p:sp>
        <p:nvSpPr>
          <p:cNvPr id="10" name="Text 8"/>
          <p:cNvSpPr txBox="1"/>
          <p:nvPr/>
        </p:nvSpPr>
        <p:spPr>
          <a:xfrm>
            <a:off x="7909560" y="1554480"/>
            <a:ext cx="640080" cy="457200"/>
          </a:xfrm>
          <a:prstGeom prst="rect">
            <a:avLst/>
          </a:prstGeom>
          <a:noFill/>
          <a:ln/>
        </p:spPr>
        <p:txBody>
          <a:bodyPr wrap="square" lIns="0" tIns="0" rIns="0" bIns="0" rtlCol="0" anchor="ctr"/>
          <a:lstStyle/>
          <a:p>
            <a:pPr algn="ctr" indent="0" marL="0">
              <a:buNone/>
            </a:pPr>
            <a:r>
              <a:rPr lang="en-US" sz="2600" b="1" dirty="0">
                <a:solidFill>
                  <a:srgbClr val="2E9D4F"/>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8549640" y="960120"/>
            <a:ext cx="3383280" cy="1874520"/>
          </a:xfrm>
          <a:prstGeom prst="roundRect">
            <a:avLst>
              <a:gd name="adj" fmla="val 5854"/>
            </a:avLst>
          </a:prstGeom>
          <a:solidFill>
            <a:srgbClr val="FFFFFF"/>
          </a:solidFill>
          <a:ln/>
          <a:effectLst>
            <a:outerShdw sx="100000" sy="100000" kx="0" ky="0" algn="bl" rotWithShape="0" blurRad="101600" dist="25400" dir="5400000">
              <a:srgbClr val="0B1F3A">
                <a:alpha val="10000"/>
              </a:srgbClr>
            </a:outerShdw>
          </a:effectLst>
        </p:spPr>
      </p:sp>
      <p:sp>
        <p:nvSpPr>
          <p:cNvPr id="12" name="Text 10"/>
          <p:cNvSpPr txBox="1"/>
          <p:nvPr/>
        </p:nvSpPr>
        <p:spPr>
          <a:xfrm>
            <a:off x="8778240" y="1097280"/>
            <a:ext cx="2926080" cy="384048"/>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World</a:t>
            </a:r>
            <a:endParaRPr lang="en-US" sz="2200" dirty="0"/>
          </a:p>
        </p:txBody>
      </p:sp>
      <p:sp>
        <p:nvSpPr>
          <p:cNvPr id="13" name="Text 11"/>
          <p:cNvSpPr txBox="1"/>
          <p:nvPr/>
        </p:nvSpPr>
        <p:spPr>
          <a:xfrm>
            <a:off x="8778240" y="1536192"/>
            <a:ext cx="2926080" cy="1097280"/>
          </a:xfrm>
          <a:prstGeom prst="rect">
            <a:avLst/>
          </a:prstGeom>
          <a:noFill/>
          <a:ln/>
        </p:spPr>
        <p:txBody>
          <a:bodyPr wrap="square" lIns="0" tIns="0" rIns="0" bIns="0" rtlCol="0" anchor="ctr"/>
          <a:lstStyle/>
          <a:p>
            <a:pPr indent="0" marL="0">
              <a:buNone/>
            </a:pPr>
            <a:r>
              <a:rPr lang="en-US" sz="1600" dirty="0">
                <a:solidFill>
                  <a:srgbClr val="4A6358"/>
                </a:solidFill>
                <a:latin typeface="Calibri" pitchFamily="34" charset="0"/>
                <a:ea typeface="Calibri" pitchFamily="34" charset="-122"/>
                <a:cs typeface="Calibri" pitchFamily="34" charset="-120"/>
              </a:rPr>
              <a:t>Wikipedia · OSM</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Grok / ElevenLabs</a:t>
            </a:r>
            <a:endParaRPr lang="en-US" sz="1600" dirty="0"/>
          </a:p>
          <a:p>
            <a:pPr indent="0" marL="0">
              <a:buNone/>
            </a:pPr>
            <a:r>
              <a:rPr lang="en-US" sz="1600" dirty="0">
                <a:solidFill>
                  <a:srgbClr val="4A6358"/>
                </a:solidFill>
                <a:latin typeface="Calibri" pitchFamily="34" charset="0"/>
                <a:ea typeface="Calibri" pitchFamily="34" charset="-122"/>
                <a:cs typeface="Calibri" pitchFamily="34" charset="-120"/>
              </a:rPr>
              <a:t>Photon iMessage</a:t>
            </a:r>
            <a:endParaRPr lang="en-US" sz="1600" dirty="0"/>
          </a:p>
        </p:txBody>
      </p:sp>
      <p:sp>
        <p:nvSpPr>
          <p:cNvPr id="14" name="Shape 12"/>
          <p:cNvSpPr/>
          <p:nvPr/>
        </p:nvSpPr>
        <p:spPr>
          <a:xfrm>
            <a:off x="502920" y="3063240"/>
            <a:ext cx="562356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15" name="Text 13"/>
          <p:cNvSpPr txBox="1"/>
          <p:nvPr/>
        </p:nvSpPr>
        <p:spPr>
          <a:xfrm>
            <a:off x="731520" y="3227832"/>
            <a:ext cx="5166360" cy="365760"/>
          </a:xfrm>
          <a:prstGeom prst="rect">
            <a:avLst/>
          </a:prstGeom>
          <a:noFill/>
          <a:ln/>
        </p:spPr>
        <p:txBody>
          <a:bodyPr wrap="square" lIns="0" tIns="0" rIns="0" bIns="0" rtlCol="0" anchor="ctr"/>
          <a:lstStyle/>
          <a:p>
            <a:pPr indent="0" marL="0">
              <a:buNone/>
            </a:pPr>
            <a:r>
              <a:rPr lang="en-US" sz="1800" b="1" dirty="0">
                <a:solidFill>
                  <a:srgbClr val="2E9D4F"/>
                </a:solidFill>
                <a:latin typeface="Calibri" pitchFamily="34" charset="0"/>
                <a:ea typeface="Calibri" pitchFamily="34" charset="-122"/>
                <a:cs typeface="Calibri" pitchFamily="34" charset="-120"/>
              </a:rPr>
              <a:t>Shared JavaScript game logic</a:t>
            </a:r>
            <a:endParaRPr lang="en-US" sz="1800" dirty="0"/>
          </a:p>
        </p:txBody>
      </p:sp>
      <p:sp>
        <p:nvSpPr>
          <p:cNvPr id="16" name="Text 14"/>
          <p:cNvSpPr txBox="1"/>
          <p:nvPr/>
        </p:nvSpPr>
        <p:spPr>
          <a:xfrm>
            <a:off x="731520" y="3630168"/>
            <a:ext cx="5166360" cy="777240"/>
          </a:xfrm>
          <a:prstGeom prst="rect">
            <a:avLst/>
          </a:prstGeom>
          <a:noFill/>
          <a:ln/>
        </p:spPr>
        <p:txBody>
          <a:bodyPr wrap="square" lIns="0" tIns="0" rIns="0" bIns="0" rtlCol="0" anchor="ctr"/>
          <a:lstStyle/>
          <a:p>
            <a:pPr indent="0" marL="0">
              <a:buNone/>
            </a:pPr>
            <a:r>
              <a:rPr lang="en-US" sz="1500" dirty="0">
                <a:solidFill>
                  <a:srgbClr val="163528"/>
                </a:solidFill>
                <a:latin typeface="Calibri" pitchFamily="34" charset="0"/>
                <a:ea typeface="Calibri" pitchFamily="34" charset="-122"/>
                <a:cs typeface="Calibri" pitchFamily="34" charset="-120"/>
              </a:rPr>
              <a:t>core/ is the source of truth. Phone, server, and iMessage import the same rules.</a:t>
            </a:r>
            <a:endParaRPr lang="en-US" sz="1500" dirty="0"/>
          </a:p>
        </p:txBody>
      </p:sp>
      <p:sp>
        <p:nvSpPr>
          <p:cNvPr id="17" name="Shape 15"/>
          <p:cNvSpPr/>
          <p:nvPr/>
        </p:nvSpPr>
        <p:spPr>
          <a:xfrm>
            <a:off x="6355080" y="3063240"/>
            <a:ext cx="562356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18" name="Text 16"/>
          <p:cNvSpPr txBox="1"/>
          <p:nvPr/>
        </p:nvSpPr>
        <p:spPr>
          <a:xfrm>
            <a:off x="6583680" y="3227832"/>
            <a:ext cx="5166360" cy="365760"/>
          </a:xfrm>
          <a:prstGeom prst="rect">
            <a:avLst/>
          </a:prstGeom>
          <a:noFill/>
          <a:ln/>
        </p:spPr>
        <p:txBody>
          <a:bodyPr wrap="square" lIns="0" tIns="0" rIns="0" bIns="0" rtlCol="0" anchor="ctr"/>
          <a:lstStyle/>
          <a:p>
            <a:pPr indent="0" marL="0">
              <a:buNone/>
            </a:pPr>
            <a:r>
              <a:rPr lang="en-US" sz="1800" b="1" dirty="0">
                <a:solidFill>
                  <a:srgbClr val="2E9D4F"/>
                </a:solidFill>
                <a:latin typeface="Calibri" pitchFamily="34" charset="0"/>
                <a:ea typeface="Calibri" pitchFamily="34" charset="-122"/>
                <a:cs typeface="Calibri" pitchFamily="34" charset="-120"/>
              </a:rPr>
              <a:t>Grounded facts and routes</a:t>
            </a:r>
            <a:endParaRPr lang="en-US" sz="1800" dirty="0"/>
          </a:p>
        </p:txBody>
      </p:sp>
      <p:sp>
        <p:nvSpPr>
          <p:cNvPr id="19" name="Text 17"/>
          <p:cNvSpPr txBox="1"/>
          <p:nvPr/>
        </p:nvSpPr>
        <p:spPr>
          <a:xfrm>
            <a:off x="6583680" y="3630168"/>
            <a:ext cx="5166360" cy="777240"/>
          </a:xfrm>
          <a:prstGeom prst="rect">
            <a:avLst/>
          </a:prstGeom>
          <a:noFill/>
          <a:ln/>
        </p:spPr>
        <p:txBody>
          <a:bodyPr wrap="square" lIns="0" tIns="0" rIns="0" bIns="0" rtlCol="0" anchor="ctr"/>
          <a:lstStyle/>
          <a:p>
            <a:pPr indent="0" marL="0">
              <a:buNone/>
            </a:pPr>
            <a:r>
              <a:rPr lang="en-US" sz="1500" dirty="0">
                <a:solidFill>
                  <a:srgbClr val="163528"/>
                </a:solidFill>
                <a:latin typeface="Calibri" pitchFamily="34" charset="0"/>
                <a:ea typeface="Calibri" pitchFamily="34" charset="-122"/>
                <a:cs typeface="Calibri" pitchFamily="34" charset="-120"/>
              </a:rPr>
              <a:t>Place facts from Wikipedia. Walking routes from OpenStreetMap. Agents do not invent landmarks.</a:t>
            </a:r>
            <a:endParaRPr lang="en-US" sz="1500" dirty="0"/>
          </a:p>
        </p:txBody>
      </p:sp>
      <p:sp>
        <p:nvSpPr>
          <p:cNvPr id="20" name="Shape 18"/>
          <p:cNvSpPr/>
          <p:nvPr/>
        </p:nvSpPr>
        <p:spPr>
          <a:xfrm>
            <a:off x="502920" y="4709160"/>
            <a:ext cx="562356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21" name="Text 19"/>
          <p:cNvSpPr txBox="1"/>
          <p:nvPr/>
        </p:nvSpPr>
        <p:spPr>
          <a:xfrm>
            <a:off x="731520" y="4873752"/>
            <a:ext cx="5166360" cy="365760"/>
          </a:xfrm>
          <a:prstGeom prst="rect">
            <a:avLst/>
          </a:prstGeom>
          <a:noFill/>
          <a:ln/>
        </p:spPr>
        <p:txBody>
          <a:bodyPr wrap="square" lIns="0" tIns="0" rIns="0" bIns="0" rtlCol="0" anchor="ctr"/>
          <a:lstStyle/>
          <a:p>
            <a:pPr indent="0" marL="0">
              <a:buNone/>
            </a:pPr>
            <a:r>
              <a:rPr lang="en-US" sz="1800" b="1" dirty="0">
                <a:solidFill>
                  <a:srgbClr val="2E9D4F"/>
                </a:solidFill>
                <a:latin typeface="Calibri" pitchFamily="34" charset="0"/>
                <a:ea typeface="Calibri" pitchFamily="34" charset="-122"/>
                <a:cs typeface="Calibri" pitchFamily="34" charset="-120"/>
              </a:rPr>
              <a:t>Voice and art, with fallbacks</a:t>
            </a:r>
            <a:endParaRPr lang="en-US" sz="1800" dirty="0"/>
          </a:p>
        </p:txBody>
      </p:sp>
      <p:sp>
        <p:nvSpPr>
          <p:cNvPr id="22" name="Text 20"/>
          <p:cNvSpPr txBox="1"/>
          <p:nvPr/>
        </p:nvSpPr>
        <p:spPr>
          <a:xfrm>
            <a:off x="731520" y="5276088"/>
            <a:ext cx="5166360" cy="777240"/>
          </a:xfrm>
          <a:prstGeom prst="rect">
            <a:avLst/>
          </a:prstGeom>
          <a:noFill/>
          <a:ln/>
        </p:spPr>
        <p:txBody>
          <a:bodyPr wrap="square" lIns="0" tIns="0" rIns="0" bIns="0" rtlCol="0" anchor="ctr"/>
          <a:lstStyle/>
          <a:p>
            <a:pPr indent="0" marL="0">
              <a:buNone/>
            </a:pPr>
            <a:r>
              <a:rPr lang="en-US" sz="1500" dirty="0">
                <a:solidFill>
                  <a:srgbClr val="163528"/>
                </a:solidFill>
                <a:latin typeface="Calibri" pitchFamily="34" charset="0"/>
                <a:ea typeface="Calibri" pitchFamily="34" charset="-122"/>
                <a:cs typeface="Calibri" pitchFamily="34" charset="-120"/>
              </a:rPr>
              <a:t>Moss can use ElevenLabs. Pip and Fern can use Grok when keys are set. Else on-device speech and original art.</a:t>
            </a:r>
            <a:endParaRPr lang="en-US" sz="1500" dirty="0"/>
          </a:p>
        </p:txBody>
      </p:sp>
      <p:sp>
        <p:nvSpPr>
          <p:cNvPr id="23" name="Shape 21"/>
          <p:cNvSpPr/>
          <p:nvPr/>
        </p:nvSpPr>
        <p:spPr>
          <a:xfrm>
            <a:off x="6355080" y="4709160"/>
            <a:ext cx="5623560" cy="1508760"/>
          </a:xfrm>
          <a:prstGeom prst="roundRect">
            <a:avLst>
              <a:gd name="adj" fmla="val 7273"/>
            </a:avLst>
          </a:prstGeom>
          <a:solidFill>
            <a:srgbClr val="FFFFFF"/>
          </a:solidFill>
          <a:ln/>
          <a:effectLst>
            <a:outerShdw sx="100000" sy="100000" kx="0" ky="0" algn="bl" rotWithShape="0" blurRad="101600" dist="25400" dir="5400000">
              <a:srgbClr val="0B1F3A">
                <a:alpha val="10000"/>
              </a:srgbClr>
            </a:outerShdw>
          </a:effectLst>
        </p:spPr>
      </p:sp>
      <p:sp>
        <p:nvSpPr>
          <p:cNvPr id="24" name="Text 22"/>
          <p:cNvSpPr txBox="1"/>
          <p:nvPr/>
        </p:nvSpPr>
        <p:spPr>
          <a:xfrm>
            <a:off x="6583680" y="4873752"/>
            <a:ext cx="5166360" cy="365760"/>
          </a:xfrm>
          <a:prstGeom prst="rect">
            <a:avLst/>
          </a:prstGeom>
          <a:noFill/>
          <a:ln/>
        </p:spPr>
        <p:txBody>
          <a:bodyPr wrap="square" lIns="0" tIns="0" rIns="0" bIns="0" rtlCol="0" anchor="ctr"/>
          <a:lstStyle/>
          <a:p>
            <a:pPr indent="0" marL="0">
              <a:buNone/>
            </a:pPr>
            <a:r>
              <a:rPr lang="en-US" sz="1800" b="1" dirty="0">
                <a:solidFill>
                  <a:srgbClr val="2E9D4F"/>
                </a:solidFill>
                <a:latin typeface="Calibri" pitchFamily="34" charset="0"/>
                <a:ea typeface="Calibri" pitchFamily="34" charset="-122"/>
                <a:cs typeface="Calibri" pitchFamily="34" charset="-120"/>
              </a:rPr>
              <a:t>Cursor-assisted build</a:t>
            </a:r>
            <a:endParaRPr lang="en-US" sz="1800" dirty="0"/>
          </a:p>
        </p:txBody>
      </p:sp>
      <p:sp>
        <p:nvSpPr>
          <p:cNvPr id="25" name="Text 23"/>
          <p:cNvSpPr txBox="1"/>
          <p:nvPr/>
        </p:nvSpPr>
        <p:spPr>
          <a:xfrm>
            <a:off x="6583680" y="5276088"/>
            <a:ext cx="5166360" cy="777240"/>
          </a:xfrm>
          <a:prstGeom prst="rect">
            <a:avLst/>
          </a:prstGeom>
          <a:noFill/>
          <a:ln/>
        </p:spPr>
        <p:txBody>
          <a:bodyPr wrap="square" lIns="0" tIns="0" rIns="0" bIns="0" rtlCol="0" anchor="ctr"/>
          <a:lstStyle/>
          <a:p>
            <a:pPr indent="0" marL="0">
              <a:buNone/>
            </a:pPr>
            <a:r>
              <a:rPr lang="en-US" sz="1500" dirty="0">
                <a:solidFill>
                  <a:srgbClr val="163528"/>
                </a:solidFill>
                <a:latin typeface="Calibri" pitchFamily="34" charset="0"/>
                <a:ea typeface="Calibri" pitchFamily="34" charset="-122"/>
                <a:cs typeface="Calibri" pitchFamily="34" charset="-120"/>
              </a:rPr>
              <a:t>SpaceX track: designed and iterated in Cursor. iMessage agent uses Photon Spectrum.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502920" y="256032"/>
            <a:ext cx="11155680" cy="566928"/>
          </a:xfrm>
          <a:prstGeom prst="rect">
            <a:avLst/>
          </a:prstGeom>
          <a:noFill/>
          <a:ln/>
        </p:spPr>
        <p:txBody>
          <a:bodyPr wrap="square" lIns="0" tIns="0" rIns="0" bIns="0" rtlCol="0" anchor="ctr"/>
          <a:lstStyle/>
          <a:p>
            <a:pPr algn="l" indent="0" marL="0">
              <a:buNone/>
            </a:pPr>
            <a:r>
              <a:rPr lang="en-US" sz="3200" b="1" dirty="0">
                <a:solidFill>
                  <a:srgbClr val="0B1F3A"/>
                </a:solidFill>
                <a:latin typeface="Calibri" pitchFamily="34" charset="0"/>
                <a:ea typeface="Calibri" pitchFamily="34" charset="-122"/>
                <a:cs typeface="Calibri" pitchFamily="34" charset="-120"/>
              </a:rPr>
              <a:t>What makes it special</a:t>
            </a:r>
            <a:endParaRPr lang="en-US" sz="3200" dirty="0"/>
          </a:p>
        </p:txBody>
      </p:sp>
      <p:sp>
        <p:nvSpPr>
          <p:cNvPr id="3" name="Shape 1"/>
          <p:cNvSpPr/>
          <p:nvPr/>
        </p:nvSpPr>
        <p:spPr>
          <a:xfrm>
            <a:off x="502920" y="960120"/>
            <a:ext cx="3611880" cy="4160520"/>
          </a:xfrm>
          <a:prstGeom prst="roundRect">
            <a:avLst>
              <a:gd name="adj" fmla="val 3038"/>
            </a:avLst>
          </a:prstGeom>
          <a:solidFill>
            <a:srgbClr val="FFFFFF"/>
          </a:solidFill>
          <a:ln/>
          <a:effectLst>
            <a:outerShdw sx="100000" sy="100000" kx="0" ky="0" algn="bl" rotWithShape="0" blurRad="101600" dist="25400" dir="5400000">
              <a:srgbClr val="0B1F3A">
                <a:alpha val="10000"/>
              </a:srgbClr>
            </a:outerShdw>
          </a:effectLst>
        </p:spPr>
      </p:sp>
      <p:pic>
        <p:nvPicPr>
          <p:cNvPr id="4" name="Image 0" descr="G:\broswer download\big-red-hacks2026\mobile\assets\splash-icon.png">    </p:cNvPr>
          <p:cNvPicPr>
            <a:picLocks noChangeAspect="1"/>
          </p:cNvPicPr>
          <p:nvPr/>
        </p:nvPicPr>
        <p:blipFill>
          <a:blip r:embed="rId1"/>
          <a:stretch>
            <a:fillRect/>
          </a:stretch>
        </p:blipFill>
        <p:spPr>
          <a:xfrm>
            <a:off x="1527048" y="1170432"/>
            <a:ext cx="1554480" cy="1554480"/>
          </a:xfrm>
          <a:prstGeom prst="rect">
            <a:avLst/>
          </a:prstGeom>
        </p:spPr>
      </p:pic>
      <p:sp>
        <p:nvSpPr>
          <p:cNvPr id="5" name="Text 2"/>
          <p:cNvSpPr txBox="1"/>
          <p:nvPr/>
        </p:nvSpPr>
        <p:spPr>
          <a:xfrm>
            <a:off x="704088" y="2880360"/>
            <a:ext cx="320040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Navigation becomes play</a:t>
            </a:r>
            <a:endParaRPr lang="en-US" sz="2000" dirty="0"/>
          </a:p>
        </p:txBody>
      </p:sp>
      <p:sp>
        <p:nvSpPr>
          <p:cNvPr id="6" name="Text 3"/>
          <p:cNvSpPr txBox="1"/>
          <p:nvPr/>
        </p:nvSpPr>
        <p:spPr>
          <a:xfrm>
            <a:off x="704088" y="3703320"/>
            <a:ext cx="3200400" cy="118872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The map is a blooming trail and a squad, not only a blue line to a pin.</a:t>
            </a:r>
            <a:endParaRPr lang="en-US" sz="1500" dirty="0"/>
          </a:p>
        </p:txBody>
      </p:sp>
      <p:sp>
        <p:nvSpPr>
          <p:cNvPr id="7" name="Shape 4"/>
          <p:cNvSpPr/>
          <p:nvPr/>
        </p:nvSpPr>
        <p:spPr>
          <a:xfrm>
            <a:off x="4343400" y="960120"/>
            <a:ext cx="3611880" cy="4160520"/>
          </a:xfrm>
          <a:prstGeom prst="roundRect">
            <a:avLst>
              <a:gd name="adj" fmla="val 3038"/>
            </a:avLst>
          </a:prstGeom>
          <a:solidFill>
            <a:srgbClr val="FFFFFF"/>
          </a:solidFill>
          <a:ln/>
          <a:effectLst>
            <a:outerShdw sx="100000" sy="100000" kx="0" ky="0" algn="bl" rotWithShape="0" blurRad="101600" dist="25400" dir="5400000">
              <a:srgbClr val="0B1F3A">
                <a:alpha val="10000"/>
              </a:srgbClr>
            </a:outerShdw>
          </a:effectLst>
        </p:spPr>
      </p:sp>
      <p:pic>
        <p:nvPicPr>
          <p:cNvPr id="8" name="Image 1" descr="G:\broswer download\big-red-hacks2026\mobile\assets\badges\gold.png">    </p:cNvPr>
          <p:cNvPicPr>
            <a:picLocks noChangeAspect="1"/>
          </p:cNvPicPr>
          <p:nvPr/>
        </p:nvPicPr>
        <p:blipFill>
          <a:blip r:embed="rId2"/>
          <a:stretch>
            <a:fillRect/>
          </a:stretch>
        </p:blipFill>
        <p:spPr>
          <a:xfrm>
            <a:off x="5367528" y="1170432"/>
            <a:ext cx="1554480" cy="1554480"/>
          </a:xfrm>
          <a:prstGeom prst="rect">
            <a:avLst/>
          </a:prstGeom>
        </p:spPr>
      </p:pic>
      <p:sp>
        <p:nvSpPr>
          <p:cNvPr id="9" name="Text 5"/>
          <p:cNvSpPr txBox="1"/>
          <p:nvPr/>
        </p:nvSpPr>
        <p:spPr>
          <a:xfrm>
            <a:off x="4544568" y="2880360"/>
            <a:ext cx="320040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Walking earns pets</a:t>
            </a:r>
            <a:endParaRPr lang="en-US" sz="2000" dirty="0"/>
          </a:p>
        </p:txBody>
      </p:sp>
      <p:sp>
        <p:nvSpPr>
          <p:cNvPr id="10" name="Text 6"/>
          <p:cNvSpPr txBox="1"/>
          <p:nvPr/>
        </p:nvSpPr>
        <p:spPr>
          <a:xfrm>
            <a:off x="4544568" y="3703320"/>
            <a:ext cx="3200400" cy="118872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Distance fills eggs, ranks, and landmark captures — completable at the table in Demo Walk.</a:t>
            </a:r>
            <a:endParaRPr lang="en-US" sz="1500" dirty="0"/>
          </a:p>
        </p:txBody>
      </p:sp>
      <p:sp>
        <p:nvSpPr>
          <p:cNvPr id="11" name="Shape 7"/>
          <p:cNvSpPr/>
          <p:nvPr/>
        </p:nvSpPr>
        <p:spPr>
          <a:xfrm>
            <a:off x="8183880" y="960120"/>
            <a:ext cx="3611880" cy="4160520"/>
          </a:xfrm>
          <a:prstGeom prst="roundRect">
            <a:avLst>
              <a:gd name="adj" fmla="val 3038"/>
            </a:avLst>
          </a:prstGeom>
          <a:solidFill>
            <a:srgbClr val="FFFFFF"/>
          </a:solidFill>
          <a:ln/>
          <a:effectLst>
            <a:outerShdw sx="100000" sy="100000" kx="0" ky="0" algn="bl" rotWithShape="0" blurRad="101600" dist="25400" dir="5400000">
              <a:srgbClr val="0B1F3A">
                <a:alpha val="10000"/>
              </a:srgbClr>
            </a:outerShdw>
          </a:effectLst>
        </p:spPr>
      </p:sp>
      <p:pic>
        <p:nvPicPr>
          <p:cNvPr id="12" name="Image 2" descr="G:\broswer download\big-red-hacks2026\mobile\assets\logo-badge.png">    </p:cNvPr>
          <p:cNvPicPr>
            <a:picLocks noChangeAspect="1"/>
          </p:cNvPicPr>
          <p:nvPr/>
        </p:nvPicPr>
        <p:blipFill>
          <a:blip r:embed="rId3"/>
          <a:stretch>
            <a:fillRect/>
          </a:stretch>
        </p:blipFill>
        <p:spPr>
          <a:xfrm>
            <a:off x="9208008" y="1170432"/>
            <a:ext cx="1554480" cy="1554480"/>
          </a:xfrm>
          <a:prstGeom prst="rect">
            <a:avLst/>
          </a:prstGeom>
        </p:spPr>
      </p:pic>
      <p:sp>
        <p:nvSpPr>
          <p:cNvPr id="13" name="Text 8"/>
          <p:cNvSpPr txBox="1"/>
          <p:nvPr/>
        </p:nvSpPr>
        <p:spPr>
          <a:xfrm>
            <a:off x="8385048" y="2880360"/>
            <a:ext cx="3200400" cy="77724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Lives in iMessage</a:t>
            </a:r>
            <a:endParaRPr lang="en-US" sz="2000" dirty="0"/>
          </a:p>
        </p:txBody>
      </p:sp>
      <p:sp>
        <p:nvSpPr>
          <p:cNvPr id="14" name="Text 9"/>
          <p:cNvSpPr txBox="1"/>
          <p:nvPr/>
        </p:nvSpPr>
        <p:spPr>
          <a:xfrm>
            <a:off x="8385048" y="3703320"/>
            <a:ext cx="3200400" cy="1188720"/>
          </a:xfrm>
          <a:prstGeom prst="rect">
            <a:avLst/>
          </a:prstGeom>
          <a:noFill/>
          <a:ln/>
        </p:spPr>
        <p:txBody>
          <a:bodyPr wrap="square" lIns="0" tIns="0" rIns="0" bIns="0" rtlCol="0" anchor="ctr"/>
          <a:lstStyle/>
          <a:p>
            <a:pPr indent="0" marL="0">
              <a:buNone/>
            </a:pPr>
            <a:r>
              <a:rPr lang="en-US" sz="1500" dirty="0">
                <a:solidFill>
                  <a:srgbClr val="4A6358"/>
                </a:solidFill>
                <a:latin typeface="Calibri" pitchFamily="34" charset="0"/>
                <a:ea typeface="Calibri" pitchFamily="34" charset="-122"/>
                <a:cs typeface="Calibri" pitchFamily="34" charset="-120"/>
              </a:rPr>
              <a:t>The same squad can explore, story, and route over Photon — terminal today, iMessage with keys.</a:t>
            </a:r>
            <a:endParaRPr lang="en-US" sz="1500" dirty="0"/>
          </a:p>
        </p:txBody>
      </p:sp>
      <p:sp>
        <p:nvSpPr>
          <p:cNvPr id="15" name="Shape 10"/>
          <p:cNvSpPr/>
          <p:nvPr/>
        </p:nvSpPr>
        <p:spPr>
          <a:xfrm>
            <a:off x="502920" y="5303520"/>
            <a:ext cx="5486400" cy="1005840"/>
          </a:xfrm>
          <a:prstGeom prst="roundRect">
            <a:avLst>
              <a:gd name="adj" fmla="val 10909"/>
            </a:avLst>
          </a:prstGeom>
          <a:solidFill>
            <a:srgbClr val="E7F3E4"/>
          </a:solidFill>
          <a:ln/>
          <a:effectLst>
            <a:outerShdw sx="100000" sy="100000" kx="0" ky="0" algn="bl" rotWithShape="0" blurRad="101600" dist="25400" dir="5400000">
              <a:srgbClr val="0B1F3A">
                <a:alpha val="10000"/>
              </a:srgbClr>
            </a:outerShdw>
          </a:effectLst>
        </p:spPr>
      </p:sp>
      <p:sp>
        <p:nvSpPr>
          <p:cNvPr id="16" name="Text 11"/>
          <p:cNvSpPr txBox="1"/>
          <p:nvPr/>
        </p:nvSpPr>
        <p:spPr>
          <a:xfrm>
            <a:off x="685800" y="5440680"/>
            <a:ext cx="5120640" cy="731520"/>
          </a:xfrm>
          <a:prstGeom prst="rect">
            <a:avLst/>
          </a:prstGeom>
          <a:noFill/>
          <a:ln/>
        </p:spPr>
        <p:txBody>
          <a:bodyPr wrap="square" lIns="0" tIns="0" rIns="0" bIns="0" rtlCol="0" anchor="ctr"/>
          <a:lstStyle/>
          <a:p>
            <a:pPr indent="0" marL="0">
              <a:buNone/>
            </a:pPr>
            <a:r>
              <a:rPr lang="en-US" sz="1600" dirty="0">
                <a:solidFill>
                  <a:srgbClr val="163528"/>
                </a:solidFill>
                <a:latin typeface="Calibri" pitchFamily="34" charset="0"/>
                <a:ea typeface="Calibri" pitchFamily="34" charset="-122"/>
                <a:cs typeface="Calibri" pitchFamily="34" charset="-120"/>
              </a:rPr>
              <a:t>In the app: ISS overhead can boost rare hatches.</a:t>
            </a:r>
            <a:endParaRPr lang="en-US" sz="1600" dirty="0"/>
          </a:p>
        </p:txBody>
      </p:sp>
      <p:sp>
        <p:nvSpPr>
          <p:cNvPr id="17" name="Shape 12"/>
          <p:cNvSpPr/>
          <p:nvPr/>
        </p:nvSpPr>
        <p:spPr>
          <a:xfrm>
            <a:off x="6217920" y="5303520"/>
            <a:ext cx="5486400" cy="1005840"/>
          </a:xfrm>
          <a:prstGeom prst="roundRect">
            <a:avLst>
              <a:gd name="adj" fmla="val 10909"/>
            </a:avLst>
          </a:prstGeom>
          <a:solidFill>
            <a:srgbClr val="FFFFFF"/>
          </a:solidFill>
          <a:ln/>
          <a:effectLst>
            <a:outerShdw sx="100000" sy="100000" kx="0" ky="0" algn="bl" rotWithShape="0" blurRad="101600" dist="25400" dir="5400000">
              <a:srgbClr val="0B1F3A">
                <a:alpha val="10000"/>
              </a:srgbClr>
            </a:outerShdw>
          </a:effectLst>
        </p:spPr>
      </p:sp>
      <p:sp>
        <p:nvSpPr>
          <p:cNvPr id="18" name="Text 13"/>
          <p:cNvSpPr txBox="1"/>
          <p:nvPr/>
        </p:nvSpPr>
        <p:spPr>
          <a:xfrm>
            <a:off x="6400800" y="5440680"/>
            <a:ext cx="5120640" cy="731520"/>
          </a:xfrm>
          <a:prstGeom prst="rect">
            <a:avLst/>
          </a:prstGeom>
          <a:noFill/>
          <a:ln/>
        </p:spPr>
        <p:txBody>
          <a:bodyPr wrap="square" lIns="0" tIns="0" rIns="0" bIns="0" rtlCol="0" anchor="ctr"/>
          <a:lstStyle/>
          <a:p>
            <a:pPr indent="0" marL="0">
              <a:buNone/>
            </a:pPr>
            <a:r>
              <a:rPr lang="en-US" sz="1600" dirty="0">
                <a:solidFill>
                  <a:srgbClr val="4A6358"/>
                </a:solidFill>
                <a:latin typeface="Calibri" pitchFamily="34" charset="0"/>
                <a:ea typeface="Calibri" pitchFamily="34" charset="-122"/>
                <a:cs typeface="Calibri" pitchFamily="34" charset="-120"/>
              </a:rPr>
              <a:t>Not claimed today: live Grok without a key, cloud deploy, background tracking.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0040"/>
            <a:ext cx="10972800" cy="54864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Walk more of the world you already live in</a:t>
            </a:r>
            <a:endParaRPr lang="en-US" sz="3000" dirty="0"/>
          </a:p>
        </p:txBody>
      </p:sp>
      <p:sp>
        <p:nvSpPr>
          <p:cNvPr id="3" name="Text 1"/>
          <p:cNvSpPr txBox="1"/>
          <p:nvPr/>
        </p:nvSpPr>
        <p:spPr>
          <a:xfrm>
            <a:off x="640080" y="868680"/>
            <a:ext cx="10972800" cy="347472"/>
          </a:xfrm>
          <a:prstGeom prst="rect">
            <a:avLst/>
          </a:prstGeom>
          <a:noFill/>
          <a:ln/>
        </p:spPr>
        <p:txBody>
          <a:bodyPr wrap="square" lIns="0" tIns="0" rIns="0" bIns="0" rtlCol="0" anchor="ctr"/>
          <a:lstStyle/>
          <a:p>
            <a:pPr indent="0" marL="0">
              <a:buNone/>
            </a:pPr>
            <a:r>
              <a:rPr lang="en-US" sz="1800" dirty="0">
                <a:solidFill>
                  <a:srgbClr val="6EC6FF"/>
                </a:solidFill>
                <a:latin typeface="Calibri" pitchFamily="34" charset="0"/>
                <a:ea typeface="Calibri" pitchFamily="34" charset="-122"/>
                <a:cs typeface="Calibri" pitchFamily="34" charset="-120"/>
              </a:rPr>
              <a:t>Campus, hometown blocks, and the path between classes — same loop.</a:t>
            </a:r>
            <a:endParaRPr lang="en-US" sz="1800" dirty="0"/>
          </a:p>
        </p:txBody>
      </p:sp>
      <p:sp>
        <p:nvSpPr>
          <p:cNvPr id="4" name="Text 2"/>
          <p:cNvSpPr txBox="1"/>
          <p:nvPr/>
        </p:nvSpPr>
        <p:spPr>
          <a:xfrm>
            <a:off x="640080" y="1371600"/>
            <a:ext cx="10972800" cy="320040"/>
          </a:xfrm>
          <a:prstGeom prst="rect">
            <a:avLst/>
          </a:prstGeom>
          <a:noFill/>
          <a:ln/>
        </p:spPr>
        <p:txBody>
          <a:bodyPr wrap="square" lIns="0" tIns="0" rIns="0" bIns="0" rtlCol="0" anchor="ctr"/>
          <a:lstStyle/>
          <a:p>
            <a:pPr indent="0" marL="0">
              <a:buNone/>
            </a:pPr>
            <a:r>
              <a:rPr lang="en-US" sz="1600" b="1" dirty="0">
                <a:solidFill>
                  <a:srgbClr val="E8A317"/>
                </a:solidFill>
                <a:latin typeface="Calibri" pitchFamily="34" charset="0"/>
                <a:ea typeface="Calibri" pitchFamily="34" charset="-122"/>
                <a:cs typeface="Calibri" pitchFamily="34" charset="-120"/>
              </a:rPr>
              <a:t>What’s next  ·  planned, not shipped</a:t>
            </a:r>
            <a:endParaRPr lang="en-US" sz="1600" dirty="0"/>
          </a:p>
        </p:txBody>
      </p:sp>
      <p:sp>
        <p:nvSpPr>
          <p:cNvPr id="5" name="Shape 3"/>
          <p:cNvSpPr/>
          <p:nvPr/>
        </p:nvSpPr>
        <p:spPr>
          <a:xfrm>
            <a:off x="640080" y="1783080"/>
            <a:ext cx="5349240" cy="1188720"/>
          </a:xfrm>
          <a:prstGeom prst="roundRect">
            <a:avLst>
              <a:gd name="adj" fmla="val 9231"/>
            </a:avLst>
          </a:prstGeom>
          <a:solidFill>
            <a:srgbClr val="123252"/>
          </a:solidFill>
          <a:ln/>
        </p:spPr>
      </p:sp>
      <p:sp>
        <p:nvSpPr>
          <p:cNvPr id="6" name="Text 4"/>
          <p:cNvSpPr txBox="1"/>
          <p:nvPr/>
        </p:nvSpPr>
        <p:spPr>
          <a:xfrm>
            <a:off x="868680" y="1929384"/>
            <a:ext cx="4892040" cy="347472"/>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Background tracking</a:t>
            </a:r>
            <a:endParaRPr lang="en-US" sz="1800" dirty="0"/>
          </a:p>
        </p:txBody>
      </p:sp>
      <p:sp>
        <p:nvSpPr>
          <p:cNvPr id="7" name="Text 5"/>
          <p:cNvSpPr txBox="1"/>
          <p:nvPr/>
        </p:nvSpPr>
        <p:spPr>
          <a:xfrm>
            <a:off x="868680" y="2313432"/>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Keep the walk honest when the phone is in a pocket.</a:t>
            </a:r>
            <a:endParaRPr lang="en-US" sz="1600" dirty="0"/>
          </a:p>
        </p:txBody>
      </p:sp>
      <p:sp>
        <p:nvSpPr>
          <p:cNvPr id="8" name="Shape 6"/>
          <p:cNvSpPr/>
          <p:nvPr/>
        </p:nvSpPr>
        <p:spPr>
          <a:xfrm>
            <a:off x="6309360" y="1783080"/>
            <a:ext cx="5349240" cy="1188720"/>
          </a:xfrm>
          <a:prstGeom prst="roundRect">
            <a:avLst>
              <a:gd name="adj" fmla="val 9231"/>
            </a:avLst>
          </a:prstGeom>
          <a:solidFill>
            <a:srgbClr val="123252"/>
          </a:solidFill>
          <a:ln/>
        </p:spPr>
      </p:sp>
      <p:sp>
        <p:nvSpPr>
          <p:cNvPr id="9" name="Text 7"/>
          <p:cNvSpPr txBox="1"/>
          <p:nvPr/>
        </p:nvSpPr>
        <p:spPr>
          <a:xfrm>
            <a:off x="6537960" y="1929384"/>
            <a:ext cx="4892040" cy="347472"/>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Accessibility</a:t>
            </a:r>
            <a:endParaRPr lang="en-US" sz="1800" dirty="0"/>
          </a:p>
        </p:txBody>
      </p:sp>
      <p:sp>
        <p:nvSpPr>
          <p:cNvPr id="10" name="Text 8"/>
          <p:cNvSpPr txBox="1"/>
          <p:nvPr/>
        </p:nvSpPr>
        <p:spPr>
          <a:xfrm>
            <a:off x="6537960" y="2313432"/>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Clearer motion, voice, and contrast for more walkers.</a:t>
            </a:r>
            <a:endParaRPr lang="en-US" sz="1600" dirty="0"/>
          </a:p>
        </p:txBody>
      </p:sp>
      <p:sp>
        <p:nvSpPr>
          <p:cNvPr id="11" name="Shape 9"/>
          <p:cNvSpPr/>
          <p:nvPr/>
        </p:nvSpPr>
        <p:spPr>
          <a:xfrm>
            <a:off x="640080" y="3108960"/>
            <a:ext cx="5349240" cy="1188720"/>
          </a:xfrm>
          <a:prstGeom prst="roundRect">
            <a:avLst>
              <a:gd name="adj" fmla="val 9231"/>
            </a:avLst>
          </a:prstGeom>
          <a:solidFill>
            <a:srgbClr val="123252"/>
          </a:solidFill>
          <a:ln/>
        </p:spPr>
      </p:sp>
      <p:sp>
        <p:nvSpPr>
          <p:cNvPr id="12" name="Text 10"/>
          <p:cNvSpPr txBox="1"/>
          <p:nvPr/>
        </p:nvSpPr>
        <p:spPr>
          <a:xfrm>
            <a:off x="868680" y="3255264"/>
            <a:ext cx="4892040" cy="347472"/>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Reliable deploy</a:t>
            </a:r>
            <a:endParaRPr lang="en-US" sz="1800" dirty="0"/>
          </a:p>
        </p:txBody>
      </p:sp>
      <p:sp>
        <p:nvSpPr>
          <p:cNvPr id="13" name="Text 11"/>
          <p:cNvSpPr txBox="1"/>
          <p:nvPr/>
        </p:nvSpPr>
        <p:spPr>
          <a:xfrm>
            <a:off x="868680" y="3639312"/>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Wake the API so Grok and turf stay up for a whole event.</a:t>
            </a:r>
            <a:endParaRPr lang="en-US" sz="1600" dirty="0"/>
          </a:p>
        </p:txBody>
      </p:sp>
      <p:sp>
        <p:nvSpPr>
          <p:cNvPr id="14" name="Shape 12"/>
          <p:cNvSpPr/>
          <p:nvPr/>
        </p:nvSpPr>
        <p:spPr>
          <a:xfrm>
            <a:off x="6309360" y="3108960"/>
            <a:ext cx="5349240" cy="1188720"/>
          </a:xfrm>
          <a:prstGeom prst="roundRect">
            <a:avLst>
              <a:gd name="adj" fmla="val 9231"/>
            </a:avLst>
          </a:prstGeom>
          <a:solidFill>
            <a:srgbClr val="123252"/>
          </a:solidFill>
          <a:ln/>
        </p:spPr>
      </p:sp>
      <p:sp>
        <p:nvSpPr>
          <p:cNvPr id="15" name="Text 13"/>
          <p:cNvSpPr txBox="1"/>
          <p:nvPr/>
        </p:nvSpPr>
        <p:spPr>
          <a:xfrm>
            <a:off x="6537960" y="3255264"/>
            <a:ext cx="4892040" cy="347472"/>
          </a:xfrm>
          <a:prstGeom prst="rect">
            <a:avLst/>
          </a:prstGeom>
          <a:noFill/>
          <a:ln/>
        </p:spPr>
        <p:txBody>
          <a:bodyPr wrap="square" lIns="0" tIns="0" rIns="0" bIns="0" rtlCol="0" anchor="ctr"/>
          <a:lstStyle/>
          <a:p>
            <a:pPr indent="0" marL="0">
              <a:buNone/>
            </a:pPr>
            <a:r>
              <a:rPr lang="en-US" sz="1800" b="1" dirty="0">
                <a:solidFill>
                  <a:srgbClr val="E8A317"/>
                </a:solidFill>
                <a:latin typeface="Calibri" pitchFamily="34" charset="0"/>
                <a:ea typeface="Calibri" pitchFamily="34" charset="-122"/>
                <a:cs typeface="Calibri" pitchFamily="34" charset="-120"/>
              </a:rPr>
              <a:t>Social exploration</a:t>
            </a:r>
            <a:endParaRPr lang="en-US" sz="1800" dirty="0"/>
          </a:p>
        </p:txBody>
      </p:sp>
      <p:sp>
        <p:nvSpPr>
          <p:cNvPr id="16" name="Text 14"/>
          <p:cNvSpPr txBox="1"/>
          <p:nvPr/>
        </p:nvSpPr>
        <p:spPr>
          <a:xfrm>
            <a:off x="6537960" y="3639312"/>
            <a:ext cx="4892040" cy="5029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Richer shared landmarks without turning it into a grind.</a:t>
            </a:r>
            <a:endParaRPr lang="en-US" sz="1600" dirty="0"/>
          </a:p>
        </p:txBody>
      </p:sp>
      <p:sp>
        <p:nvSpPr>
          <p:cNvPr id="17" name="Text 15"/>
          <p:cNvSpPr txBox="1"/>
          <p:nvPr/>
        </p:nvSpPr>
        <p:spPr>
          <a:xfrm>
            <a:off x="640080" y="4617720"/>
            <a:ext cx="10972800" cy="457200"/>
          </a:xfrm>
          <a:prstGeom prst="rect">
            <a:avLst/>
          </a:prstGeom>
          <a:noFill/>
          <a:ln/>
        </p:spPr>
        <p:txBody>
          <a:bodyPr wrap="square" lIns="0" tIns="0" rIns="0" bIns="0" rtlCol="0" anchor="ctr"/>
          <a:lstStyle/>
          <a:p>
            <a:pPr indent="0" marL="0">
              <a:buNone/>
            </a:pPr>
            <a:r>
              <a:rPr lang="en-US" sz="2400" i="1" dirty="0">
                <a:solidFill>
                  <a:srgbClr val="6EC6FF"/>
                </a:solidFill>
                <a:latin typeface="Calibri" pitchFamily="34" charset="0"/>
                <a:ea typeface="Calibri" pitchFamily="34" charset="-122"/>
                <a:cs typeface="Calibri" pitchFamily="34" charset="-120"/>
              </a:rPr>
              <a:t>Everyday walks. Extraordinary company.</a:t>
            </a:r>
            <a:endParaRPr lang="en-US" sz="2400" dirty="0"/>
          </a:p>
        </p:txBody>
      </p:sp>
      <p:sp>
        <p:nvSpPr>
          <p:cNvPr id="18" name="Text 16"/>
          <p:cNvSpPr txBox="1"/>
          <p:nvPr/>
        </p:nvSpPr>
        <p:spPr>
          <a:xfrm>
            <a:off x="640080" y="5120640"/>
            <a:ext cx="10972800" cy="384048"/>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Try it on the phone. Ask us anything.</a:t>
            </a:r>
            <a:endParaRPr lang="en-US" sz="2000" dirty="0"/>
          </a:p>
        </p:txBody>
      </p:sp>
      <p:sp>
        <p:nvSpPr>
          <p:cNvPr id="19" name="Text 17"/>
          <p:cNvSpPr txBox="1"/>
          <p:nvPr/>
        </p:nvSpPr>
        <p:spPr>
          <a:xfrm>
            <a:off x="640080" y="6172200"/>
            <a:ext cx="10972800" cy="274320"/>
          </a:xfrm>
          <a:prstGeom prst="rect">
            <a:avLst/>
          </a:prstGeom>
          <a:noFill/>
          <a:ln/>
        </p:spPr>
        <p:txBody>
          <a:bodyPr wrap="square" lIns="0" tIns="0" rIns="0" bIns="0" rtlCol="0" anchor="ctr"/>
          <a:lstStyle/>
          <a:p>
            <a:pPr indent="0" marL="0">
              <a:buNone/>
            </a:pPr>
            <a:r>
              <a:rPr lang="en-US" sz="1400" dirty="0">
                <a:solidFill>
                  <a:srgbClr val="9BB0C4"/>
                </a:solidFill>
                <a:latin typeface="Calibri" pitchFamily="34" charset="0"/>
                <a:ea typeface="Calibri" pitchFamily="34" charset="-122"/>
                <a:cs typeface="Calibri" pitchFamily="34" charset="-120"/>
              </a:rPr>
              <a:t>Luis Mendez  ·  Abdullah Rashid  ·  HuskiesPaws</a:t>
            </a:r>
            <a:endParaRPr lang="en-US" sz="1400" dirty="0"/>
          </a:p>
        </p:txBody>
      </p:sp>
    </p:spTree>
  </p:cSld>
  <p:clrMapOvr>
    <a:masterClrMapping/>
  </p:clrMapOvr>
</p:sld>
</file>

<file path=ppt/theme/theme1.xml><?xml version="1.0" encoding="utf-8"?>
<a:theme xmlns:a="http://schemas.openxmlformats.org/drawingml/2006/main" name="HuskiesPaws">
  <a:themeElements>
    <a:clrScheme name="HuskiesPaws">
      <a:dk1>
        <a:srgbClr val="0B1F3A"/>
      </a:dk1>
      <a:lt1>
        <a:srgbClr val="F6F1E4"/>
      </a:lt1>
      <a:dk2>
        <a:srgbClr val="163528"/>
      </a:dk2>
      <a:lt2>
        <a:srgbClr val="E7F3E4"/>
      </a:lt2>
      <a:accent1>
        <a:srgbClr val="2E9D4F"/>
      </a:accent1>
      <a:accent2>
        <a:srgbClr val="6EC6FF"/>
      </a:accent2>
      <a:accent3>
        <a:srgbClr val="E8A317"/>
      </a:accent3>
      <a:accent4>
        <a:srgbClr val="FF7A59"/>
      </a:accent4>
      <a:accent5>
        <a:srgbClr val="1F6B45"/>
      </a:accent5>
      <a:accent6>
        <a:srgbClr val="7D8CA3"/>
      </a:accent6>
      <a:hlink>
        <a:srgbClr val="6EC6FF"/>
      </a:hlink>
      <a:folHlink>
        <a:srgbClr val="2E9D4F"/>
      </a:folHlink>
    </a:clrScheme>
    <a:fontScheme name="HuskiesPaw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HuskiesPaws — BigRed//Hacks 2026</dc:title>
  <dc:subject>Navigation-themed demo deck</dc:subject>
  <dc:creator>Luis Mendez, Abdullah Rashid</dc:creator>
  <cp:lastModifiedBy>Luis Mendez, Abdullah Rashid</cp:lastModifiedBy>
  <cp:revision>1</cp:revision>
  <dcterms:created xsi:type="dcterms:W3CDTF">2026-10-04T04:03:06Z</dcterms:created>
  <dcterms:modified xsi:type="dcterms:W3CDTF">2026-10-04T04:03:06Z</dcterms:modified>
</cp:coreProperties>
</file>